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4630400" cy="12975336"/>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p:scale>
          <a:sx n="101" d="100"/>
          <a:sy n="101" d="100"/>
        </p:scale>
        <p:origin x="776" y="-1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97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ARCHITECTURE AND ARCHIVED CODE PATH</a:t>
            </a:r>
          </a:p>
          <a:p>
            <a:endParaRPr/>
          </a:p>
          <a:p>
            <a:r>
              <a:t>This is an editable reconstruction of the user-approved slide-2 mockup. All visible content is native PowerPoint text, shapes, connectors and grouped freeform illustrations; the mockup is not embedded as a background or a full-slide picture. Farmer/field illustrations are grouped editable vector shapes. The page size is 16:10.</a:t>
            </a:r>
          </a:p>
          <a:p>
            <a:endParaRPr/>
          </a:p>
          <a:p>
            <a:r>
              <a:t>HOW TO READ THE FIGURE</a:t>
            </a:r>
          </a:p>
          <a:p>
            <a:r>
              <a:t>The five functional ingredients are assembled into a single plain-text prompt. Their inclusion, wording and order vary by design. They are not five separately randomized modules, separate API roles, or identical components in every tier. Arrows within the setting-specific lanes denote design changes, not an operational sequence of calls. Every T1–T4 design is queried separately through Claude, Codex and Kimi. The main prompt-to-response flow is one-way and stateless. It does not depict feedback, interacting agents, learning, shock adaptation, or a price-change experiment.</a:t>
            </a:r>
          </a:p>
          <a:p>
            <a:endParaRPr/>
          </a:p>
          <a:p>
            <a:r>
              <a:t>QUZHOU: EXACT DESIGN CONTENT</a:t>
            </a:r>
          </a:p>
          <a:p>
            <a:r>
              <a:t>T1 supplies age, gender, education and location with a short first-person farmer role and an annual crop-plan JSON schema.</a:t>
            </a:r>
          </a:p>
          <a:p>
            <a:r>
              <a:t>T2 retains that role and output instruction and adds farming experience, farm size, reported crops, cropping system, household size and off-farm work.</a:t>
            </a:r>
          </a:p>
          <a:p>
            <a:r>
              <a:t>T3 retains the T2 profile, but replaces the short role with a longer decision scaffold concerning experience, cost, risk, education, farm size and neighbours.</a:t>
            </a:r>
          </a:p>
          <a:p>
            <a:r>
              <a:t>T4 retains the T2 profile and replaces the role/scaffold text with the 1,682-word FARMER_AGENT_SKILL.md farmer-role document. It also changes the requested JSON schema by removing the T1–T3 user-side schema. The skill is loaded as text in the prompt, not installed as a tool or persistent agent memory.</a:t>
            </a:r>
          </a:p>
          <a:p>
            <a:r>
              <a:t>The visible fork is T1 → T2, then separate T3 and T4 alternatives. There is no T3 → T4 arrow and no duplicated T3 or T4 node.</a:t>
            </a:r>
          </a:p>
          <a:p>
            <a:r>
              <a:t>Reported crops enter Quzhou T2–T4 from the same crop file used to score crop-set overlap. At those designs, overlap evaluates reproduction/use of a supplied crop choice, not independent inference of that choice. T1 leaves crop choice unspecified. Builder defaults and other field-level qualifications remain described in the manuscript.</a:t>
            </a:r>
          </a:p>
          <a:p>
            <a:endParaRPr/>
          </a:p>
          <a:p>
            <a:r>
              <a:t>AFRICA: EXACT DESIGN CONTENT</a:t>
            </a:r>
          </a:p>
          <a:p>
            <a:r>
              <a:t>T1 includes the reported main crop plus country and region, manager demographics, plot and farm size, ownership and intercropping.</a:t>
            </a:r>
          </a:p>
          <a:p>
            <a:r>
              <a:t>T2 retains T1 and adds country and zone agronomic context, including growing conditions and approximate input-use statements.</a:t>
            </a:r>
          </a:p>
          <a:p>
            <a:r>
              <a:t>T3 retains T2 and adds cognitive decision guidance concerning education, liquidity, market access, ownership, risk and social learning. This added scaffold introduces no new adoption rates or numerical practice ranges.</a:t>
            </a:r>
          </a:p>
          <a:p>
            <a:r>
              <a:t>T4 adds hard-coded adoption/rate anchors and numerical and cross-decision consistency checks. It does not use the Quzhou skill. These anchors are prompt assumptions, not measurements estimated from the 280-plot evaluation panel. The archive does not document a per-value source for them.</a:t>
            </a:r>
          </a:p>
          <a:p>
            <a:r>
              <a:t>The visible path is T1 → T2 → T3 → T4, denoting the structure of complete prompt designs rather than repeated calls or learning.</a:t>
            </a:r>
          </a:p>
          <a:p>
            <a:r>
              <a:t>The separate 840-response numerical-range T3 sensitivity is exploratory, lies outside the primary 9,420-response matrix, and has been omitted from the main figure.</a:t>
            </a:r>
          </a:p>
          <a:p>
            <a:endParaRPr/>
          </a:p>
          <a:p>
            <a:r>
              <a:t>INDEPENDENT DATA PATHS AND COMPARISON</a:t>
            </a:r>
          </a:p>
          <a:p>
            <a:r>
              <a:t>The generated path is assembled prompt → provider call → raw response → parsed decisions → comparison.</a:t>
            </a:r>
          </a:p>
          <a:p>
            <a:r>
              <a:t>The green observed-survey path starts from recorded survey decisions and leads directly to comparison; it is not downstream of model responses. The two visual paths meet only at comparison.</a:t>
            </a:r>
          </a:p>
          <a:p>
            <a:r>
              <a:t>A separate validation path does NOT mean that all survey information is excluded from prompting: survey profiles, Quzhou reported crops in T2–T4, and the African main crop from T1 are supplied inputs. The mockup sentence claiming that observed survey outcomes “are not used to condition prompts” was corrected for this reason.</a:t>
            </a:r>
          </a:p>
          <a:p>
            <a:r>
              <a:t>The three illustrated comparison targets are (1) group means and use rates, (2) distributions, including zeros, spread and tails, and (3) matched farmer or plot decisions. Only decisions with observed counterparts are validated. Charts are schematic icons, not empirical results and not claims of a winning tier or provider.</a:t>
            </a:r>
          </a:p>
          <a:p>
            <a:endParaRPr/>
          </a:p>
          <a:p>
            <a:r>
              <a:t>IMPLEMENTATION AND ARCHIVING</a:t>
            </a:r>
          </a:p>
          <a:p>
            <a:r>
              <a:t>Survey field mapping: profiles.py and lsms_utils.py.</a:t>
            </a:r>
          </a:p>
          <a:p>
            <a:r>
              <a:t>Setting-specific prompt builders: run_quzhou_full.py and run_lsms_full.py.</a:t>
            </a:r>
          </a:p>
          <a:p>
            <a:r>
              <a:t>Quzhou T4 role document: FARMER_AGENT_SKILL.md, loaded as prompt text only.</a:t>
            </a:r>
          </a:p>
          <a:p>
            <a:r>
              <a:t>Provider calls: Claude, Codex and Kimi command-line interfaces.</a:t>
            </a:r>
          </a:p>
          <a:p>
            <a:r>
              <a:t>Saved artifacts: raw responses, parsed decisions and call metadata. Analysis code matches generated decisions to survey records and computes metrics.</a:t>
            </a:r>
          </a:p>
          <a:p>
            <a:r>
              <a:t>The fully rendered prompt was not saved with each response. Reconstructing it requires the retained builders and input survey records. The figure does not assert that the raw survey-linked archive is already public.</a:t>
            </a:r>
          </a:p>
          <a:p>
            <a:endParaRPr/>
          </a:p>
          <a:p>
            <a:r>
              <a:t>PRIMARY STUDY MATRIX (context, not a new result)</a:t>
            </a:r>
          </a:p>
          <a:p>
            <a:r>
              <a:t>2 settings × 4 complete designs × 3 provider interfaces = 24 condition classes, not a sample size. Household or plot profiles repeat within these classes. The primary matrix has 9,420 stored responses after retries and 9,301 parsed decisions. Quzhou has 505 household profiles; 504 farmers have observed crop sets, totaling 1,349 farmer–crop records. The African panel has 280 plots, 70 each from Nigeria, Ethiopia, Tanzania and Malawi.</a:t>
            </a:r>
          </a:p>
          <a:p>
            <a:endParaRPr/>
          </a:p>
          <a:p>
            <a:r>
              <a:t>WHAT WAS CONDENSED FROM THE APPROVED MOCKUP</a:t>
            </a:r>
          </a:p>
          <a:p>
            <a:r>
              <a:t>Long Quzhou T3 heuristic lists, full field definitions, the detailed description of the Quzhou T4 role text, the African T3 retained-context qualification, and repeated interpretation notes were shortened on the slide and retained here. The full skill filename is in the Quzhou lane and these notes. The five requested prompt-ingredient labels, eight unique tier nodes, branch topology, separate observed path, provider identities and core implementation filenames remain visible.</a:t>
            </a:r>
          </a:p>
          <a:p>
            <a:r>
              <a:t>The duplicate warning panels were consolidated. The observed-outcomes box was narrowed to recorded decisions rather than implying that profile characteristics or unsupported crop outcomes were validation targets. A source-mockup claim that survey outcomes never condition prompts was corrected. No empirical result or provider/tier ranking was added.</a:t>
            </a:r>
          </a:p>
          <a:p>
            <a:endParaRPr/>
          </a:p>
          <a:p>
            <a:r>
              <a:t>SOURCE BASIS</a:t>
            </a:r>
          </a:p>
          <a:p>
            <a:r>
              <a:t>Figure1_experiment_workflow_editable_v3.pptx, slide 2, plus the user-approved prompt-architecture mockup and the user's detailed figure instructions.</a:t>
            </a:r>
          </a:p>
          <a:p>
            <a:r>
              <a:t>Manuscript_COMPAG_methods_figure_revision.docx: Methods / Survey-linked decision units; Prompt components and input provenance; Four prompt designs; Code organization and transfer; Decision space and output contract; Model invocation and response accounting. Data and Code availability statements.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 name="Panel 1 background"/>
          <p:cNvSpPr/>
          <p:nvPr/>
        </p:nvSpPr>
        <p:spPr>
          <a:xfrm>
            <a:off x="164592" y="182880"/>
            <a:ext cx="14301216" cy="2807208"/>
          </a:xfrm>
          <a:prstGeom prst="roundRect">
            <a:avLst>
              <a:gd name="adj" fmla="val 2600"/>
            </a:avLst>
          </a:prstGeom>
          <a:solidFill>
            <a:srgbClr val="F8FBFD"/>
          </a:solidFill>
          <a:ln w="9525">
            <a:solidFill>
              <a:srgbClr val="A9CBDD"/>
            </a:solidFill>
          </a:ln>
        </p:spPr>
        <p:txBody>
          <a:bodyPr/>
          <a:lstStyle/>
          <a:p>
            <a:endParaRPr lang="en-US"/>
          </a:p>
        </p:txBody>
      </p:sp>
      <p:sp>
        <p:nvSpPr>
          <p:cNvPr id="10001" name="Panel 1 title"/>
          <p:cNvSpPr txBox="1"/>
          <p:nvPr/>
        </p:nvSpPr>
        <p:spPr>
          <a:xfrm>
            <a:off x="320040" y="292608"/>
            <a:ext cx="14026896" cy="365760"/>
          </a:xfrm>
          <a:prstGeom prst="rect">
            <a:avLst/>
          </a:prstGeom>
          <a:noFill/>
        </p:spPr>
        <p:txBody>
          <a:bodyPr wrap="square" lIns="0" tIns="0" rIns="0" bIns="0" anchor="t">
            <a:noAutofit/>
          </a:bodyPr>
          <a:lstStyle/>
          <a:p>
            <a:pPr algn="l">
              <a:lnSpc>
                <a:spcPct val="95000"/>
              </a:lnSpc>
            </a:pPr>
            <a:r>
              <a:rPr lang="en-US" sz="2000" b="1" i="0" dirty="0">
                <a:solidFill>
                  <a:srgbClr val="123755"/>
                </a:solidFill>
                <a:latin typeface="Arial"/>
                <a:cs typeface="Arial"/>
              </a:rPr>
              <a:t xml:space="preserve">1  FOUR GENERAL PROMPT DESIGNS</a:t>
            </a:r>
          </a:p>
        </p:txBody>
      </p:sp>
      <p:sp>
        <p:nvSpPr>
          <p:cNvPr id="10002" name="Panel 1 subtitle"/>
          <p:cNvSpPr txBox="1"/>
          <p:nvPr/>
        </p:nvSpPr>
        <p:spPr>
          <a:xfrm>
            <a:off x="320040" y="685800"/>
            <a:ext cx="14026896" cy="329184"/>
          </a:xfrm>
          <a:prstGeom prst="rect">
            <a:avLst/>
          </a:prstGeom>
          <a:noFill/>
        </p:spPr>
        <p:txBody>
          <a:bodyPr wrap="square" lIns="0" tIns="0" rIns="0" bIns="0" anchor="t">
            <a:noAutofit/>
          </a:bodyPr>
          <a:lstStyle/>
          <a:p>
            <a:pPr algn="l">
              <a:lnSpc>
                <a:spcPct val="95000"/>
              </a:lnSpc>
            </a:pPr>
            <a:r>
              <a:rPr lang="en-US" sz="1650" b="0" i="0" dirty="0">
                <a:solidFill>
                  <a:srgbClr val="506B81"/>
                </a:solidFill>
                <a:latin typeface="Arial"/>
                <a:cs typeface="Arial"/>
              </a:rPr>
              <a:t xml:space="preserve">Cumulative: each design keeps the previous one and adds one more class of information.</a:t>
            </a:r>
          </a:p>
        </p:txBody>
      </p:sp>
      <p:sp>
        <p:nvSpPr>
          <p:cNvPr id="10003" name="T1 general design"/>
          <p:cNvSpPr/>
          <p:nvPr/>
        </p:nvSpPr>
        <p:spPr>
          <a:xfrm>
            <a:off x="365760" y="1097280"/>
            <a:ext cx="3310128" cy="1755648"/>
          </a:xfrm>
          <a:prstGeom prst="roundRect">
            <a:avLst>
              <a:gd name="adj" fmla="val 5000"/>
            </a:avLst>
          </a:prstGeom>
          <a:solidFill>
            <a:srgbClr val="FFFFFF"/>
          </a:solidFill>
          <a:ln w="8255">
            <a:solidFill>
              <a:srgbClr val="7192A6"/>
            </a:solidFill>
          </a:ln>
        </p:spPr>
        <p:txBody>
          <a:bodyPr/>
          <a:lstStyle/>
          <a:p>
            <a:endParaRPr lang="en-US"/>
          </a:p>
        </p:txBody>
      </p:sp>
      <p:sp>
        <p:nvSpPr>
          <p:cNvPr id="10004" name="T1 label"/>
          <p:cNvSpPr txBox="1"/>
          <p:nvPr/>
        </p:nvSpPr>
        <p:spPr>
          <a:xfrm>
            <a:off x="512064" y="1207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23755"/>
                </a:solidFill>
                <a:latin typeface="Arial"/>
                <a:cs typeface="Arial"/>
              </a:rPr>
              <a:t xml:space="preserve">T1</a:t>
            </a:r>
          </a:p>
        </p:txBody>
      </p:sp>
      <p:sp>
        <p:nvSpPr>
          <p:cNvPr id="10005" name="T1 class"/>
          <p:cNvSpPr txBox="1"/>
          <p:nvPr/>
        </p:nvSpPr>
        <p:spPr>
          <a:xfrm>
            <a:off x="1078992" y="1225296"/>
            <a:ext cx="248716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Profile</a:t>
            </a:r>
          </a:p>
        </p:txBody>
      </p:sp>
      <p:sp>
        <p:nvSpPr>
          <p:cNvPr id="10006" name="T1 gloss"/>
          <p:cNvSpPr txBox="1"/>
          <p:nvPr/>
        </p:nvSpPr>
        <p:spPr>
          <a:xfrm>
            <a:off x="1078992" y="1572768"/>
            <a:ext cx="2487168" cy="292608"/>
          </a:xfrm>
          <a:prstGeom prst="rect">
            <a:avLst/>
          </a:prstGeom>
          <a:noFill/>
        </p:spPr>
        <p:txBody>
          <a:bodyPr wrap="square" lIns="0" tIns="0" rIns="0" bIns="0" anchor="t">
            <a:noAutofit/>
          </a:bodyPr>
          <a:lstStyle/>
          <a:p>
            <a:pPr algn="l">
              <a:lnSpc>
                <a:spcPct val="95000"/>
              </a:lnSpc>
            </a:pPr>
            <a:r>
              <a:rPr lang="en-US" sz="1600" b="0" i="1" dirty="0">
                <a:solidFill>
                  <a:srgbClr val="506B81"/>
                </a:solidFill>
                <a:latin typeface="Arial"/>
                <a:cs typeface="Arial"/>
              </a:rPr>
              <a:t xml:space="preserve">who the farmer is</a:t>
            </a:r>
          </a:p>
        </p:txBody>
      </p:sp>
      <p:sp>
        <p:nvSpPr>
          <p:cNvPr id="10007" name="T1 description"/>
          <p:cNvSpPr txBox="1"/>
          <p:nvPr/>
        </p:nvSpPr>
        <p:spPr>
          <a:xfrm>
            <a:off x="512064" y="1965960"/>
            <a:ext cx="3017520" cy="841248"/>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Farmer role and survey profile, plus the decision task and output format</a:t>
            </a:r>
          </a:p>
        </p:txBody>
      </p:sp>
      <p:cxnSp>
        <p:nvCxnSpPr>
          <p:cNvPr id="10008" name="T1 to T2"/>
          <p:cNvCxnSpPr/>
          <p:nvPr/>
        </p:nvCxnSpPr>
        <p:spPr>
          <a:xfrm>
            <a:off x="3703320" y="1975104"/>
            <a:ext cx="173736" cy="0"/>
          </a:xfrm>
          <a:prstGeom prst="straightConnector1">
            <a:avLst/>
          </a:prstGeom>
          <a:ln w="19050">
            <a:solidFill>
              <a:srgbClr val="123755"/>
            </a:solidFill>
            <a:tailEnd type="triangle" w="med" len="med"/>
          </a:ln>
        </p:spPr>
      </p:cxnSp>
      <p:sp>
        <p:nvSpPr>
          <p:cNvPr id="10009" name="T2 general design"/>
          <p:cNvSpPr/>
          <p:nvPr/>
        </p:nvSpPr>
        <p:spPr>
          <a:xfrm>
            <a:off x="3904488" y="1097280"/>
            <a:ext cx="3310128" cy="1755648"/>
          </a:xfrm>
          <a:prstGeom prst="roundRect">
            <a:avLst>
              <a:gd name="adj" fmla="val 5000"/>
            </a:avLst>
          </a:prstGeom>
          <a:solidFill>
            <a:srgbClr val="FFFFFF"/>
          </a:solidFill>
          <a:ln w="8255">
            <a:solidFill>
              <a:srgbClr val="7192A6"/>
            </a:solidFill>
          </a:ln>
        </p:spPr>
        <p:txBody>
          <a:bodyPr/>
          <a:lstStyle/>
          <a:p>
            <a:endParaRPr lang="en-US"/>
          </a:p>
        </p:txBody>
      </p:sp>
      <p:sp>
        <p:nvSpPr>
          <p:cNvPr id="10010" name="T2 label"/>
          <p:cNvSpPr txBox="1"/>
          <p:nvPr/>
        </p:nvSpPr>
        <p:spPr>
          <a:xfrm>
            <a:off x="4050792" y="1207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23755"/>
                </a:solidFill>
                <a:latin typeface="Arial"/>
                <a:cs typeface="Arial"/>
              </a:rPr>
              <a:t xml:space="preserve">T2</a:t>
            </a:r>
          </a:p>
        </p:txBody>
      </p:sp>
      <p:sp>
        <p:nvSpPr>
          <p:cNvPr id="10011" name="T2 class"/>
          <p:cNvSpPr txBox="1"/>
          <p:nvPr/>
        </p:nvSpPr>
        <p:spPr>
          <a:xfrm>
            <a:off x="4617720" y="1225296"/>
            <a:ext cx="248716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Current circumstances</a:t>
            </a:r>
          </a:p>
        </p:txBody>
      </p:sp>
      <p:sp>
        <p:nvSpPr>
          <p:cNvPr id="10012" name="T2 gloss"/>
          <p:cNvSpPr txBox="1"/>
          <p:nvPr/>
        </p:nvSpPr>
        <p:spPr>
          <a:xfrm>
            <a:off x="4617720" y="1572768"/>
            <a:ext cx="2487168" cy="292608"/>
          </a:xfrm>
          <a:prstGeom prst="rect">
            <a:avLst/>
          </a:prstGeom>
          <a:noFill/>
        </p:spPr>
        <p:txBody>
          <a:bodyPr wrap="square" lIns="0" tIns="0" rIns="0" bIns="0" anchor="t">
            <a:noAutofit/>
          </a:bodyPr>
          <a:lstStyle/>
          <a:p>
            <a:pPr algn="l">
              <a:lnSpc>
                <a:spcPct val="95000"/>
              </a:lnSpc>
            </a:pPr>
            <a:r>
              <a:rPr lang="en-US" sz="1600" b="0" i="1" dirty="0">
                <a:solidFill>
                  <a:srgbClr val="506B81"/>
                </a:solidFill>
                <a:latin typeface="Arial"/>
                <a:cs typeface="Arial"/>
              </a:rPr>
              <a:t xml:space="preserve">the farm and its setting</a:t>
            </a:r>
          </a:p>
        </p:txBody>
      </p:sp>
      <p:sp>
        <p:nvSpPr>
          <p:cNvPr id="10013" name="T2 description"/>
          <p:cNvSpPr txBox="1"/>
          <p:nvPr/>
        </p:nvSpPr>
        <p:spPr>
          <a:xfrm>
            <a:off x="4050792" y="1965960"/>
            <a:ext cx="3017520" cy="841248"/>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Adds farm facts or the local agro-ecological setting</a:t>
            </a:r>
          </a:p>
        </p:txBody>
      </p:sp>
      <p:cxnSp>
        <p:nvCxnSpPr>
          <p:cNvPr id="10014" name="T2 to T3"/>
          <p:cNvCxnSpPr/>
          <p:nvPr/>
        </p:nvCxnSpPr>
        <p:spPr>
          <a:xfrm>
            <a:off x="7242048" y="1975104"/>
            <a:ext cx="173736" cy="0"/>
          </a:xfrm>
          <a:prstGeom prst="straightConnector1">
            <a:avLst/>
          </a:prstGeom>
          <a:ln w="19050">
            <a:solidFill>
              <a:srgbClr val="123755"/>
            </a:solidFill>
            <a:tailEnd type="triangle" w="med" len="med"/>
          </a:ln>
        </p:spPr>
      </p:cxnSp>
      <p:sp>
        <p:nvSpPr>
          <p:cNvPr id="10015" name="T3 general design"/>
          <p:cNvSpPr/>
          <p:nvPr/>
        </p:nvSpPr>
        <p:spPr>
          <a:xfrm>
            <a:off x="7443216" y="1097280"/>
            <a:ext cx="3310128" cy="1755648"/>
          </a:xfrm>
          <a:prstGeom prst="roundRect">
            <a:avLst>
              <a:gd name="adj" fmla="val 5000"/>
            </a:avLst>
          </a:prstGeom>
          <a:solidFill>
            <a:srgbClr val="FFFFFF"/>
          </a:solidFill>
          <a:ln w="8255">
            <a:solidFill>
              <a:srgbClr val="7192A6"/>
            </a:solidFill>
          </a:ln>
        </p:spPr>
        <p:txBody>
          <a:bodyPr/>
          <a:lstStyle/>
          <a:p>
            <a:endParaRPr lang="en-US"/>
          </a:p>
        </p:txBody>
      </p:sp>
      <p:sp>
        <p:nvSpPr>
          <p:cNvPr id="10016" name="T3 label"/>
          <p:cNvSpPr txBox="1"/>
          <p:nvPr/>
        </p:nvSpPr>
        <p:spPr>
          <a:xfrm>
            <a:off x="7589520" y="1207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23755"/>
                </a:solidFill>
                <a:latin typeface="Arial"/>
                <a:cs typeface="Arial"/>
              </a:rPr>
              <a:t xml:space="preserve">T3</a:t>
            </a:r>
          </a:p>
        </p:txBody>
      </p:sp>
      <p:sp>
        <p:nvSpPr>
          <p:cNvPr id="10017" name="T3 class"/>
          <p:cNvSpPr txBox="1"/>
          <p:nvPr/>
        </p:nvSpPr>
        <p:spPr>
          <a:xfrm>
            <a:off x="8156448" y="1225296"/>
            <a:ext cx="248716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Procedural guidance</a:t>
            </a:r>
          </a:p>
        </p:txBody>
      </p:sp>
      <p:sp>
        <p:nvSpPr>
          <p:cNvPr id="10018" name="T3 gloss"/>
          <p:cNvSpPr txBox="1"/>
          <p:nvPr/>
        </p:nvSpPr>
        <p:spPr>
          <a:xfrm>
            <a:off x="8156448" y="1572768"/>
            <a:ext cx="2487168" cy="292608"/>
          </a:xfrm>
          <a:prstGeom prst="rect">
            <a:avLst/>
          </a:prstGeom>
          <a:noFill/>
        </p:spPr>
        <p:txBody>
          <a:bodyPr wrap="square" lIns="0" tIns="0" rIns="0" bIns="0" anchor="t">
            <a:noAutofit/>
          </a:bodyPr>
          <a:lstStyle/>
          <a:p>
            <a:pPr algn="l">
              <a:lnSpc>
                <a:spcPct val="95000"/>
              </a:lnSpc>
            </a:pPr>
            <a:r>
              <a:rPr lang="en-US" sz="1600" b="0" i="1" dirty="0">
                <a:solidFill>
                  <a:srgbClr val="506B81"/>
                </a:solidFill>
                <a:latin typeface="Arial"/>
                <a:cs typeface="Arial"/>
              </a:rPr>
              <a:t xml:space="preserve">how the farmer decides</a:t>
            </a:r>
          </a:p>
        </p:txBody>
      </p:sp>
      <p:sp>
        <p:nvSpPr>
          <p:cNvPr id="10019" name="T3 description"/>
          <p:cNvSpPr txBox="1"/>
          <p:nvPr/>
        </p:nvSpPr>
        <p:spPr>
          <a:xfrm>
            <a:off x="7589520" y="1965960"/>
            <a:ext cx="3017520" cy="841248"/>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Adds how cash, risk, experience and neighbours shape a decision; no numbers</a:t>
            </a:r>
          </a:p>
        </p:txBody>
      </p:sp>
      <p:cxnSp>
        <p:nvCxnSpPr>
          <p:cNvPr id="10020" name="T3 to T4"/>
          <p:cNvCxnSpPr/>
          <p:nvPr/>
        </p:nvCxnSpPr>
        <p:spPr>
          <a:xfrm>
            <a:off x="10780776" y="1975104"/>
            <a:ext cx="173736" cy="0"/>
          </a:xfrm>
          <a:prstGeom prst="straightConnector1">
            <a:avLst/>
          </a:prstGeom>
          <a:ln w="19050">
            <a:solidFill>
              <a:srgbClr val="123755"/>
            </a:solidFill>
            <a:tailEnd type="triangle" w="med" len="med"/>
          </a:ln>
        </p:spPr>
      </p:cxnSp>
      <p:sp>
        <p:nvSpPr>
          <p:cNvPr id="10021" name="T4 general design"/>
          <p:cNvSpPr/>
          <p:nvPr/>
        </p:nvSpPr>
        <p:spPr>
          <a:xfrm>
            <a:off x="10981944" y="1097280"/>
            <a:ext cx="3310128" cy="1755648"/>
          </a:xfrm>
          <a:prstGeom prst="roundRect">
            <a:avLst>
              <a:gd name="adj" fmla="val 5000"/>
            </a:avLst>
          </a:prstGeom>
          <a:solidFill>
            <a:srgbClr val="FFFFFF"/>
          </a:solidFill>
          <a:ln w="8255">
            <a:solidFill>
              <a:srgbClr val="7192A6"/>
            </a:solidFill>
          </a:ln>
        </p:spPr>
        <p:txBody>
          <a:bodyPr/>
          <a:lstStyle/>
          <a:p>
            <a:endParaRPr lang="en-US"/>
          </a:p>
        </p:txBody>
      </p:sp>
      <p:sp>
        <p:nvSpPr>
          <p:cNvPr id="10022" name="T4 label"/>
          <p:cNvSpPr txBox="1"/>
          <p:nvPr/>
        </p:nvSpPr>
        <p:spPr>
          <a:xfrm>
            <a:off x="11128248" y="1207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23755"/>
                </a:solidFill>
                <a:latin typeface="Arial"/>
                <a:cs typeface="Arial"/>
              </a:rPr>
              <a:t xml:space="preserve">T4</a:t>
            </a:r>
          </a:p>
        </p:txBody>
      </p:sp>
      <p:sp>
        <p:nvSpPr>
          <p:cNvPr id="10023" name="T4 class"/>
          <p:cNvSpPr txBox="1"/>
          <p:nvPr/>
        </p:nvSpPr>
        <p:spPr>
          <a:xfrm>
            <a:off x="11695176" y="1225296"/>
            <a:ext cx="248716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Semantic knowledge</a:t>
            </a:r>
          </a:p>
        </p:txBody>
      </p:sp>
      <p:sp>
        <p:nvSpPr>
          <p:cNvPr id="10024" name="T4 gloss"/>
          <p:cNvSpPr txBox="1"/>
          <p:nvPr/>
        </p:nvSpPr>
        <p:spPr>
          <a:xfrm>
            <a:off x="11695176" y="1572768"/>
            <a:ext cx="2487168" cy="292608"/>
          </a:xfrm>
          <a:prstGeom prst="rect">
            <a:avLst/>
          </a:prstGeom>
          <a:noFill/>
        </p:spPr>
        <p:txBody>
          <a:bodyPr wrap="square" lIns="0" tIns="0" rIns="0" bIns="0" anchor="t">
            <a:noAutofit/>
          </a:bodyPr>
          <a:lstStyle/>
          <a:p>
            <a:pPr algn="l">
              <a:lnSpc>
                <a:spcPct val="95000"/>
              </a:lnSpc>
            </a:pPr>
            <a:r>
              <a:rPr lang="en-US" sz="1600" b="0" i="1" dirty="0">
                <a:solidFill>
                  <a:srgbClr val="506B81"/>
                </a:solidFill>
                <a:latin typeface="Arial"/>
                <a:cs typeface="Arial"/>
              </a:rPr>
              <a:t xml:space="preserve">what the farmer knows</a:t>
            </a:r>
          </a:p>
        </p:txBody>
      </p:sp>
      <p:sp>
        <p:nvSpPr>
          <p:cNvPr id="10025" name="T4 description"/>
          <p:cNvSpPr txBox="1"/>
          <p:nvPr/>
        </p:nvSpPr>
        <p:spPr>
          <a:xfrm>
            <a:off x="11128248" y="1965960"/>
            <a:ext cx="3017520" cy="841248"/>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Adds practice norms, typical input ranges and checks: the farmer skill</a:t>
            </a:r>
          </a:p>
        </p:txBody>
      </p:sp>
      <p:sp>
        <p:nvSpPr>
          <p:cNvPr id="10026" name="Panel 2 background"/>
          <p:cNvSpPr/>
          <p:nvPr/>
        </p:nvSpPr>
        <p:spPr>
          <a:xfrm>
            <a:off x="164592" y="3127248"/>
            <a:ext cx="14301216" cy="5586984"/>
          </a:xfrm>
          <a:prstGeom prst="roundRect">
            <a:avLst>
              <a:gd name="adj" fmla="val 2600"/>
            </a:avLst>
          </a:prstGeom>
          <a:solidFill>
            <a:srgbClr val="F8FBFD"/>
          </a:solidFill>
          <a:ln w="9525">
            <a:solidFill>
              <a:srgbClr val="A9CBDD"/>
            </a:solidFill>
          </a:ln>
        </p:spPr>
        <p:txBody>
          <a:bodyPr/>
          <a:lstStyle/>
          <a:p>
            <a:endParaRPr lang="en-US"/>
          </a:p>
        </p:txBody>
      </p:sp>
      <p:sp>
        <p:nvSpPr>
          <p:cNvPr id="10027" name="Panel 2 title"/>
          <p:cNvSpPr txBox="1"/>
          <p:nvPr/>
        </p:nvSpPr>
        <p:spPr>
          <a:xfrm>
            <a:off x="320040" y="3236976"/>
            <a:ext cx="14026896" cy="365760"/>
          </a:xfrm>
          <a:prstGeom prst="rect">
            <a:avLst/>
          </a:prstGeom>
          <a:noFill/>
        </p:spPr>
        <p:txBody>
          <a:bodyPr wrap="square" lIns="0" tIns="0" rIns="0" bIns="0" anchor="t">
            <a:noAutofit/>
          </a:bodyPr>
          <a:lstStyle/>
          <a:p>
            <a:pPr algn="l">
              <a:lnSpc>
                <a:spcPct val="95000"/>
              </a:lnSpc>
            </a:pPr>
            <a:r>
              <a:rPr lang="en-US" sz="2000" b="1" i="0" dirty="0">
                <a:solidFill>
                  <a:srgbClr val="123755"/>
                </a:solidFill>
                <a:latin typeface="Arial"/>
                <a:cs typeface="Arial"/>
              </a:rPr>
              <a:t xml:space="preserve">2  SETTING-SPECIFIC PROMPT DESIGNS</a:t>
            </a:r>
          </a:p>
        </p:txBody>
      </p:sp>
      <p:sp>
        <p:nvSpPr>
          <p:cNvPr id="10028" name="Panel 2 subtitle"/>
          <p:cNvSpPr txBox="1"/>
          <p:nvPr/>
        </p:nvSpPr>
        <p:spPr>
          <a:xfrm>
            <a:off x="320040" y="3630168"/>
            <a:ext cx="14026896" cy="329184"/>
          </a:xfrm>
          <a:prstGeom prst="rect">
            <a:avLst/>
          </a:prstGeom>
          <a:noFill/>
        </p:spPr>
        <p:txBody>
          <a:bodyPr wrap="square" lIns="0" tIns="0" rIns="0" bIns="0" anchor="t">
            <a:noAutofit/>
          </a:bodyPr>
          <a:lstStyle/>
          <a:p>
            <a:pPr algn="l">
              <a:lnSpc>
                <a:spcPct val="95000"/>
              </a:lnSpc>
            </a:pPr>
            <a:r>
              <a:rPr lang="en-US" sz="1650" b="0" i="0" dirty="0">
                <a:solidFill>
                  <a:srgbClr val="506B81"/>
                </a:solidFill>
                <a:latin typeface="Arial"/>
                <a:cs typeface="Arial"/>
              </a:rPr>
              <a:t xml:space="preserve">The four designs written for each survey; each design is assembled and queried separately.</a:t>
            </a:r>
          </a:p>
        </p:txBody>
      </p:sp>
      <p:sp>
        <p:nvSpPr>
          <p:cNvPr id="10029" name="Quzhou row"/>
          <p:cNvSpPr/>
          <p:nvPr/>
        </p:nvSpPr>
        <p:spPr>
          <a:xfrm>
            <a:off x="301752" y="4041648"/>
            <a:ext cx="14026896" cy="2212848"/>
          </a:xfrm>
          <a:prstGeom prst="roundRect">
            <a:avLst>
              <a:gd name="adj" fmla="val 3300"/>
            </a:avLst>
          </a:prstGeom>
          <a:solidFill>
            <a:srgbClr val="EDF7FD"/>
          </a:solidFill>
          <a:ln w="8255">
            <a:solidFill>
              <a:srgbClr val="54A3D3"/>
            </a:solidFill>
          </a:ln>
        </p:spPr>
        <p:txBody>
          <a:bodyPr/>
          <a:lstStyle/>
          <a:p>
            <a:endParaRPr lang="en-US"/>
          </a:p>
        </p:txBody>
      </p:sp>
      <p:sp>
        <p:nvSpPr>
          <p:cNvPr id="10030" name="Quzhou name"/>
          <p:cNvSpPr txBox="1"/>
          <p:nvPr/>
        </p:nvSpPr>
        <p:spPr>
          <a:xfrm>
            <a:off x="457200" y="4151376"/>
            <a:ext cx="1371600" cy="347472"/>
          </a:xfrm>
          <a:prstGeom prst="rect">
            <a:avLst/>
          </a:prstGeom>
          <a:noFill/>
        </p:spPr>
        <p:txBody>
          <a:bodyPr wrap="square" lIns="0" tIns="0" rIns="0" bIns="0" anchor="t">
            <a:noAutofit/>
          </a:bodyPr>
          <a:lstStyle/>
          <a:p>
            <a:pPr algn="l">
              <a:lnSpc>
                <a:spcPct val="95000"/>
              </a:lnSpc>
            </a:pPr>
            <a:r>
              <a:rPr lang="en-US" sz="1800" b="1" i="0" dirty="0">
                <a:solidFill>
                  <a:srgbClr val="157ABC"/>
                </a:solidFill>
                <a:latin typeface="Arial"/>
                <a:cs typeface="Arial"/>
              </a:rPr>
              <a:t xml:space="preserve">Quzhou</a:t>
            </a:r>
          </a:p>
        </p:txBody>
      </p:sp>
      <p:sp>
        <p:nvSpPr>
          <p:cNvPr id="10031" name="Quzhou unit"/>
          <p:cNvSpPr txBox="1"/>
          <p:nvPr/>
        </p:nvSpPr>
        <p:spPr>
          <a:xfrm>
            <a:off x="457200" y="4498848"/>
            <a:ext cx="1371600" cy="310896"/>
          </a:xfrm>
          <a:prstGeom prst="rect">
            <a:avLst/>
          </a:prstGeom>
          <a:noFill/>
        </p:spPr>
        <p:txBody>
          <a:bodyPr wrap="square" lIns="0" tIns="0" rIns="0" bIns="0" anchor="t">
            <a:noAutofit/>
          </a:bodyPr>
          <a:lstStyle/>
          <a:p>
            <a:pPr algn="l">
              <a:lnSpc>
                <a:spcPct val="95000"/>
              </a:lnSpc>
            </a:pPr>
            <a:r>
              <a:rPr lang="en-US" sz="1600" b="0" i="0" dirty="0">
                <a:solidFill>
                  <a:srgbClr val="157ABC"/>
                </a:solidFill>
                <a:latin typeface="Arial"/>
                <a:cs typeface="Arial"/>
              </a:rPr>
              <a:t xml:space="preserve">Households</a:t>
            </a:r>
          </a:p>
        </p:txBody>
      </p:sp>
      <p:sp>
        <p:nvSpPr>
          <p:cNvPr id="10032" name="Quzhou sample"/>
          <p:cNvSpPr txBox="1"/>
          <p:nvPr/>
        </p:nvSpPr>
        <p:spPr>
          <a:xfrm>
            <a:off x="1874520" y="4169664"/>
            <a:ext cx="12307824" cy="310896"/>
          </a:xfrm>
          <a:prstGeom prst="rect">
            <a:avLst/>
          </a:prstGeom>
          <a:noFill/>
        </p:spPr>
        <p:txBody>
          <a:bodyPr wrap="square" lIns="0" tIns="0" rIns="0" bIns="0" anchor="t">
            <a:noAutofit/>
          </a:bodyPr>
          <a:lstStyle/>
          <a:p>
            <a:pPr algn="l">
              <a:lnSpc>
                <a:spcPct val="95000"/>
              </a:lnSpc>
            </a:pPr>
            <a:r>
              <a:rPr lang="en-US" sz="1600" b="1" i="0" dirty="0">
                <a:solidFill>
                  <a:srgbClr val="157ABC"/>
                </a:solidFill>
                <a:latin typeface="Arial"/>
                <a:cs typeface="Arial"/>
              </a:rPr>
              <a:t xml:space="preserve">505 households</a:t>
            </a:r>
            <a:r>
              <a:rPr lang="en-US" sz="1600" b="0" i="0" dirty="0">
                <a:solidFill>
                  <a:srgbClr val="123755"/>
                </a:solidFill>
                <a:latin typeface="Arial"/>
                <a:cs typeface="Arial"/>
              </a:rPr>
              <a:t xml:space="preserve"> · 1,349 farmer–crop records · Quzhou County household survey, 2019–20 season (Xu et al., 2024)</a:t>
            </a:r>
          </a:p>
        </p:txBody>
      </p:sp>
      <p:grpSp>
        <p:nvGrpSpPr>
          <p:cNvPr id="10033" name="Quzhou farmer and field / editable grouped illustration"/>
          <p:cNvGrpSpPr/>
          <p:nvPr/>
        </p:nvGrpSpPr>
        <p:grpSpPr>
          <a:xfrm>
            <a:off x="475488" y="4882896"/>
            <a:ext cx="886968" cy="1243584"/>
            <a:chOff x="411480" y="3959352"/>
            <a:chExt cx="886968" cy="1243584"/>
          </a:xfrm>
        </p:grpSpPr>
        <p:sp>
          <p:nvSpPr>
            <p:cNvPr id="10034" name="Sky background"/>
            <p:cNvSpPr/>
            <p:nvPr/>
          </p:nvSpPr>
          <p:spPr>
            <a:xfrm>
              <a:off x="411480" y="3959352"/>
              <a:ext cx="886968" cy="1243584"/>
            </a:xfrm>
            <a:prstGeom prst="roundRect">
              <a:avLst>
                <a:gd name="adj" fmla="val 5500"/>
              </a:avLst>
            </a:prstGeom>
            <a:solidFill>
              <a:srgbClr val="E7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35" name="Editable vector path"/>
            <p:cNvSpPr/>
            <p:nvPr/>
          </p:nvSpPr>
          <p:spPr>
            <a:xfrm>
              <a:off x="411480" y="4158325"/>
              <a:ext cx="886968" cy="422818"/>
            </a:xfrm>
            <a:custGeom>
              <a:avLst/>
              <a:gdLst/>
              <a:ahLst/>
              <a:cxnLst/>
              <a:rect l="0" t="0" r="r" b="b"/>
              <a:pathLst>
                <a:path w="1000" h="1000" stroke="0">
                  <a:moveTo>
                    <a:pt x="0" y="550"/>
                  </a:moveTo>
                  <a:lnTo>
                    <a:pt x="140" y="190"/>
                  </a:lnTo>
                  <a:lnTo>
                    <a:pt x="360" y="610"/>
                  </a:lnTo>
                  <a:lnTo>
                    <a:pt x="590" y="100"/>
                  </a:lnTo>
                  <a:lnTo>
                    <a:pt x="820" y="420"/>
                  </a:lnTo>
                  <a:lnTo>
                    <a:pt x="1000" y="230"/>
                  </a:lnTo>
                  <a:lnTo>
                    <a:pt x="1000" y="1000"/>
                  </a:lnTo>
                  <a:lnTo>
                    <a:pt x="0" y="1000"/>
                  </a:lnTo>
                  <a:close/>
                </a:path>
              </a:pathLst>
            </a:custGeom>
            <a:solidFill>
              <a:srgbClr val="BDDC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36" name="Editable vector path"/>
            <p:cNvSpPr/>
            <p:nvPr/>
          </p:nvSpPr>
          <p:spPr>
            <a:xfrm>
              <a:off x="411480" y="4307555"/>
              <a:ext cx="886968" cy="373075"/>
            </a:xfrm>
            <a:custGeom>
              <a:avLst/>
              <a:gdLst/>
              <a:ahLst/>
              <a:cxnLst/>
              <a:rect l="0" t="0" r="r" b="b"/>
              <a:pathLst>
                <a:path w="1000" h="1000" stroke="0">
                  <a:moveTo>
                    <a:pt x="0" y="410"/>
                  </a:moveTo>
                  <a:cubicBezTo>
                    <a:pt x="300" y="100"/>
                    <a:pt x="530" y="250"/>
                    <a:pt x="780" y="500"/>
                  </a:cubicBezTo>
                  <a:lnTo>
                    <a:pt x="1000" y="340"/>
                  </a:lnTo>
                  <a:lnTo>
                    <a:pt x="1000" y="1000"/>
                  </a:lnTo>
                  <a:lnTo>
                    <a:pt x="0" y="1000"/>
                  </a:lnTo>
                  <a:close/>
                </a:path>
              </a:pathLst>
            </a:custGeom>
            <a:solidFill>
              <a:srgbClr val="8CBFA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37" name="Editable vector path"/>
            <p:cNvSpPr/>
            <p:nvPr/>
          </p:nvSpPr>
          <p:spPr>
            <a:xfrm>
              <a:off x="411480" y="4431913"/>
              <a:ext cx="886968" cy="335767"/>
            </a:xfrm>
            <a:custGeom>
              <a:avLst/>
              <a:gdLst/>
              <a:ahLst/>
              <a:cxnLst/>
              <a:rect l="0" t="0" r="r" b="b"/>
              <a:pathLst>
                <a:path w="1000" h="1000" stroke="0">
                  <a:moveTo>
                    <a:pt x="0" y="700"/>
                  </a:moveTo>
                  <a:cubicBezTo>
                    <a:pt x="250" y="310"/>
                    <a:pt x="590" y="140"/>
                    <a:pt x="1000" y="450"/>
                  </a:cubicBezTo>
                  <a:lnTo>
                    <a:pt x="1000" y="1000"/>
                  </a:lnTo>
                  <a:lnTo>
                    <a:pt x="0" y="1000"/>
                  </a:lnTo>
                  <a:close/>
                </a:path>
              </a:pathLst>
            </a:custGeom>
            <a:solidFill>
              <a:srgbClr val="679F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38" name="Ellipse"/>
            <p:cNvSpPr/>
            <p:nvPr/>
          </p:nvSpPr>
          <p:spPr>
            <a:xfrm>
              <a:off x="491307" y="4065056"/>
              <a:ext cx="168523" cy="43525"/>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39" name="Ellipse"/>
            <p:cNvSpPr/>
            <p:nvPr/>
          </p:nvSpPr>
          <p:spPr>
            <a:xfrm>
              <a:off x="571134" y="4033967"/>
              <a:ext cx="106436" cy="57204"/>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40" name="Field base"/>
            <p:cNvSpPr/>
            <p:nvPr/>
          </p:nvSpPr>
          <p:spPr>
            <a:xfrm>
              <a:off x="411480" y="4643323"/>
              <a:ext cx="886968" cy="559612"/>
            </a:xfrm>
            <a:prstGeom prst="rect">
              <a:avLst/>
            </a:prstGeom>
            <a:solidFill>
              <a:srgbClr val="C5CD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41" name="Editable polygon"/>
            <p:cNvSpPr/>
            <p:nvPr/>
          </p:nvSpPr>
          <p:spPr>
            <a:xfrm>
              <a:off x="411480" y="4630887"/>
              <a:ext cx="727313" cy="572048"/>
            </a:xfrm>
            <a:custGeom>
              <a:avLst/>
              <a:gdLst/>
              <a:ahLst/>
              <a:cxnLst/>
              <a:rect l="0" t="0" r="r" b="b"/>
              <a:pathLst>
                <a:path w="1000" h="1000" stroke="0">
                  <a:moveTo>
                    <a:pt x="0" y="174"/>
                  </a:moveTo>
                  <a:lnTo>
                    <a:pt x="732" y="0"/>
                  </a:lnTo>
                  <a:lnTo>
                    <a:pt x="1000" y="196"/>
                  </a:lnTo>
                  <a:lnTo>
                    <a:pt x="268" y="1000"/>
                  </a:lnTo>
                  <a:lnTo>
                    <a:pt x="0" y="1000"/>
                  </a:lnTo>
                  <a:close/>
                </a:path>
              </a:pathLst>
            </a:custGeom>
            <a:solidFill>
              <a:srgbClr val="C6CB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42" name="Editable polygon"/>
            <p:cNvSpPr/>
            <p:nvPr/>
          </p:nvSpPr>
          <p:spPr>
            <a:xfrm>
              <a:off x="588873" y="4655759"/>
              <a:ext cx="709574" cy="547176"/>
            </a:xfrm>
            <a:custGeom>
              <a:avLst/>
              <a:gdLst/>
              <a:ahLst/>
              <a:cxnLst/>
              <a:rect l="0" t="0" r="r" b="b"/>
              <a:pathLst>
                <a:path w="1000" h="1000" stroke="0">
                  <a:moveTo>
                    <a:pt x="0" y="1000"/>
                  </a:moveTo>
                  <a:lnTo>
                    <a:pt x="662" y="0"/>
                  </a:lnTo>
                  <a:lnTo>
                    <a:pt x="1000" y="23"/>
                  </a:lnTo>
                  <a:lnTo>
                    <a:pt x="1000" y="1000"/>
                  </a:lnTo>
                  <a:close/>
                </a:path>
              </a:pathLst>
            </a:custGeom>
            <a:solidFill>
              <a:srgbClr val="86AE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043" name="Editable connector"/>
            <p:cNvCxnSpPr/>
            <p:nvPr/>
          </p:nvCxnSpPr>
          <p:spPr>
            <a:xfrm flipV="1">
              <a:off x="446958" y="4683117"/>
              <a:ext cx="487833"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44" name="Editable connector"/>
            <p:cNvCxnSpPr/>
            <p:nvPr/>
          </p:nvCxnSpPr>
          <p:spPr>
            <a:xfrm flipV="1">
              <a:off x="522351" y="4683117"/>
              <a:ext cx="438162"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45" name="Editable connector"/>
            <p:cNvCxnSpPr/>
            <p:nvPr/>
          </p:nvCxnSpPr>
          <p:spPr>
            <a:xfrm flipV="1">
              <a:off x="597743" y="4683117"/>
              <a:ext cx="388492"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46" name="Editable connector"/>
            <p:cNvCxnSpPr/>
            <p:nvPr/>
          </p:nvCxnSpPr>
          <p:spPr>
            <a:xfrm flipV="1">
              <a:off x="673135" y="4683117"/>
              <a:ext cx="338822"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47" name="Editable connector"/>
            <p:cNvCxnSpPr/>
            <p:nvPr/>
          </p:nvCxnSpPr>
          <p:spPr>
            <a:xfrm flipV="1">
              <a:off x="748527" y="4683117"/>
              <a:ext cx="289152"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48" name="Editable connector"/>
            <p:cNvCxnSpPr/>
            <p:nvPr/>
          </p:nvCxnSpPr>
          <p:spPr>
            <a:xfrm flipV="1">
              <a:off x="823920" y="4683117"/>
              <a:ext cx="239481"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49" name="Editable connector"/>
            <p:cNvCxnSpPr/>
            <p:nvPr/>
          </p:nvCxnSpPr>
          <p:spPr>
            <a:xfrm flipV="1">
              <a:off x="899312" y="4683117"/>
              <a:ext cx="189811" cy="519819"/>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050" name="Editable connector"/>
            <p:cNvCxnSpPr/>
            <p:nvPr/>
          </p:nvCxnSpPr>
          <p:spPr>
            <a:xfrm flipV="1">
              <a:off x="801745" y="4693066"/>
              <a:ext cx="337048" cy="509870"/>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051" name="Editable connector"/>
            <p:cNvCxnSpPr/>
            <p:nvPr/>
          </p:nvCxnSpPr>
          <p:spPr>
            <a:xfrm flipV="1">
              <a:off x="894877" y="4693066"/>
              <a:ext cx="268751" cy="509870"/>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052" name="Editable connector"/>
            <p:cNvCxnSpPr/>
            <p:nvPr/>
          </p:nvCxnSpPr>
          <p:spPr>
            <a:xfrm flipV="1">
              <a:off x="988009" y="4693066"/>
              <a:ext cx="200454" cy="509870"/>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053" name="Editable connector"/>
            <p:cNvCxnSpPr/>
            <p:nvPr/>
          </p:nvCxnSpPr>
          <p:spPr>
            <a:xfrm flipV="1">
              <a:off x="1081140" y="4693066"/>
              <a:ext cx="132159" cy="509870"/>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054" name="Editable connector"/>
            <p:cNvCxnSpPr/>
            <p:nvPr/>
          </p:nvCxnSpPr>
          <p:spPr>
            <a:xfrm flipV="1">
              <a:off x="1174272" y="4693066"/>
              <a:ext cx="63862" cy="509870"/>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055" name="Editable connector"/>
            <p:cNvCxnSpPr/>
            <p:nvPr/>
          </p:nvCxnSpPr>
          <p:spPr>
            <a:xfrm flipH="1" flipV="1">
              <a:off x="1262969" y="4693066"/>
              <a:ext cx="4435" cy="509870"/>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sp>
          <p:nvSpPr>
            <p:cNvPr id="10056" name="Editable polygon"/>
            <p:cNvSpPr/>
            <p:nvPr/>
          </p:nvSpPr>
          <p:spPr>
            <a:xfrm>
              <a:off x="464698" y="4643323"/>
              <a:ext cx="647486" cy="559612"/>
            </a:xfrm>
            <a:custGeom>
              <a:avLst/>
              <a:gdLst/>
              <a:ahLst/>
              <a:cxnLst/>
              <a:rect l="0" t="0" r="r" b="b"/>
              <a:pathLst>
                <a:path w="1000" h="1000" stroke="0">
                  <a:moveTo>
                    <a:pt x="0" y="1000"/>
                  </a:moveTo>
                  <a:lnTo>
                    <a:pt x="534" y="1000"/>
                  </a:lnTo>
                  <a:lnTo>
                    <a:pt x="1000" y="0"/>
                  </a:lnTo>
                  <a:lnTo>
                    <a:pt x="945" y="0"/>
                  </a:lnTo>
                  <a:close/>
                </a:path>
              </a:pathLst>
            </a:custGeom>
            <a:solidFill>
              <a:srgbClr val="EEDC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nvGrpSpPr>
            <p:cNvPr id="10057" name="Grouped farm building"/>
            <p:cNvGrpSpPr/>
            <p:nvPr/>
          </p:nvGrpSpPr>
          <p:grpSpPr>
            <a:xfrm>
              <a:off x="424784" y="4500311"/>
              <a:ext cx="230611" cy="188900"/>
              <a:chOff x="424784" y="4500311"/>
              <a:chExt cx="230611" cy="188900"/>
            </a:xfrm>
          </p:grpSpPr>
          <p:sp>
            <p:nvSpPr>
              <p:cNvPr id="10058" name="Panel"/>
              <p:cNvSpPr/>
              <p:nvPr/>
            </p:nvSpPr>
            <p:spPr>
              <a:xfrm>
                <a:off x="447845" y="4569703"/>
                <a:ext cx="170652" cy="119508"/>
              </a:xfrm>
              <a:prstGeom prst="rect">
                <a:avLst/>
              </a:prstGeom>
              <a:solidFill>
                <a:srgbClr val="FEF7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59" name="Editable polygon"/>
              <p:cNvSpPr/>
              <p:nvPr/>
            </p:nvSpPr>
            <p:spPr>
              <a:xfrm>
                <a:off x="424784" y="4500311"/>
                <a:ext cx="230611" cy="73247"/>
              </a:xfrm>
              <a:custGeom>
                <a:avLst/>
                <a:gdLst/>
                <a:ahLst/>
                <a:cxnLst/>
                <a:rect l="0" t="0" r="r" b="b"/>
                <a:pathLst>
                  <a:path w="1000" h="1000" stroke="0">
                    <a:moveTo>
                      <a:pt x="0" y="1000"/>
                    </a:moveTo>
                    <a:lnTo>
                      <a:pt x="490" y="0"/>
                    </a:lnTo>
                    <a:lnTo>
                      <a:pt x="1000" y="1000"/>
                    </a:lnTo>
                    <a:close/>
                  </a:path>
                </a:pathLst>
              </a:custGeom>
              <a:solidFill>
                <a:srgbClr val="BD7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60" name="Panel"/>
              <p:cNvSpPr/>
              <p:nvPr/>
            </p:nvSpPr>
            <p:spPr>
              <a:xfrm>
                <a:off x="491661" y="4612109"/>
                <a:ext cx="41510" cy="77102"/>
              </a:xfrm>
              <a:prstGeom prst="rect">
                <a:avLst/>
              </a:prstGeom>
              <a:solidFill>
                <a:srgbClr val="5075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61" name="Panel"/>
              <p:cNvSpPr/>
              <p:nvPr/>
            </p:nvSpPr>
            <p:spPr>
              <a:xfrm>
                <a:off x="556233" y="4600543"/>
                <a:ext cx="39203" cy="32768"/>
              </a:xfrm>
              <a:prstGeom prst="rect">
                <a:avLst/>
              </a:prstGeom>
              <a:solidFill>
                <a:srgbClr val="9FC3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grpSp>
          <p:nvGrpSpPr>
            <p:cNvPr id="10062" name="Grouped farm building"/>
            <p:cNvGrpSpPr/>
            <p:nvPr/>
          </p:nvGrpSpPr>
          <p:grpSpPr>
            <a:xfrm>
              <a:off x="988009" y="4494093"/>
              <a:ext cx="221741" cy="182806"/>
              <a:chOff x="988009" y="4494093"/>
              <a:chExt cx="221741" cy="182806"/>
            </a:xfrm>
          </p:grpSpPr>
          <p:sp>
            <p:nvSpPr>
              <p:cNvPr id="10063" name="Panel"/>
              <p:cNvSpPr/>
              <p:nvPr/>
            </p:nvSpPr>
            <p:spPr>
              <a:xfrm>
                <a:off x="1010183" y="4561246"/>
                <a:ext cx="164089" cy="115653"/>
              </a:xfrm>
              <a:prstGeom prst="rect">
                <a:avLst/>
              </a:prstGeom>
              <a:solidFill>
                <a:srgbClr val="FEF7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64" name="Editable polygon"/>
              <p:cNvSpPr/>
              <p:nvPr/>
            </p:nvSpPr>
            <p:spPr>
              <a:xfrm>
                <a:off x="988009" y="4494093"/>
                <a:ext cx="221741" cy="70884"/>
              </a:xfrm>
              <a:custGeom>
                <a:avLst/>
                <a:gdLst/>
                <a:ahLst/>
                <a:cxnLst/>
                <a:rect l="0" t="0" r="r" b="b"/>
                <a:pathLst>
                  <a:path w="1000" h="1000" stroke="0">
                    <a:moveTo>
                      <a:pt x="0" y="1000"/>
                    </a:moveTo>
                    <a:lnTo>
                      <a:pt x="490" y="0"/>
                    </a:lnTo>
                    <a:lnTo>
                      <a:pt x="1000" y="1000"/>
                    </a:lnTo>
                    <a:close/>
                  </a:path>
                </a:pathLst>
              </a:custGeom>
              <a:solidFill>
                <a:srgbClr val="BD7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65" name="Panel"/>
              <p:cNvSpPr/>
              <p:nvPr/>
            </p:nvSpPr>
            <p:spPr>
              <a:xfrm>
                <a:off x="1052314" y="4602284"/>
                <a:ext cx="39913" cy="74615"/>
              </a:xfrm>
              <a:prstGeom prst="rect">
                <a:avLst/>
              </a:prstGeom>
              <a:solidFill>
                <a:srgbClr val="5075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66" name="Panel"/>
              <p:cNvSpPr/>
              <p:nvPr/>
            </p:nvSpPr>
            <p:spPr>
              <a:xfrm>
                <a:off x="1114402" y="4591092"/>
                <a:ext cx="37696" cy="31711"/>
              </a:xfrm>
              <a:prstGeom prst="rect">
                <a:avLst/>
              </a:prstGeom>
              <a:solidFill>
                <a:srgbClr val="9FC3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grpSp>
          <p:nvGrpSpPr>
            <p:cNvPr id="10067" name="Grouped field tree"/>
            <p:cNvGrpSpPr/>
            <p:nvPr/>
          </p:nvGrpSpPr>
          <p:grpSpPr>
            <a:xfrm>
              <a:off x="1146953" y="4352324"/>
              <a:ext cx="110694" cy="365613"/>
              <a:chOff x="1146953" y="4352324"/>
              <a:chExt cx="110694" cy="365613"/>
            </a:xfrm>
          </p:grpSpPr>
          <p:sp>
            <p:nvSpPr>
              <p:cNvPr id="10068" name="Panel"/>
              <p:cNvSpPr/>
              <p:nvPr/>
            </p:nvSpPr>
            <p:spPr>
              <a:xfrm>
                <a:off x="1192366" y="4456785"/>
                <a:ext cx="15610" cy="261152"/>
              </a:xfrm>
              <a:prstGeom prst="rect">
                <a:avLst/>
              </a:prstGeom>
              <a:solidFill>
                <a:srgbClr val="90784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69" name="Ellipse"/>
              <p:cNvSpPr/>
              <p:nvPr/>
            </p:nvSpPr>
            <p:spPr>
              <a:xfrm>
                <a:off x="1146953" y="4441862"/>
                <a:ext cx="75214" cy="164153"/>
              </a:xfrm>
              <a:prstGeom prst="ellipse">
                <a:avLst/>
              </a:prstGeom>
              <a:solidFill>
                <a:srgbClr val="5E99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70" name="Ellipse"/>
              <p:cNvSpPr/>
              <p:nvPr/>
            </p:nvSpPr>
            <p:spPr>
              <a:xfrm>
                <a:off x="1186690" y="4464247"/>
                <a:ext cx="69538" cy="156691"/>
              </a:xfrm>
              <a:prstGeom prst="ellipse">
                <a:avLst/>
              </a:prstGeom>
              <a:solidFill>
                <a:srgbClr val="3F7F5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71" name="Ellipse"/>
              <p:cNvSpPr/>
              <p:nvPr/>
            </p:nvSpPr>
            <p:spPr>
              <a:xfrm>
                <a:off x="1158307" y="4352324"/>
                <a:ext cx="82310" cy="201460"/>
              </a:xfrm>
              <a:prstGeom prst="ellipse">
                <a:avLst/>
              </a:prstGeom>
              <a:solidFill>
                <a:srgbClr val="6BA1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72" name="Ellipse"/>
              <p:cNvSpPr/>
              <p:nvPr/>
            </p:nvSpPr>
            <p:spPr>
              <a:xfrm>
                <a:off x="1178175" y="4419478"/>
                <a:ext cx="79472" cy="186537"/>
              </a:xfrm>
              <a:prstGeom prst="ellipse">
                <a:avLst/>
              </a:prstGeom>
              <a:solidFill>
                <a:srgbClr val="4E8B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cxnSp>
          <p:nvCxnSpPr>
            <p:cNvPr id="10073" name="Editable connector"/>
            <p:cNvCxnSpPr/>
            <p:nvPr/>
          </p:nvCxnSpPr>
          <p:spPr>
            <a:xfrm>
              <a:off x="455828" y="4941783"/>
              <a:ext cx="0" cy="124358"/>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074" name="Editable polygon"/>
            <p:cNvSpPr/>
            <p:nvPr/>
          </p:nvSpPr>
          <p:spPr>
            <a:xfrm>
              <a:off x="427445" y="4964167"/>
              <a:ext cx="28382" cy="39794"/>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75" name="Editable polygon"/>
            <p:cNvSpPr/>
            <p:nvPr/>
          </p:nvSpPr>
          <p:spPr>
            <a:xfrm>
              <a:off x="455828" y="4981578"/>
              <a:ext cx="24835" cy="46012"/>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076" name="Editable connector"/>
            <p:cNvCxnSpPr/>
            <p:nvPr/>
          </p:nvCxnSpPr>
          <p:spPr>
            <a:xfrm>
              <a:off x="517916" y="5010180"/>
              <a:ext cx="0" cy="124358"/>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077" name="Editable polygon"/>
            <p:cNvSpPr/>
            <p:nvPr/>
          </p:nvSpPr>
          <p:spPr>
            <a:xfrm>
              <a:off x="489533" y="5032564"/>
              <a:ext cx="28382" cy="39794"/>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78" name="Editable polygon"/>
            <p:cNvSpPr/>
            <p:nvPr/>
          </p:nvSpPr>
          <p:spPr>
            <a:xfrm>
              <a:off x="517916" y="5049975"/>
              <a:ext cx="24835" cy="46012"/>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079" name="Editable connector"/>
            <p:cNvCxnSpPr/>
            <p:nvPr/>
          </p:nvCxnSpPr>
          <p:spPr>
            <a:xfrm>
              <a:off x="580003" y="4941783"/>
              <a:ext cx="0" cy="124358"/>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080" name="Editable polygon"/>
            <p:cNvSpPr/>
            <p:nvPr/>
          </p:nvSpPr>
          <p:spPr>
            <a:xfrm>
              <a:off x="551620" y="4964167"/>
              <a:ext cx="28382" cy="39794"/>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81" name="Editable polygon"/>
            <p:cNvSpPr/>
            <p:nvPr/>
          </p:nvSpPr>
          <p:spPr>
            <a:xfrm>
              <a:off x="580003" y="4981578"/>
              <a:ext cx="24835" cy="46012"/>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082" name="Editable connector"/>
            <p:cNvCxnSpPr/>
            <p:nvPr/>
          </p:nvCxnSpPr>
          <p:spPr>
            <a:xfrm>
              <a:off x="642091" y="5010180"/>
              <a:ext cx="0" cy="124358"/>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083" name="Editable polygon"/>
            <p:cNvSpPr/>
            <p:nvPr/>
          </p:nvSpPr>
          <p:spPr>
            <a:xfrm>
              <a:off x="613708" y="5032564"/>
              <a:ext cx="28382" cy="39794"/>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84" name="Editable polygon"/>
            <p:cNvSpPr/>
            <p:nvPr/>
          </p:nvSpPr>
          <p:spPr>
            <a:xfrm>
              <a:off x="642091" y="5049975"/>
              <a:ext cx="24835" cy="46012"/>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nvGrpSpPr>
            <p:cNvPr id="10085" name="Editable Quzhou farmer"/>
            <p:cNvGrpSpPr/>
            <p:nvPr/>
          </p:nvGrpSpPr>
          <p:grpSpPr>
            <a:xfrm>
              <a:off x="581777" y="4242640"/>
              <a:ext cx="603670" cy="960295"/>
              <a:chOff x="581777" y="4242640"/>
              <a:chExt cx="603670" cy="960295"/>
            </a:xfrm>
          </p:grpSpPr>
          <p:sp>
            <p:nvSpPr>
              <p:cNvPr id="10086" name="Editable vector path"/>
              <p:cNvSpPr/>
              <p:nvPr/>
            </p:nvSpPr>
            <p:spPr>
              <a:xfrm>
                <a:off x="596324" y="4679138"/>
                <a:ext cx="567304" cy="514097"/>
              </a:xfrm>
              <a:custGeom>
                <a:avLst/>
                <a:gdLst/>
                <a:ahLst/>
                <a:cxnLst/>
                <a:rect l="0" t="0" r="r" b="b"/>
                <a:pathLst>
                  <a:path w="1000" h="1000" stroke="0">
                    <a:moveTo>
                      <a:pt x="330" y="0"/>
                    </a:moveTo>
                    <a:cubicBezTo>
                      <a:pt x="90" y="80"/>
                      <a:pt x="45" y="345"/>
                      <a:pt x="0" y="650"/>
                    </a:cubicBezTo>
                    <a:lnTo>
                      <a:pt x="130" y="810"/>
                    </a:lnTo>
                    <a:lnTo>
                      <a:pt x="255" y="470"/>
                    </a:lnTo>
                    <a:lnTo>
                      <a:pt x="310" y="1000"/>
                    </a:lnTo>
                    <a:lnTo>
                      <a:pt x="920" y="1000"/>
                    </a:lnTo>
                    <a:lnTo>
                      <a:pt x="960" y="430"/>
                    </a:lnTo>
                    <a:cubicBezTo>
                      <a:pt x="1000" y="200"/>
                      <a:pt x="840" y="50"/>
                      <a:pt x="650" y="0"/>
                    </a:cubicBezTo>
                    <a:close/>
                  </a:path>
                </a:pathLst>
              </a:custGeom>
              <a:solidFill>
                <a:srgbClr val="2460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87" name="Editable vector path"/>
              <p:cNvSpPr/>
              <p:nvPr/>
            </p:nvSpPr>
            <p:spPr>
              <a:xfrm>
                <a:off x="690874" y="4999236"/>
                <a:ext cx="370930" cy="203699"/>
              </a:xfrm>
              <a:custGeom>
                <a:avLst/>
                <a:gdLst/>
                <a:ahLst/>
                <a:cxnLst/>
                <a:rect l="0" t="0" r="r" b="b"/>
                <a:pathLst>
                  <a:path w="1000" h="1000" stroke="0">
                    <a:moveTo>
                      <a:pt x="0" y="0"/>
                    </a:moveTo>
                    <a:lnTo>
                      <a:pt x="1000" y="0"/>
                    </a:lnTo>
                    <a:lnTo>
                      <a:pt x="970" y="1000"/>
                    </a:lnTo>
                    <a:lnTo>
                      <a:pt x="540" y="1000"/>
                    </a:lnTo>
                    <a:lnTo>
                      <a:pt x="480" y="330"/>
                    </a:lnTo>
                    <a:lnTo>
                      <a:pt x="390" y="1000"/>
                    </a:lnTo>
                    <a:lnTo>
                      <a:pt x="0" y="1000"/>
                    </a:lnTo>
                    <a:close/>
                  </a:path>
                </a:pathLst>
              </a:custGeom>
              <a:solidFill>
                <a:srgbClr val="274D6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88" name="Editable vector path"/>
              <p:cNvSpPr/>
              <p:nvPr/>
            </p:nvSpPr>
            <p:spPr>
              <a:xfrm>
                <a:off x="698148" y="4679138"/>
                <a:ext cx="356383" cy="417098"/>
              </a:xfrm>
              <a:custGeom>
                <a:avLst/>
                <a:gdLst/>
                <a:ahLst/>
                <a:cxnLst/>
                <a:rect l="0" t="0" r="r" b="b"/>
                <a:pathLst>
                  <a:path w="1000" h="1000" stroke="0">
                    <a:moveTo>
                      <a:pt x="190" y="0"/>
                    </a:moveTo>
                    <a:lnTo>
                      <a:pt x="750" y="0"/>
                    </a:lnTo>
                    <a:cubicBezTo>
                      <a:pt x="950" y="200"/>
                      <a:pt x="990" y="700"/>
                      <a:pt x="950" y="1000"/>
                    </a:cubicBezTo>
                    <a:lnTo>
                      <a:pt x="30" y="1000"/>
                    </a:lnTo>
                    <a:cubicBezTo>
                      <a:pt x="0" y="700"/>
                      <a:pt x="0" y="300"/>
                      <a:pt x="190" y="0"/>
                    </a:cubicBezTo>
                    <a:close/>
                  </a:path>
                </a:pathLst>
              </a:custGeom>
              <a:solidFill>
                <a:srgbClr val="3B83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089" name="Editable connector"/>
              <p:cNvCxnSpPr/>
              <p:nvPr/>
            </p:nvCxnSpPr>
            <p:spPr>
              <a:xfrm flipH="1">
                <a:off x="850883" y="4717938"/>
                <a:ext cx="14547" cy="358898"/>
              </a:xfrm>
              <a:prstGeom prst="line">
                <a:avLst/>
              </a:prstGeom>
              <a:ln w="6985" cap="rnd">
                <a:solidFill>
                  <a:srgbClr val="24608E"/>
                </a:solidFill>
              </a:ln>
            </p:spPr>
            <p:style>
              <a:lnRef idx="2">
                <a:schemeClr val="accent1"/>
              </a:lnRef>
              <a:fillRef idx="0">
                <a:schemeClr val="accent1"/>
              </a:fillRef>
              <a:effectRef idx="0">
                <a:schemeClr val="accent1"/>
              </a:effectRef>
              <a:fontRef idx="minor">
                <a:schemeClr val="tx1"/>
              </a:fontRef>
            </p:style>
          </p:cxnSp>
          <p:cxnSp>
            <p:nvCxnSpPr>
              <p:cNvPr id="10090" name="Editable connector"/>
              <p:cNvCxnSpPr/>
              <p:nvPr/>
            </p:nvCxnSpPr>
            <p:spPr>
              <a:xfrm flipH="1">
                <a:off x="727240" y="4892537"/>
                <a:ext cx="14546" cy="145499"/>
              </a:xfrm>
              <a:prstGeom prst="line">
                <a:avLst/>
              </a:prstGeom>
              <a:ln w="7620" cap="rnd">
                <a:solidFill>
                  <a:srgbClr val="5A9FC4"/>
                </a:solidFill>
              </a:ln>
            </p:spPr>
            <p:style>
              <a:lnRef idx="2">
                <a:schemeClr val="accent1"/>
              </a:lnRef>
              <a:fillRef idx="0">
                <a:schemeClr val="accent1"/>
              </a:fillRef>
              <a:effectRef idx="0">
                <a:schemeClr val="accent1"/>
              </a:effectRef>
              <a:fontRef idx="minor">
                <a:schemeClr val="tx1"/>
              </a:fontRef>
            </p:style>
          </p:cxnSp>
          <p:sp>
            <p:nvSpPr>
              <p:cNvPr id="10091" name="Editable vector path"/>
              <p:cNvSpPr/>
              <p:nvPr/>
            </p:nvSpPr>
            <p:spPr>
              <a:xfrm>
                <a:off x="799971" y="4572438"/>
                <a:ext cx="145462" cy="184299"/>
              </a:xfrm>
              <a:custGeom>
                <a:avLst/>
                <a:gdLst/>
                <a:ahLst/>
                <a:cxnLst/>
                <a:rect l="0" t="0" r="r" b="b"/>
                <a:pathLst>
                  <a:path w="1000" h="1000" stroke="0">
                    <a:moveTo>
                      <a:pt x="0" y="0"/>
                    </a:moveTo>
                    <a:lnTo>
                      <a:pt x="880" y="0"/>
                    </a:lnTo>
                    <a:lnTo>
                      <a:pt x="1000" y="850"/>
                    </a:lnTo>
                    <a:lnTo>
                      <a:pt x="520" y="1000"/>
                    </a:lnTo>
                    <a:lnTo>
                      <a:pt x="0" y="700"/>
                    </a:lnTo>
                    <a:close/>
                  </a:path>
                </a:pathLst>
              </a:custGeom>
              <a:solidFill>
                <a:srgbClr val="C78E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2" name="Editable vector path"/>
              <p:cNvSpPr/>
              <p:nvPr/>
            </p:nvSpPr>
            <p:spPr>
              <a:xfrm>
                <a:off x="756333" y="4349339"/>
                <a:ext cx="232740" cy="310398"/>
              </a:xfrm>
              <a:custGeom>
                <a:avLst/>
                <a:gdLst/>
                <a:ahLst/>
                <a:cxnLst/>
                <a:rect l="0" t="0" r="r" b="b"/>
                <a:pathLst>
                  <a:path w="1000" h="1000" stroke="0">
                    <a:moveTo>
                      <a:pt x="160" y="0"/>
                    </a:moveTo>
                    <a:cubicBezTo>
                      <a:pt x="510" y="-60"/>
                      <a:pt x="950" y="100"/>
                      <a:pt x="940" y="410"/>
                    </a:cubicBezTo>
                    <a:lnTo>
                      <a:pt x="1000" y="560"/>
                    </a:lnTo>
                    <a:lnTo>
                      <a:pt x="900" y="615"/>
                    </a:lnTo>
                    <a:cubicBezTo>
                      <a:pt x="850" y="850"/>
                      <a:pt x="720" y="1000"/>
                      <a:pt x="450" y="980"/>
                    </a:cubicBezTo>
                    <a:cubicBezTo>
                      <a:pt x="180" y="950"/>
                      <a:pt x="0" y="620"/>
                      <a:pt x="0" y="350"/>
                    </a:cubicBezTo>
                    <a:cubicBezTo>
                      <a:pt x="0" y="140"/>
                      <a:pt x="45" y="40"/>
                      <a:pt x="160" y="0"/>
                    </a:cubicBezTo>
                    <a:close/>
                  </a:path>
                </a:pathLst>
              </a:cu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3" name="Ellipse"/>
              <p:cNvSpPr/>
              <p:nvPr/>
            </p:nvSpPr>
            <p:spPr>
              <a:xfrm>
                <a:off x="719967" y="4485139"/>
                <a:ext cx="72731" cy="96999"/>
              </a:xfrm>
              <a:prstGeom prst="ellipse">
                <a:avLst/>
              </a:pr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4" name="Editable vector path"/>
              <p:cNvSpPr/>
              <p:nvPr/>
            </p:nvSpPr>
            <p:spPr>
              <a:xfrm>
                <a:off x="734513" y="4334790"/>
                <a:ext cx="232740" cy="184299"/>
              </a:xfrm>
              <a:custGeom>
                <a:avLst/>
                <a:gdLst/>
                <a:ahLst/>
                <a:cxnLst/>
                <a:rect l="0" t="0" r="r" b="b"/>
                <a:pathLst>
                  <a:path w="1000" h="1000" stroke="0">
                    <a:moveTo>
                      <a:pt x="100" y="980"/>
                    </a:moveTo>
                    <a:cubicBezTo>
                      <a:pt x="-30" y="300"/>
                      <a:pt x="140" y="0"/>
                      <a:pt x="600" y="0"/>
                    </a:cubicBezTo>
                    <a:cubicBezTo>
                      <a:pt x="850" y="0"/>
                      <a:pt x="1000" y="180"/>
                      <a:pt x="1000" y="430"/>
                    </a:cubicBezTo>
                    <a:lnTo>
                      <a:pt x="280" y="380"/>
                    </a:lnTo>
                    <a:lnTo>
                      <a:pt x="220" y="750"/>
                    </a:lnTo>
                    <a:close/>
                  </a:path>
                </a:pathLst>
              </a:custGeom>
              <a:solidFill>
                <a:srgbClr val="354A4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5" name="Editable vector path"/>
              <p:cNvSpPr/>
              <p:nvPr/>
            </p:nvSpPr>
            <p:spPr>
              <a:xfrm>
                <a:off x="690874" y="4242640"/>
                <a:ext cx="320018" cy="198849"/>
              </a:xfrm>
              <a:custGeom>
                <a:avLst/>
                <a:gdLst/>
                <a:ahLst/>
                <a:cxnLst/>
                <a:rect l="0" t="0" r="r" b="b"/>
                <a:pathLst>
                  <a:path w="1000" h="1000" stroke="0">
                    <a:moveTo>
                      <a:pt x="0" y="1000"/>
                    </a:moveTo>
                    <a:lnTo>
                      <a:pt x="140" y="230"/>
                    </a:lnTo>
                    <a:cubicBezTo>
                      <a:pt x="170" y="-100"/>
                      <a:pt x="780" y="-60"/>
                      <a:pt x="860" y="240"/>
                    </a:cubicBezTo>
                    <a:lnTo>
                      <a:pt x="1000" y="1000"/>
                    </a:lnTo>
                    <a:close/>
                  </a:path>
                </a:pathLst>
              </a:custGeom>
              <a:solidFill>
                <a:srgbClr val="E9BD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6" name="Editable vector path"/>
              <p:cNvSpPr/>
              <p:nvPr/>
            </p:nvSpPr>
            <p:spPr>
              <a:xfrm>
                <a:off x="727240" y="4259130"/>
                <a:ext cx="196374" cy="155199"/>
              </a:xfrm>
              <a:custGeom>
                <a:avLst/>
                <a:gdLst/>
                <a:ahLst/>
                <a:cxnLst/>
                <a:rect l="0" t="0" r="r" b="b"/>
                <a:pathLst>
                  <a:path w="1000" h="1000" stroke="0">
                    <a:moveTo>
                      <a:pt x="0" y="1000"/>
                    </a:moveTo>
                    <a:lnTo>
                      <a:pt x="120" y="80"/>
                    </a:lnTo>
                    <a:cubicBezTo>
                      <a:pt x="330" y="-40"/>
                      <a:pt x="660" y="0"/>
                      <a:pt x="840" y="150"/>
                    </a:cubicBezTo>
                    <a:lnTo>
                      <a:pt x="1000" y="1000"/>
                    </a:lnTo>
                    <a:close/>
                  </a:path>
                </a:pathLst>
              </a:custGeom>
              <a:solidFill>
                <a:srgbClr val="EFCB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7" name="Editable vector path"/>
              <p:cNvSpPr/>
              <p:nvPr/>
            </p:nvSpPr>
            <p:spPr>
              <a:xfrm>
                <a:off x="690874" y="4388139"/>
                <a:ext cx="320018" cy="48499"/>
              </a:xfrm>
              <a:custGeom>
                <a:avLst/>
                <a:gdLst/>
                <a:ahLst/>
                <a:cxnLst/>
                <a:rect l="0" t="0" r="r" b="b"/>
                <a:pathLst>
                  <a:path w="1000" h="1000" stroke="0">
                    <a:moveTo>
                      <a:pt x="0" y="0"/>
                    </a:moveTo>
                    <a:lnTo>
                      <a:pt x="1000" y="0"/>
                    </a:lnTo>
                    <a:lnTo>
                      <a:pt x="1000" y="1000"/>
                    </a:lnTo>
                    <a:lnTo>
                      <a:pt x="0" y="1000"/>
                    </a:lnTo>
                    <a:close/>
                  </a:path>
                </a:pathLst>
              </a:custGeom>
              <a:solidFill>
                <a:srgbClr val="BA8A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8" name="Ellipse"/>
              <p:cNvSpPr/>
              <p:nvPr/>
            </p:nvSpPr>
            <p:spPr>
              <a:xfrm>
                <a:off x="581777" y="4397839"/>
                <a:ext cx="530939" cy="77599"/>
              </a:xfrm>
              <a:prstGeom prst="ellipse">
                <a:avLst/>
              </a:prstGeom>
              <a:solidFill>
                <a:srgbClr val="E9BD64"/>
              </a:solidFill>
              <a:ln w="5715">
                <a:solidFill>
                  <a:srgbClr val="BA8A3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099" name="Ellipse"/>
              <p:cNvSpPr/>
              <p:nvPr/>
            </p:nvSpPr>
            <p:spPr>
              <a:xfrm>
                <a:off x="909069" y="4491929"/>
                <a:ext cx="23274" cy="17459"/>
              </a:xfrm>
              <a:prstGeom prst="ellipse">
                <a:avLst/>
              </a:prstGeom>
              <a:solidFill>
                <a:srgbClr val="3547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00" name="Editable connector"/>
              <p:cNvCxnSpPr/>
              <p:nvPr/>
            </p:nvCxnSpPr>
            <p:spPr>
              <a:xfrm flipV="1">
                <a:off x="899613" y="4473499"/>
                <a:ext cx="36366" cy="4850"/>
              </a:xfrm>
              <a:prstGeom prst="line">
                <a:avLst/>
              </a:prstGeom>
              <a:ln w="7620" cap="rnd">
                <a:solidFill>
                  <a:srgbClr val="C78E63"/>
                </a:solidFill>
              </a:ln>
            </p:spPr>
            <p:style>
              <a:lnRef idx="2">
                <a:schemeClr val="accent1"/>
              </a:lnRef>
              <a:fillRef idx="0">
                <a:schemeClr val="accent1"/>
              </a:fillRef>
              <a:effectRef idx="0">
                <a:schemeClr val="accent1"/>
              </a:effectRef>
              <a:fontRef idx="minor">
                <a:schemeClr val="tx1"/>
              </a:fontRef>
            </p:style>
          </p:cxnSp>
          <p:grpSp>
            <p:nvGrpSpPr>
              <p:cNvPr id="10101" name="Connector route"/>
              <p:cNvGrpSpPr/>
              <p:nvPr/>
            </p:nvGrpSpPr>
            <p:grpSpPr>
              <a:xfrm>
                <a:off x="949071" y="4517149"/>
                <a:ext cx="34911" cy="31040"/>
                <a:chOff x="949071" y="4517149"/>
                <a:chExt cx="34911" cy="31040"/>
              </a:xfrm>
            </p:grpSpPr>
            <p:cxnSp>
              <p:nvCxnSpPr>
                <p:cNvPr id="10102" name="Connector route / segment 1"/>
                <p:cNvCxnSpPr/>
                <p:nvPr/>
              </p:nvCxnSpPr>
              <p:spPr>
                <a:xfrm>
                  <a:off x="956344" y="4517149"/>
                  <a:ext cx="27638" cy="24250"/>
                </a:xfrm>
                <a:prstGeom prst="line">
                  <a:avLst/>
                </a:prstGeom>
                <a:ln w="6350" cap="rnd">
                  <a:solidFill>
                    <a:srgbClr val="C78E63"/>
                  </a:solidFill>
                </a:ln>
              </p:spPr>
              <p:style>
                <a:lnRef idx="2">
                  <a:schemeClr val="accent1"/>
                </a:lnRef>
                <a:fillRef idx="0">
                  <a:schemeClr val="accent1"/>
                </a:fillRef>
                <a:effectRef idx="0">
                  <a:schemeClr val="accent1"/>
                </a:effectRef>
                <a:fontRef idx="minor">
                  <a:schemeClr val="tx1"/>
                </a:fontRef>
              </p:style>
            </p:cxnSp>
            <p:cxnSp>
              <p:nvCxnSpPr>
                <p:cNvPr id="10103" name="Connector route / segment 2"/>
                <p:cNvCxnSpPr/>
                <p:nvPr/>
              </p:nvCxnSpPr>
              <p:spPr>
                <a:xfrm flipH="1">
                  <a:off x="949071" y="4541399"/>
                  <a:ext cx="34911" cy="6790"/>
                </a:xfrm>
                <a:prstGeom prst="line">
                  <a:avLst/>
                </a:prstGeom>
                <a:ln w="6350" cap="rnd">
                  <a:solidFill>
                    <a:srgbClr val="C78E63"/>
                  </a:solidFill>
                </a:ln>
              </p:spPr>
              <p:style>
                <a:lnRef idx="2">
                  <a:schemeClr val="accent1"/>
                </a:lnRef>
                <a:fillRef idx="0">
                  <a:schemeClr val="accent1"/>
                </a:fillRef>
                <a:effectRef idx="0">
                  <a:schemeClr val="accent1"/>
                </a:effectRef>
                <a:fontRef idx="minor">
                  <a:schemeClr val="tx1"/>
                </a:fontRef>
              </p:style>
            </p:cxnSp>
          </p:grpSp>
          <p:sp>
            <p:nvSpPr>
              <p:cNvPr id="10104" name="Editable vector path"/>
              <p:cNvSpPr/>
              <p:nvPr/>
            </p:nvSpPr>
            <p:spPr>
              <a:xfrm>
                <a:off x="879976" y="4577288"/>
                <a:ext cx="69094" cy="24249"/>
              </a:xfrm>
              <a:custGeom>
                <a:avLst/>
                <a:gdLst/>
                <a:ahLst/>
                <a:cxnLst/>
                <a:rect l="0" t="0" r="r" b="b"/>
                <a:pathLst>
                  <a:path w="1000" h="1000" fill="none">
                    <a:moveTo>
                      <a:pt x="0" y="0"/>
                    </a:moveTo>
                    <a:cubicBezTo>
                      <a:pt x="300" y="900"/>
                      <a:pt x="710" y="950"/>
                      <a:pt x="1000" y="0"/>
                    </a:cubicBezTo>
                  </a:path>
                </a:pathLst>
              </a:custGeom>
              <a:noFill/>
              <a:ln w="6985">
                <a:solidFill>
                  <a:srgbClr val="C78E6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05" name="Editable polygon"/>
              <p:cNvSpPr/>
              <p:nvPr/>
            </p:nvSpPr>
            <p:spPr>
              <a:xfrm>
                <a:off x="749060" y="4679138"/>
                <a:ext cx="109097" cy="96999"/>
              </a:xfrm>
              <a:custGeom>
                <a:avLst/>
                <a:gdLst/>
                <a:ahLst/>
                <a:cxnLst/>
                <a:rect l="0" t="0" r="r" b="b"/>
                <a:pathLst>
                  <a:path w="1000" h="1000" stroke="0">
                    <a:moveTo>
                      <a:pt x="400" y="0"/>
                    </a:moveTo>
                    <a:lnTo>
                      <a:pt x="1000" y="700"/>
                    </a:lnTo>
                    <a:lnTo>
                      <a:pt x="467" y="1000"/>
                    </a:lnTo>
                    <a:lnTo>
                      <a:pt x="0" y="200"/>
                    </a:lnTo>
                    <a:close/>
                  </a:path>
                </a:pathLst>
              </a:custGeom>
              <a:solidFill>
                <a:srgbClr val="5A9F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06" name="Editable polygon"/>
              <p:cNvSpPr/>
              <p:nvPr/>
            </p:nvSpPr>
            <p:spPr>
              <a:xfrm>
                <a:off x="865430" y="4679138"/>
                <a:ext cx="116370" cy="87299"/>
              </a:xfrm>
              <a:custGeom>
                <a:avLst/>
                <a:gdLst/>
                <a:ahLst/>
                <a:cxnLst/>
                <a:rect l="0" t="0" r="r" b="b"/>
                <a:pathLst>
                  <a:path w="1000" h="1000" stroke="0">
                    <a:moveTo>
                      <a:pt x="562" y="0"/>
                    </a:moveTo>
                    <a:lnTo>
                      <a:pt x="0" y="778"/>
                    </a:lnTo>
                    <a:lnTo>
                      <a:pt x="625" y="1000"/>
                    </a:lnTo>
                    <a:lnTo>
                      <a:pt x="1000" y="333"/>
                    </a:lnTo>
                    <a:close/>
                  </a:path>
                </a:pathLst>
              </a:custGeom>
              <a:solidFill>
                <a:srgbClr val="5A9F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07" name="Editable polygon"/>
              <p:cNvSpPr/>
              <p:nvPr/>
            </p:nvSpPr>
            <p:spPr>
              <a:xfrm>
                <a:off x="785425" y="4727638"/>
                <a:ext cx="400022" cy="349198"/>
              </a:xfrm>
              <a:custGeom>
                <a:avLst/>
                <a:gdLst/>
                <a:ahLst/>
                <a:cxnLst/>
                <a:rect l="0" t="0" r="r" b="b"/>
                <a:pathLst>
                  <a:path w="1000" h="1000" stroke="0">
                    <a:moveTo>
                      <a:pt x="145" y="306"/>
                    </a:moveTo>
                    <a:lnTo>
                      <a:pt x="1000" y="0"/>
                    </a:lnTo>
                    <a:lnTo>
                      <a:pt x="855" y="750"/>
                    </a:lnTo>
                    <a:lnTo>
                      <a:pt x="0" y="1000"/>
                    </a:lnTo>
                    <a:close/>
                  </a:path>
                </a:pathLst>
              </a:custGeom>
              <a:solidFill>
                <a:srgbClr val="213E5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08" name="Editable polygon"/>
              <p:cNvSpPr/>
              <p:nvPr/>
            </p:nvSpPr>
            <p:spPr>
              <a:xfrm>
                <a:off x="818154" y="4756738"/>
                <a:ext cx="341837" cy="281298"/>
              </a:xfrm>
              <a:custGeom>
                <a:avLst/>
                <a:gdLst/>
                <a:ahLst/>
                <a:cxnLst/>
                <a:rect l="0" t="0" r="r" b="b"/>
                <a:pathLst>
                  <a:path w="1000" h="1000" stroke="0">
                    <a:moveTo>
                      <a:pt x="138" y="328"/>
                    </a:moveTo>
                    <a:lnTo>
                      <a:pt x="1000" y="0"/>
                    </a:lnTo>
                    <a:lnTo>
                      <a:pt x="862" y="707"/>
                    </a:lnTo>
                    <a:lnTo>
                      <a:pt x="0" y="1000"/>
                    </a:lnTo>
                    <a:close/>
                  </a:path>
                </a:pathLst>
              </a:custGeom>
              <a:solidFill>
                <a:srgbClr val="CBDD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09" name="Editable connector"/>
              <p:cNvCxnSpPr/>
              <p:nvPr/>
            </p:nvCxnSpPr>
            <p:spPr>
              <a:xfrm flipV="1">
                <a:off x="879976" y="4811057"/>
                <a:ext cx="218194" cy="67900"/>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cxnSp>
            <p:nvCxnSpPr>
              <p:cNvPr id="10110" name="Editable connector"/>
              <p:cNvCxnSpPr/>
              <p:nvPr/>
            </p:nvCxnSpPr>
            <p:spPr>
              <a:xfrm flipV="1">
                <a:off x="867612" y="4856647"/>
                <a:ext cx="218194" cy="67900"/>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cxnSp>
            <p:nvCxnSpPr>
              <p:cNvPr id="10111" name="Editable connector"/>
              <p:cNvCxnSpPr/>
              <p:nvPr/>
            </p:nvCxnSpPr>
            <p:spPr>
              <a:xfrm flipV="1">
                <a:off x="855247" y="4902237"/>
                <a:ext cx="218194" cy="67900"/>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sp>
            <p:nvSpPr>
              <p:cNvPr id="10112" name="Editable vector path"/>
              <p:cNvSpPr/>
              <p:nvPr/>
            </p:nvSpPr>
            <p:spPr>
              <a:xfrm>
                <a:off x="592687" y="4863437"/>
                <a:ext cx="392749" cy="198849"/>
              </a:xfrm>
              <a:custGeom>
                <a:avLst/>
                <a:gdLst/>
                <a:ahLst/>
                <a:cxnLst/>
                <a:rect l="0" t="0" r="r" b="b"/>
                <a:pathLst>
                  <a:path w="1000" h="1000" stroke="0">
                    <a:moveTo>
                      <a:pt x="0" y="0"/>
                    </a:moveTo>
                    <a:lnTo>
                      <a:pt x="220" y="100"/>
                    </a:lnTo>
                    <a:lnTo>
                      <a:pt x="355" y="505"/>
                    </a:lnTo>
                    <a:lnTo>
                      <a:pt x="850" y="555"/>
                    </a:lnTo>
                    <a:lnTo>
                      <a:pt x="1000" y="710"/>
                    </a:lnTo>
                    <a:lnTo>
                      <a:pt x="850" y="935"/>
                    </a:lnTo>
                    <a:lnTo>
                      <a:pt x="290" y="1000"/>
                    </a:lnTo>
                    <a:cubicBezTo>
                      <a:pt x="95" y="935"/>
                      <a:pt x="50" y="520"/>
                      <a:pt x="0" y="0"/>
                    </a:cubicBezTo>
                    <a:close/>
                  </a:path>
                </a:pathLst>
              </a:cu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13" name="Editable vector path"/>
              <p:cNvSpPr/>
              <p:nvPr/>
            </p:nvSpPr>
            <p:spPr>
              <a:xfrm>
                <a:off x="581777" y="4747038"/>
                <a:ext cx="196374" cy="174599"/>
              </a:xfrm>
              <a:custGeom>
                <a:avLst/>
                <a:gdLst/>
                <a:ahLst/>
                <a:cxnLst/>
                <a:rect l="0" t="0" r="r" b="b"/>
                <a:pathLst>
                  <a:path w="1000" h="1000" stroke="0">
                    <a:moveTo>
                      <a:pt x="320" y="0"/>
                    </a:moveTo>
                    <a:cubicBezTo>
                      <a:pt x="650" y="10"/>
                      <a:pt x="1000" y="290"/>
                      <a:pt x="1000" y="700"/>
                    </a:cubicBezTo>
                    <a:lnTo>
                      <a:pt x="530" y="1000"/>
                    </a:lnTo>
                    <a:lnTo>
                      <a:pt x="0" y="790"/>
                    </a:lnTo>
                    <a:cubicBezTo>
                      <a:pt x="0" y="390"/>
                      <a:pt x="95" y="50"/>
                      <a:pt x="320" y="0"/>
                    </a:cubicBezTo>
                    <a:close/>
                  </a:path>
                </a:pathLst>
              </a:custGeom>
              <a:solidFill>
                <a:srgbClr val="3B83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14" name="Ellipse"/>
              <p:cNvSpPr/>
              <p:nvPr/>
            </p:nvSpPr>
            <p:spPr>
              <a:xfrm>
                <a:off x="1116353" y="4830457"/>
                <a:ext cx="63276" cy="87299"/>
              </a:xfrm>
              <a:prstGeom prst="ellipse">
                <a:avLst/>
              </a:pr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15" name="Editable connector"/>
              <p:cNvCxnSpPr/>
              <p:nvPr/>
            </p:nvCxnSpPr>
            <p:spPr>
              <a:xfrm>
                <a:off x="1134536" y="4867317"/>
                <a:ext cx="7273" cy="19400"/>
              </a:xfrm>
              <a:prstGeom prst="line">
                <a:avLst/>
              </a:prstGeom>
              <a:ln w="5080" cap="rnd">
                <a:solidFill>
                  <a:srgbClr val="C78E63"/>
                </a:solidFill>
              </a:ln>
            </p:spPr>
            <p:style>
              <a:lnRef idx="2">
                <a:schemeClr val="accent1"/>
              </a:lnRef>
              <a:fillRef idx="0">
                <a:schemeClr val="accent1"/>
              </a:fillRef>
              <a:effectRef idx="0">
                <a:schemeClr val="accent1"/>
              </a:effectRef>
              <a:fontRef idx="minor">
                <a:schemeClr val="tx1"/>
              </a:fontRef>
            </p:style>
          </p:cxnSp>
          <p:cxnSp>
            <p:nvCxnSpPr>
              <p:cNvPr id="10116" name="Editable connector"/>
              <p:cNvCxnSpPr/>
              <p:nvPr/>
            </p:nvCxnSpPr>
            <p:spPr>
              <a:xfrm>
                <a:off x="1143264" y="4867317"/>
                <a:ext cx="7273" cy="19400"/>
              </a:xfrm>
              <a:prstGeom prst="line">
                <a:avLst/>
              </a:prstGeom>
              <a:ln w="5080" cap="rnd">
                <a:solidFill>
                  <a:srgbClr val="C78E63"/>
                </a:solidFill>
              </a:ln>
            </p:spPr>
            <p:style>
              <a:lnRef idx="2">
                <a:schemeClr val="accent1"/>
              </a:lnRef>
              <a:fillRef idx="0">
                <a:schemeClr val="accent1"/>
              </a:fillRef>
              <a:effectRef idx="0">
                <a:schemeClr val="accent1"/>
              </a:effectRef>
              <a:fontRef idx="minor">
                <a:schemeClr val="tx1"/>
              </a:fontRef>
            </p:style>
          </p:cxnSp>
          <p:cxnSp>
            <p:nvCxnSpPr>
              <p:cNvPr id="10117" name="Editable connector"/>
              <p:cNvCxnSpPr/>
              <p:nvPr/>
            </p:nvCxnSpPr>
            <p:spPr>
              <a:xfrm>
                <a:off x="1151991" y="4867317"/>
                <a:ext cx="7273" cy="19400"/>
              </a:xfrm>
              <a:prstGeom prst="line">
                <a:avLst/>
              </a:prstGeom>
              <a:ln w="5080" cap="rnd">
                <a:solidFill>
                  <a:srgbClr val="C78E63"/>
                </a:solidFill>
              </a:ln>
            </p:spPr>
            <p:style>
              <a:lnRef idx="2">
                <a:schemeClr val="accent1"/>
              </a:lnRef>
              <a:fillRef idx="0">
                <a:schemeClr val="accent1"/>
              </a:fillRef>
              <a:effectRef idx="0">
                <a:schemeClr val="accent1"/>
              </a:effectRef>
              <a:fontRef idx="minor">
                <a:schemeClr val="tx1"/>
              </a:fontRef>
            </p:style>
          </p:cxnSp>
        </p:grpSp>
      </p:grpSp>
      <p:sp>
        <p:nvSpPr>
          <p:cNvPr id="10118" name="Quzhou T1 box"/>
          <p:cNvSpPr/>
          <p:nvPr/>
        </p:nvSpPr>
        <p:spPr>
          <a:xfrm>
            <a:off x="1874520" y="4544568"/>
            <a:ext cx="2926080" cy="1188720"/>
          </a:xfrm>
          <a:prstGeom prst="roundRect">
            <a:avLst>
              <a:gd name="adj" fmla="val 5000"/>
            </a:avLst>
          </a:prstGeom>
          <a:solidFill>
            <a:srgbClr val="FFFFFF"/>
          </a:solidFill>
          <a:ln w="8255">
            <a:solidFill>
              <a:srgbClr val="54A3D3"/>
            </a:solidFill>
          </a:ln>
        </p:spPr>
        <p:txBody>
          <a:bodyPr/>
          <a:lstStyle/>
          <a:p>
            <a:endParaRPr lang="en-US"/>
          </a:p>
        </p:txBody>
      </p:sp>
      <p:sp>
        <p:nvSpPr>
          <p:cNvPr id="10119" name="Quzhou T1 label"/>
          <p:cNvSpPr txBox="1"/>
          <p:nvPr/>
        </p:nvSpPr>
        <p:spPr>
          <a:xfrm>
            <a:off x="2002536" y="4636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57ABC"/>
                </a:solidFill>
                <a:latin typeface="Arial"/>
                <a:cs typeface="Arial"/>
              </a:rPr>
              <a:t xml:space="preserve">T1</a:t>
            </a:r>
          </a:p>
        </p:txBody>
      </p:sp>
      <p:grpSp>
        <p:nvGrpSpPr>
          <p:cNvPr id="10120" name="Farmer profile icon"/>
          <p:cNvGrpSpPr/>
          <p:nvPr/>
        </p:nvGrpSpPr>
        <p:grpSpPr>
          <a:xfrm>
            <a:off x="4334621" y="4654296"/>
            <a:ext cx="337963" cy="384048"/>
            <a:chOff x="1861901" y="4828032"/>
            <a:chExt cx="217261" cy="246887"/>
          </a:xfrm>
        </p:grpSpPr>
        <p:sp>
          <p:nvSpPr>
            <p:cNvPr id="10121" name="Ellipse"/>
            <p:cNvSpPr/>
            <p:nvPr/>
          </p:nvSpPr>
          <p:spPr>
            <a:xfrm>
              <a:off x="1923623" y="4828032"/>
              <a:ext cx="93817" cy="86410"/>
            </a:xfrm>
            <a:prstGeom prst="ellipse">
              <a:avLst/>
            </a:prstGeom>
            <a:solidFill>
              <a:srgbClr val="FFFFFF"/>
            </a:solidFill>
            <a:ln w="14604">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22" name="Editable vector path"/>
            <p:cNvSpPr/>
            <p:nvPr/>
          </p:nvSpPr>
          <p:spPr>
            <a:xfrm>
              <a:off x="1861901" y="4931724"/>
              <a:ext cx="217261" cy="143195"/>
            </a:xfrm>
            <a:custGeom>
              <a:avLst/>
              <a:gdLst/>
              <a:ahLst/>
              <a:cxnLst/>
              <a:rect l="0" t="0" r="r" b="b"/>
              <a:pathLst>
                <a:path w="1000" h="1000">
                  <a:moveTo>
                    <a:pt x="0" y="1000"/>
                  </a:moveTo>
                  <a:lnTo>
                    <a:pt x="0" y="590"/>
                  </a:lnTo>
                  <a:cubicBezTo>
                    <a:pt x="0" y="100"/>
                    <a:pt x="240" y="0"/>
                    <a:pt x="500" y="0"/>
                  </a:cubicBezTo>
                  <a:cubicBezTo>
                    <a:pt x="760" y="0"/>
                    <a:pt x="1000" y="100"/>
                    <a:pt x="1000" y="590"/>
                  </a:cubicBezTo>
                  <a:lnTo>
                    <a:pt x="1000" y="1000"/>
                  </a:lnTo>
                  <a:close/>
                </a:path>
              </a:pathLst>
            </a:custGeom>
            <a:solidFill>
              <a:srgbClr val="FFFFFF"/>
            </a:solidFill>
            <a:ln w="14604">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123" name="Quzhou T1 text"/>
          <p:cNvSpPr txBox="1"/>
          <p:nvPr/>
        </p:nvSpPr>
        <p:spPr>
          <a:xfrm>
            <a:off x="2002536" y="5056632"/>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Demographics, county; short farmer role</a:t>
            </a:r>
          </a:p>
        </p:txBody>
      </p:sp>
      <p:cxnSp>
        <p:nvCxnSpPr>
          <p:cNvPr id="10124" name="Quzhou T1 to T2"/>
          <p:cNvCxnSpPr/>
          <p:nvPr/>
        </p:nvCxnSpPr>
        <p:spPr>
          <a:xfrm>
            <a:off x="4818888" y="5138928"/>
            <a:ext cx="164592" cy="0"/>
          </a:xfrm>
          <a:prstGeom prst="straightConnector1">
            <a:avLst/>
          </a:prstGeom>
          <a:ln w="19050">
            <a:solidFill>
              <a:srgbClr val="157ABC"/>
            </a:solidFill>
            <a:tailEnd type="triangle" w="med" len="med"/>
          </a:ln>
        </p:spPr>
      </p:cxnSp>
      <p:sp>
        <p:nvSpPr>
          <p:cNvPr id="10125" name="Quzhou T2 box"/>
          <p:cNvSpPr/>
          <p:nvPr/>
        </p:nvSpPr>
        <p:spPr>
          <a:xfrm>
            <a:off x="5001768" y="4544568"/>
            <a:ext cx="2926080" cy="1188720"/>
          </a:xfrm>
          <a:prstGeom prst="roundRect">
            <a:avLst>
              <a:gd name="adj" fmla="val 5000"/>
            </a:avLst>
          </a:prstGeom>
          <a:solidFill>
            <a:srgbClr val="FFFFFF"/>
          </a:solidFill>
          <a:ln w="8255">
            <a:solidFill>
              <a:srgbClr val="54A3D3"/>
            </a:solidFill>
          </a:ln>
        </p:spPr>
        <p:txBody>
          <a:bodyPr/>
          <a:lstStyle/>
          <a:p>
            <a:endParaRPr lang="en-US"/>
          </a:p>
        </p:txBody>
      </p:sp>
      <p:sp>
        <p:nvSpPr>
          <p:cNvPr id="10126" name="Quzhou T2 label"/>
          <p:cNvSpPr txBox="1"/>
          <p:nvPr/>
        </p:nvSpPr>
        <p:spPr>
          <a:xfrm>
            <a:off x="5129784" y="4636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57ABC"/>
                </a:solidFill>
                <a:latin typeface="Arial"/>
                <a:cs typeface="Arial"/>
              </a:rPr>
              <a:t xml:space="preserve">T2</a:t>
            </a:r>
          </a:p>
        </p:txBody>
      </p:sp>
      <p:grpSp>
        <p:nvGrpSpPr>
          <p:cNvPr id="10127" name="Crop plant icon"/>
          <p:cNvGrpSpPr/>
          <p:nvPr/>
        </p:nvGrpSpPr>
        <p:grpSpPr>
          <a:xfrm>
            <a:off x="7373905" y="4654296"/>
            <a:ext cx="425927" cy="384048"/>
            <a:chOff x="3229660" y="4828397"/>
            <a:chExt cx="239939" cy="216347"/>
          </a:xfrm>
        </p:grpSpPr>
        <p:grpSp>
          <p:nvGrpSpPr>
            <p:cNvPr id="10128" name="Connector route"/>
            <p:cNvGrpSpPr/>
            <p:nvPr/>
          </p:nvGrpSpPr>
          <p:grpSpPr>
            <a:xfrm>
              <a:off x="3340851" y="4828397"/>
              <a:ext cx="40965" cy="209215"/>
              <a:chOff x="3340851" y="4828397"/>
              <a:chExt cx="40965" cy="209215"/>
            </a:xfrm>
          </p:grpSpPr>
          <p:cxnSp>
            <p:nvCxnSpPr>
              <p:cNvPr id="10129" name="Connector route / segment 1"/>
              <p:cNvCxnSpPr/>
              <p:nvPr/>
            </p:nvCxnSpPr>
            <p:spPr>
              <a:xfrm flipV="1">
                <a:off x="3340851" y="4913985"/>
                <a:ext cx="5853" cy="123627"/>
              </a:xfrm>
              <a:prstGeom prst="line">
                <a:avLst/>
              </a:prstGeom>
              <a:ln w="1778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30" name="Connector route / segment 2"/>
              <p:cNvCxnSpPr/>
              <p:nvPr/>
            </p:nvCxnSpPr>
            <p:spPr>
              <a:xfrm flipV="1">
                <a:off x="3346704" y="4828397"/>
                <a:ext cx="35112" cy="85588"/>
              </a:xfrm>
              <a:prstGeom prst="line">
                <a:avLst/>
              </a:prstGeom>
              <a:ln w="17780" cap="rnd">
                <a:solidFill>
                  <a:srgbClr val="157ABC"/>
                </a:solidFill>
              </a:ln>
            </p:spPr>
            <p:style>
              <a:lnRef idx="2">
                <a:schemeClr val="accent1"/>
              </a:lnRef>
              <a:fillRef idx="0">
                <a:schemeClr val="accent1"/>
              </a:fillRef>
              <a:effectRef idx="0">
                <a:schemeClr val="accent1"/>
              </a:effectRef>
              <a:fontRef idx="minor">
                <a:schemeClr val="tx1"/>
              </a:fontRef>
            </p:style>
          </p:cxnSp>
        </p:grpSp>
        <p:sp>
          <p:nvSpPr>
            <p:cNvPr id="10131" name="Editable vector path"/>
            <p:cNvSpPr/>
            <p:nvPr/>
          </p:nvSpPr>
          <p:spPr>
            <a:xfrm>
              <a:off x="3229660" y="4906853"/>
              <a:ext cx="114117" cy="71323"/>
            </a:xfrm>
            <a:custGeom>
              <a:avLst/>
              <a:gdLst/>
              <a:ahLst/>
              <a:cxnLst/>
              <a:rect l="0" t="0" r="r" b="b"/>
              <a:pathLst>
                <a:path w="1000" h="1000">
                  <a:moveTo>
                    <a:pt x="950" y="980"/>
                  </a:moveTo>
                  <a:cubicBezTo>
                    <a:pt x="200" y="940"/>
                    <a:pt x="0" y="330"/>
                    <a:pt x="0" y="0"/>
                  </a:cubicBezTo>
                  <a:cubicBezTo>
                    <a:pt x="660" y="60"/>
                    <a:pt x="1000" y="410"/>
                    <a:pt x="950" y="980"/>
                  </a:cubicBezTo>
                  <a:close/>
                </a:path>
              </a:pathLst>
            </a:custGeom>
            <a:solidFill>
              <a:srgbClr val="EFF8F0"/>
            </a:solidFill>
            <a:ln w="14604">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32" name="Editable vector path"/>
            <p:cNvSpPr/>
            <p:nvPr/>
          </p:nvSpPr>
          <p:spPr>
            <a:xfrm rot="6000000">
              <a:off x="3355482" y="4883078"/>
              <a:ext cx="114117" cy="73700"/>
            </a:xfrm>
            <a:custGeom>
              <a:avLst/>
              <a:gdLst/>
              <a:ahLst/>
              <a:cxnLst/>
              <a:rect l="0" t="0" r="r" b="b"/>
              <a:pathLst>
                <a:path w="1000" h="1000">
                  <a:moveTo>
                    <a:pt x="950" y="980"/>
                  </a:moveTo>
                  <a:cubicBezTo>
                    <a:pt x="200" y="940"/>
                    <a:pt x="0" y="330"/>
                    <a:pt x="0" y="0"/>
                  </a:cubicBezTo>
                  <a:cubicBezTo>
                    <a:pt x="660" y="60"/>
                    <a:pt x="1000" y="410"/>
                    <a:pt x="950" y="980"/>
                  </a:cubicBezTo>
                  <a:close/>
                </a:path>
              </a:pathLst>
            </a:custGeom>
            <a:solidFill>
              <a:srgbClr val="EFF8F0"/>
            </a:solidFill>
            <a:ln w="14604">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33" name="Editable vector path"/>
            <p:cNvSpPr/>
            <p:nvPr/>
          </p:nvSpPr>
          <p:spPr>
            <a:xfrm>
              <a:off x="3253069" y="4830775"/>
              <a:ext cx="102412" cy="71323"/>
            </a:xfrm>
            <a:custGeom>
              <a:avLst/>
              <a:gdLst/>
              <a:ahLst/>
              <a:cxnLst/>
              <a:rect l="0" t="0" r="r" b="b"/>
              <a:pathLst>
                <a:path w="1000" h="1000">
                  <a:moveTo>
                    <a:pt x="950" y="980"/>
                  </a:moveTo>
                  <a:cubicBezTo>
                    <a:pt x="200" y="940"/>
                    <a:pt x="0" y="330"/>
                    <a:pt x="0" y="0"/>
                  </a:cubicBezTo>
                  <a:cubicBezTo>
                    <a:pt x="660" y="60"/>
                    <a:pt x="1000" y="410"/>
                    <a:pt x="950" y="980"/>
                  </a:cubicBezTo>
                  <a:close/>
                </a:path>
              </a:pathLst>
            </a:custGeom>
            <a:solidFill>
              <a:srgbClr val="EFF8F0"/>
            </a:solidFill>
            <a:ln w="14604">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34" name="Editable connector"/>
            <p:cNvCxnSpPr/>
            <p:nvPr/>
          </p:nvCxnSpPr>
          <p:spPr>
            <a:xfrm>
              <a:off x="3241365" y="5044744"/>
              <a:ext cx="210677" cy="0"/>
            </a:xfrm>
            <a:prstGeom prst="line">
              <a:avLst/>
            </a:prstGeom>
            <a:ln w="12700" cap="rnd">
              <a:solidFill>
                <a:srgbClr val="157ABC"/>
              </a:solidFill>
            </a:ln>
          </p:spPr>
          <p:style>
            <a:lnRef idx="2">
              <a:schemeClr val="accent1"/>
            </a:lnRef>
            <a:fillRef idx="0">
              <a:schemeClr val="accent1"/>
            </a:fillRef>
            <a:effectRef idx="0">
              <a:schemeClr val="accent1"/>
            </a:effectRef>
            <a:fontRef idx="minor">
              <a:schemeClr val="tx1"/>
            </a:fontRef>
          </p:style>
        </p:cxnSp>
      </p:grpSp>
      <p:sp>
        <p:nvSpPr>
          <p:cNvPr id="10135" name="Quzhou T2 text"/>
          <p:cNvSpPr txBox="1"/>
          <p:nvPr/>
        </p:nvSpPr>
        <p:spPr>
          <a:xfrm>
            <a:off x="5129784" y="5056632"/>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T1 + farm size, reported crops, household</a:t>
            </a:r>
          </a:p>
        </p:txBody>
      </p:sp>
      <p:cxnSp>
        <p:nvCxnSpPr>
          <p:cNvPr id="10136" name="Quzhou T2 to T3"/>
          <p:cNvCxnSpPr/>
          <p:nvPr/>
        </p:nvCxnSpPr>
        <p:spPr>
          <a:xfrm>
            <a:off x="7946136" y="5138928"/>
            <a:ext cx="164592" cy="0"/>
          </a:xfrm>
          <a:prstGeom prst="straightConnector1">
            <a:avLst/>
          </a:prstGeom>
          <a:ln w="19050">
            <a:solidFill>
              <a:srgbClr val="157ABC"/>
            </a:solidFill>
            <a:tailEnd type="triangle" w="med" len="med"/>
          </a:ln>
        </p:spPr>
      </p:cxnSp>
      <p:sp>
        <p:nvSpPr>
          <p:cNvPr id="10137" name="Quzhou T3 box"/>
          <p:cNvSpPr/>
          <p:nvPr/>
        </p:nvSpPr>
        <p:spPr>
          <a:xfrm>
            <a:off x="8129016" y="4544568"/>
            <a:ext cx="2926080" cy="1188720"/>
          </a:xfrm>
          <a:prstGeom prst="roundRect">
            <a:avLst>
              <a:gd name="adj" fmla="val 5000"/>
            </a:avLst>
          </a:prstGeom>
          <a:solidFill>
            <a:srgbClr val="FFFFFF"/>
          </a:solidFill>
          <a:ln w="8255">
            <a:solidFill>
              <a:srgbClr val="54A3D3"/>
            </a:solidFill>
          </a:ln>
        </p:spPr>
        <p:txBody>
          <a:bodyPr/>
          <a:lstStyle/>
          <a:p>
            <a:endParaRPr lang="en-US"/>
          </a:p>
        </p:txBody>
      </p:sp>
      <p:sp>
        <p:nvSpPr>
          <p:cNvPr id="10138" name="Quzhou T3 label"/>
          <p:cNvSpPr txBox="1"/>
          <p:nvPr/>
        </p:nvSpPr>
        <p:spPr>
          <a:xfrm>
            <a:off x="8257032" y="4636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57ABC"/>
                </a:solidFill>
                <a:latin typeface="Arial"/>
                <a:cs typeface="Arial"/>
              </a:rPr>
              <a:t xml:space="preserve">T3</a:t>
            </a:r>
          </a:p>
        </p:txBody>
      </p:sp>
      <p:grpSp>
        <p:nvGrpSpPr>
          <p:cNvPr id="10139" name="Quzhou T3 scaffold"/>
          <p:cNvGrpSpPr/>
          <p:nvPr/>
        </p:nvGrpSpPr>
        <p:grpSpPr>
          <a:xfrm>
            <a:off x="10644692" y="4654296"/>
            <a:ext cx="282388" cy="384048"/>
            <a:chOff x="4553712" y="3845052"/>
            <a:chExt cx="228600" cy="310896"/>
          </a:xfrm>
        </p:grpSpPr>
        <p:sp>
          <p:nvSpPr>
            <p:cNvPr id="10140" name="Document sheet"/>
            <p:cNvSpPr/>
            <p:nvPr/>
          </p:nvSpPr>
          <p:spPr>
            <a:xfrm>
              <a:off x="4553712" y="3845052"/>
              <a:ext cx="228600" cy="310896"/>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41" name="Folded corner"/>
            <p:cNvSpPr/>
            <p:nvPr/>
          </p:nvSpPr>
          <p:spPr>
            <a:xfrm>
              <a:off x="4714874" y="3845052"/>
              <a:ext cx="67437" cy="77724"/>
            </a:xfrm>
            <a:custGeom>
              <a:avLst/>
              <a:gdLst/>
              <a:ahLst/>
              <a:cxnLst/>
              <a:rect l="0" t="0" r="r" b="b"/>
              <a:pathLst>
                <a:path w="1000" h="1000" fill="none">
                  <a:moveTo>
                    <a:pt x="0" y="0"/>
                  </a:moveTo>
                  <a:lnTo>
                    <a:pt x="0" y="1000"/>
                  </a:lnTo>
                  <a:lnTo>
                    <a:pt x="1000" y="1000"/>
                  </a:lnTo>
                </a:path>
              </a:pathLst>
            </a:custGeom>
            <a:noFill/>
            <a:ln w="12700">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42" name="Editable connector"/>
            <p:cNvCxnSpPr/>
            <p:nvPr/>
          </p:nvCxnSpPr>
          <p:spPr>
            <a:xfrm>
              <a:off x="4592574" y="3941429"/>
              <a:ext cx="100583"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43" name="Editable connector"/>
            <p:cNvCxnSpPr/>
            <p:nvPr/>
          </p:nvCxnSpPr>
          <p:spPr>
            <a:xfrm>
              <a:off x="4592574" y="3988064"/>
              <a:ext cx="146303"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44" name="Editable connector"/>
            <p:cNvCxnSpPr/>
            <p:nvPr/>
          </p:nvCxnSpPr>
          <p:spPr>
            <a:xfrm>
              <a:off x="4592574" y="4034698"/>
              <a:ext cx="146303"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45" name="Editable connector"/>
            <p:cNvCxnSpPr/>
            <p:nvPr/>
          </p:nvCxnSpPr>
          <p:spPr>
            <a:xfrm>
              <a:off x="4592574" y="4081332"/>
              <a:ext cx="102870"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grpSp>
      <p:sp>
        <p:nvSpPr>
          <p:cNvPr id="10146" name="Quzhou T3 text"/>
          <p:cNvSpPr txBox="1"/>
          <p:nvPr/>
        </p:nvSpPr>
        <p:spPr>
          <a:xfrm>
            <a:off x="8257032" y="5056632"/>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T2 + decision guide; no numbers</a:t>
            </a:r>
          </a:p>
        </p:txBody>
      </p:sp>
      <p:cxnSp>
        <p:nvCxnSpPr>
          <p:cNvPr id="10147" name="Quzhou T3 to T4"/>
          <p:cNvCxnSpPr/>
          <p:nvPr/>
        </p:nvCxnSpPr>
        <p:spPr>
          <a:xfrm>
            <a:off x="11073384" y="5138928"/>
            <a:ext cx="164592" cy="0"/>
          </a:xfrm>
          <a:prstGeom prst="straightConnector1">
            <a:avLst/>
          </a:prstGeom>
          <a:ln w="19050">
            <a:solidFill>
              <a:srgbClr val="157ABC"/>
            </a:solidFill>
            <a:tailEnd type="triangle" w="med" len="med"/>
          </a:ln>
        </p:spPr>
      </p:cxnSp>
      <p:sp>
        <p:nvSpPr>
          <p:cNvPr id="10148" name="Quzhou T4 box"/>
          <p:cNvSpPr/>
          <p:nvPr/>
        </p:nvSpPr>
        <p:spPr>
          <a:xfrm>
            <a:off x="11256264" y="4544568"/>
            <a:ext cx="2926080" cy="1188720"/>
          </a:xfrm>
          <a:prstGeom prst="roundRect">
            <a:avLst>
              <a:gd name="adj" fmla="val 5000"/>
            </a:avLst>
          </a:prstGeom>
          <a:solidFill>
            <a:srgbClr val="FFFFFF"/>
          </a:solidFill>
          <a:ln w="8255">
            <a:solidFill>
              <a:srgbClr val="54A3D3"/>
            </a:solidFill>
          </a:ln>
        </p:spPr>
        <p:txBody>
          <a:bodyPr/>
          <a:lstStyle/>
          <a:p>
            <a:endParaRPr lang="en-US"/>
          </a:p>
        </p:txBody>
      </p:sp>
      <p:sp>
        <p:nvSpPr>
          <p:cNvPr id="10149" name="Quzhou T4 label"/>
          <p:cNvSpPr txBox="1"/>
          <p:nvPr/>
        </p:nvSpPr>
        <p:spPr>
          <a:xfrm>
            <a:off x="11384280" y="4636008"/>
            <a:ext cx="548640" cy="365760"/>
          </a:xfrm>
          <a:prstGeom prst="rect">
            <a:avLst/>
          </a:prstGeom>
          <a:noFill/>
        </p:spPr>
        <p:txBody>
          <a:bodyPr wrap="square" lIns="0" tIns="0" rIns="0" bIns="0" anchor="t">
            <a:noAutofit/>
          </a:bodyPr>
          <a:lstStyle/>
          <a:p>
            <a:pPr algn="l">
              <a:lnSpc>
                <a:spcPct val="95000"/>
              </a:lnSpc>
            </a:pPr>
            <a:r>
              <a:rPr lang="en-US" sz="1900" b="1" i="0" dirty="0">
                <a:solidFill>
                  <a:srgbClr val="157ABC"/>
                </a:solidFill>
                <a:latin typeface="Arial"/>
                <a:cs typeface="Arial"/>
              </a:rPr>
              <a:t xml:space="preserve">T4</a:t>
            </a:r>
          </a:p>
        </p:txBody>
      </p:sp>
      <p:grpSp>
        <p:nvGrpSpPr>
          <p:cNvPr id="10150" name="Quzhou T4 farmer skill document"/>
          <p:cNvGrpSpPr/>
          <p:nvPr/>
        </p:nvGrpSpPr>
        <p:grpSpPr>
          <a:xfrm>
            <a:off x="13754290" y="4654296"/>
            <a:ext cx="300038" cy="384048"/>
            <a:chOff x="4553712" y="4786884"/>
            <a:chExt cx="228600" cy="292608"/>
          </a:xfrm>
        </p:grpSpPr>
        <p:sp>
          <p:nvSpPr>
            <p:cNvPr id="10151" name="Document sheet"/>
            <p:cNvSpPr/>
            <p:nvPr/>
          </p:nvSpPr>
          <p:spPr>
            <a:xfrm>
              <a:off x="4553712" y="4786884"/>
              <a:ext cx="228600" cy="292608"/>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52" name="Folded corner"/>
            <p:cNvSpPr/>
            <p:nvPr/>
          </p:nvSpPr>
          <p:spPr>
            <a:xfrm>
              <a:off x="4714874" y="4786884"/>
              <a:ext cx="67437" cy="73152"/>
            </a:xfrm>
            <a:custGeom>
              <a:avLst/>
              <a:gdLst/>
              <a:ahLst/>
              <a:cxnLst/>
              <a:rect l="0" t="0" r="r" b="b"/>
              <a:pathLst>
                <a:path w="1000" h="1000" fill="none">
                  <a:moveTo>
                    <a:pt x="0" y="0"/>
                  </a:moveTo>
                  <a:lnTo>
                    <a:pt x="0" y="1000"/>
                  </a:lnTo>
                  <a:lnTo>
                    <a:pt x="1000" y="1000"/>
                  </a:lnTo>
                </a:path>
              </a:pathLst>
            </a:custGeom>
            <a:noFill/>
            <a:ln w="12700">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53" name="Editable connector"/>
            <p:cNvCxnSpPr/>
            <p:nvPr/>
          </p:nvCxnSpPr>
          <p:spPr>
            <a:xfrm>
              <a:off x="4592574" y="4877592"/>
              <a:ext cx="100583"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54" name="Editable connector"/>
            <p:cNvCxnSpPr/>
            <p:nvPr/>
          </p:nvCxnSpPr>
          <p:spPr>
            <a:xfrm>
              <a:off x="4592574" y="4921483"/>
              <a:ext cx="146303"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55" name="Editable connector"/>
            <p:cNvCxnSpPr/>
            <p:nvPr/>
          </p:nvCxnSpPr>
          <p:spPr>
            <a:xfrm>
              <a:off x="4592574" y="4965374"/>
              <a:ext cx="146303"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156" name="Editable connector"/>
            <p:cNvCxnSpPr/>
            <p:nvPr/>
          </p:nvCxnSpPr>
          <p:spPr>
            <a:xfrm>
              <a:off x="4592574" y="5009266"/>
              <a:ext cx="102870"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grpSp>
      <p:sp>
        <p:nvSpPr>
          <p:cNvPr id="10157" name="Quzhou T4 text"/>
          <p:cNvSpPr txBox="1"/>
          <p:nvPr/>
        </p:nvSpPr>
        <p:spPr>
          <a:xfrm>
            <a:off x="11384280" y="5056632"/>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T3 + farmer skill: local practice norms</a:t>
            </a:r>
          </a:p>
        </p:txBody>
      </p:sp>
      <p:sp>
        <p:nvSpPr>
          <p:cNvPr id="10158" name="Quzhou note box"/>
          <p:cNvSpPr/>
          <p:nvPr/>
        </p:nvSpPr>
        <p:spPr>
          <a:xfrm>
            <a:off x="1874520" y="5833872"/>
            <a:ext cx="12307824" cy="329184"/>
          </a:xfrm>
          <a:prstGeom prst="roundRect">
            <a:avLst>
              <a:gd name="adj" fmla="val 4000"/>
            </a:avLst>
          </a:prstGeom>
          <a:solidFill>
            <a:srgbClr val="FFF7DB"/>
          </a:solidFill>
          <a:ln w="5080">
            <a:solidFill>
              <a:srgbClr val="D8AF46"/>
            </a:solidFill>
          </a:ln>
        </p:spPr>
        <p:txBody>
          <a:bodyPr/>
          <a:lstStyle/>
          <a:p>
            <a:endParaRPr lang="en-US"/>
          </a:p>
        </p:txBody>
      </p:sp>
      <p:sp>
        <p:nvSpPr>
          <p:cNvPr id="10159" name="Quzhou note"/>
          <p:cNvSpPr txBox="1"/>
          <p:nvPr/>
        </p:nvSpPr>
        <p:spPr>
          <a:xfrm>
            <a:off x="2011680" y="5861304"/>
            <a:ext cx="12033504" cy="292608"/>
          </a:xfrm>
          <a:prstGeom prst="rect">
            <a:avLst/>
          </a:prstGeom>
          <a:noFill/>
        </p:spPr>
        <p:txBody>
          <a:bodyPr wrap="square" lIns="0" tIns="0" rIns="0" bIns="0" anchor="t">
            <a:noAutofit/>
          </a:bodyPr>
          <a:lstStyle/>
          <a:p>
            <a:pPr algn="l">
              <a:lnSpc>
                <a:spcPct val="95000"/>
              </a:lnSpc>
            </a:pPr>
            <a:r>
              <a:rPr lang="en-US" sz="1600" b="0" i="1" dirty="0">
                <a:solidFill>
                  <a:srgbClr val="5C4A1A"/>
                </a:solidFill>
                <a:latin typeface="Arial"/>
                <a:cs typeface="Arial"/>
              </a:rPr>
              <a:t xml:space="preserve">The T4 farmer skill is prompt text, not an installed tool or memory.</a:t>
            </a:r>
          </a:p>
        </p:txBody>
      </p:sp>
      <p:sp>
        <p:nvSpPr>
          <p:cNvPr id="10160" name="Africa row"/>
          <p:cNvSpPr/>
          <p:nvPr/>
        </p:nvSpPr>
        <p:spPr>
          <a:xfrm>
            <a:off x="301752" y="6364224"/>
            <a:ext cx="14026896" cy="2212848"/>
          </a:xfrm>
          <a:prstGeom prst="roundRect">
            <a:avLst>
              <a:gd name="adj" fmla="val 3300"/>
            </a:avLst>
          </a:prstGeom>
          <a:solidFill>
            <a:srgbClr val="FFF4E9"/>
          </a:solidFill>
          <a:ln w="8255">
            <a:solidFill>
              <a:srgbClr val="E6AB80"/>
            </a:solidFill>
          </a:ln>
        </p:spPr>
        <p:txBody>
          <a:bodyPr/>
          <a:lstStyle/>
          <a:p>
            <a:endParaRPr lang="en-US"/>
          </a:p>
        </p:txBody>
      </p:sp>
      <p:sp>
        <p:nvSpPr>
          <p:cNvPr id="10161" name="Africa name"/>
          <p:cNvSpPr txBox="1"/>
          <p:nvPr/>
        </p:nvSpPr>
        <p:spPr>
          <a:xfrm>
            <a:off x="457200" y="6473952"/>
            <a:ext cx="1371600" cy="347472"/>
          </a:xfrm>
          <a:prstGeom prst="rect">
            <a:avLst/>
          </a:prstGeom>
          <a:noFill/>
        </p:spPr>
        <p:txBody>
          <a:bodyPr wrap="square" lIns="0" tIns="0" rIns="0" bIns="0" anchor="t">
            <a:noAutofit/>
          </a:bodyPr>
          <a:lstStyle/>
          <a:p>
            <a:pPr algn="l">
              <a:lnSpc>
                <a:spcPct val="95000"/>
              </a:lnSpc>
            </a:pPr>
            <a:r>
              <a:rPr lang="en-US" sz="1800" b="1" i="0" dirty="0">
                <a:solidFill>
                  <a:srgbClr val="CF6224"/>
                </a:solidFill>
                <a:latin typeface="Arial"/>
                <a:cs typeface="Arial"/>
              </a:rPr>
              <a:t xml:space="preserve">Africa</a:t>
            </a:r>
          </a:p>
        </p:txBody>
      </p:sp>
      <p:sp>
        <p:nvSpPr>
          <p:cNvPr id="10162" name="Africa unit"/>
          <p:cNvSpPr txBox="1"/>
          <p:nvPr/>
        </p:nvSpPr>
        <p:spPr>
          <a:xfrm>
            <a:off x="457200" y="6821424"/>
            <a:ext cx="1371600" cy="310896"/>
          </a:xfrm>
          <a:prstGeom prst="rect">
            <a:avLst/>
          </a:prstGeom>
          <a:noFill/>
        </p:spPr>
        <p:txBody>
          <a:bodyPr wrap="square" lIns="0" tIns="0" rIns="0" bIns="0" anchor="t">
            <a:noAutofit/>
          </a:bodyPr>
          <a:lstStyle/>
          <a:p>
            <a:pPr algn="l">
              <a:lnSpc>
                <a:spcPct val="95000"/>
              </a:lnSpc>
            </a:pPr>
            <a:r>
              <a:rPr lang="en-US" sz="1600" b="0" i="0" dirty="0">
                <a:solidFill>
                  <a:srgbClr val="CF6224"/>
                </a:solidFill>
                <a:latin typeface="Arial"/>
                <a:cs typeface="Arial"/>
              </a:rPr>
              <a:t xml:space="preserve">Plots</a:t>
            </a:r>
          </a:p>
        </p:txBody>
      </p:sp>
      <p:sp>
        <p:nvSpPr>
          <p:cNvPr id="10163" name="Africa sample"/>
          <p:cNvSpPr txBox="1"/>
          <p:nvPr/>
        </p:nvSpPr>
        <p:spPr>
          <a:xfrm>
            <a:off x="1874520" y="6492240"/>
            <a:ext cx="12307824" cy="310896"/>
          </a:xfrm>
          <a:prstGeom prst="rect">
            <a:avLst/>
          </a:prstGeom>
          <a:noFill/>
        </p:spPr>
        <p:txBody>
          <a:bodyPr wrap="square" lIns="0" tIns="0" rIns="0" bIns="0" anchor="t">
            <a:noAutofit/>
          </a:bodyPr>
          <a:lstStyle/>
          <a:p>
            <a:pPr algn="l">
              <a:lnSpc>
                <a:spcPct val="95000"/>
              </a:lnSpc>
            </a:pPr>
            <a:r>
              <a:rPr lang="en-US" sz="1600" b="1" i="0" dirty="0">
                <a:solidFill>
                  <a:srgbClr val="CF6224"/>
                </a:solidFill>
                <a:latin typeface="Arial"/>
                <a:cs typeface="Arial"/>
              </a:rPr>
              <a:t xml:space="preserve">280 plots:</a:t>
            </a:r>
            <a:r>
              <a:rPr lang="en-US" sz="1600" b="0" i="0" dirty="0">
                <a:solidFill>
                  <a:srgbClr val="123755"/>
                </a:solidFill>
                <a:latin typeface="Arial"/>
                <a:cs typeface="Arial"/>
              </a:rPr>
              <a:t xml:space="preserve"> Ethiopia </a:t>
            </a:r>
            <a:r>
              <a:rPr lang="en-US" sz="1600" b="1" i="0" dirty="0">
                <a:solidFill>
                  <a:srgbClr val="CF6224"/>
                </a:solidFill>
                <a:latin typeface="Arial"/>
                <a:cs typeface="Arial"/>
              </a:rPr>
              <a:t xml:space="preserve">70</a:t>
            </a:r>
            <a:r>
              <a:rPr lang="en-US" sz="1600" b="0" i="0" dirty="0">
                <a:solidFill>
                  <a:srgbClr val="123755"/>
                </a:solidFill>
                <a:latin typeface="Arial"/>
                <a:cs typeface="Arial"/>
              </a:rPr>
              <a:t xml:space="preserve"> (ESS 2015/16) · Malawi </a:t>
            </a:r>
            <a:r>
              <a:rPr lang="en-US" sz="1600" b="1" i="0" dirty="0">
                <a:solidFill>
                  <a:srgbClr val="CF6224"/>
                </a:solidFill>
                <a:latin typeface="Arial"/>
                <a:cs typeface="Arial"/>
              </a:rPr>
              <a:t xml:space="preserve">70</a:t>
            </a:r>
            <a:r>
              <a:rPr lang="en-US" sz="1600" b="0" i="0" dirty="0">
                <a:solidFill>
                  <a:srgbClr val="123755"/>
                </a:solidFill>
                <a:latin typeface="Arial"/>
                <a:cs typeface="Arial"/>
              </a:rPr>
              <a:t xml:space="preserve"> (IHPS 2019) · Nigeria </a:t>
            </a:r>
            <a:r>
              <a:rPr lang="en-US" sz="1600" b="1" i="0" dirty="0">
                <a:solidFill>
                  <a:srgbClr val="CF6224"/>
                </a:solidFill>
                <a:latin typeface="Arial"/>
                <a:cs typeface="Arial"/>
              </a:rPr>
              <a:t xml:space="preserve">70</a:t>
            </a:r>
            <a:r>
              <a:rPr lang="en-US" sz="1600" b="0" i="0" dirty="0">
                <a:solidFill>
                  <a:srgbClr val="123755"/>
                </a:solidFill>
                <a:latin typeface="Arial"/>
                <a:cs typeface="Arial"/>
              </a:rPr>
              <a:t xml:space="preserve"> (GHS-Panel 2018/19) · Tanzania </a:t>
            </a:r>
            <a:r>
              <a:rPr lang="en-US" sz="1600" b="1" i="0" dirty="0">
                <a:solidFill>
                  <a:srgbClr val="CF6224"/>
                </a:solidFill>
                <a:latin typeface="Arial"/>
                <a:cs typeface="Arial"/>
              </a:rPr>
              <a:t xml:space="preserve">70</a:t>
            </a:r>
            <a:r>
              <a:rPr lang="en-US" sz="1600" b="0" i="0" dirty="0">
                <a:solidFill>
                  <a:srgbClr val="123755"/>
                </a:solidFill>
                <a:latin typeface="Arial"/>
                <a:cs typeface="Arial"/>
              </a:rPr>
              <a:t xml:space="preserve"> (NPS 2012/13)</a:t>
            </a:r>
          </a:p>
        </p:txBody>
      </p:sp>
      <p:grpSp>
        <p:nvGrpSpPr>
          <p:cNvPr id="10164" name="African farmer and field / editable grouped illustration"/>
          <p:cNvGrpSpPr/>
          <p:nvPr/>
        </p:nvGrpSpPr>
        <p:grpSpPr>
          <a:xfrm>
            <a:off x="475488" y="7205472"/>
            <a:ext cx="1116923" cy="1243584"/>
            <a:chOff x="411480" y="6199632"/>
            <a:chExt cx="886968" cy="987552"/>
          </a:xfrm>
        </p:grpSpPr>
        <p:sp>
          <p:nvSpPr>
            <p:cNvPr id="10165" name="Sky background"/>
            <p:cNvSpPr/>
            <p:nvPr/>
          </p:nvSpPr>
          <p:spPr>
            <a:xfrm>
              <a:off x="411480" y="6199632"/>
              <a:ext cx="886968" cy="987552"/>
            </a:xfrm>
            <a:prstGeom prst="roundRect">
              <a:avLst>
                <a:gd name="adj" fmla="val 5500"/>
              </a:avLst>
            </a:prstGeom>
            <a:solidFill>
              <a:srgbClr val="E7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66" name="Editable vector path"/>
            <p:cNvSpPr/>
            <p:nvPr/>
          </p:nvSpPr>
          <p:spPr>
            <a:xfrm>
              <a:off x="411480" y="6357640"/>
              <a:ext cx="886968" cy="335767"/>
            </a:xfrm>
            <a:custGeom>
              <a:avLst/>
              <a:gdLst/>
              <a:ahLst/>
              <a:cxnLst/>
              <a:rect l="0" t="0" r="r" b="b"/>
              <a:pathLst>
                <a:path w="1000" h="1000" stroke="0">
                  <a:moveTo>
                    <a:pt x="0" y="550"/>
                  </a:moveTo>
                  <a:lnTo>
                    <a:pt x="140" y="190"/>
                  </a:lnTo>
                  <a:lnTo>
                    <a:pt x="360" y="610"/>
                  </a:lnTo>
                  <a:lnTo>
                    <a:pt x="590" y="100"/>
                  </a:lnTo>
                  <a:lnTo>
                    <a:pt x="820" y="420"/>
                  </a:lnTo>
                  <a:lnTo>
                    <a:pt x="1000" y="230"/>
                  </a:lnTo>
                  <a:lnTo>
                    <a:pt x="1000" y="1000"/>
                  </a:lnTo>
                  <a:lnTo>
                    <a:pt x="0" y="1000"/>
                  </a:lnTo>
                  <a:close/>
                </a:path>
              </a:pathLst>
            </a:custGeom>
            <a:solidFill>
              <a:srgbClr val="BDDC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67" name="Editable vector path"/>
            <p:cNvSpPr/>
            <p:nvPr/>
          </p:nvSpPr>
          <p:spPr>
            <a:xfrm>
              <a:off x="411480" y="6476146"/>
              <a:ext cx="886968" cy="296265"/>
            </a:xfrm>
            <a:custGeom>
              <a:avLst/>
              <a:gdLst/>
              <a:ahLst/>
              <a:cxnLst/>
              <a:rect l="0" t="0" r="r" b="b"/>
              <a:pathLst>
                <a:path w="1000" h="1000" stroke="0">
                  <a:moveTo>
                    <a:pt x="0" y="410"/>
                  </a:moveTo>
                  <a:cubicBezTo>
                    <a:pt x="300" y="100"/>
                    <a:pt x="530" y="250"/>
                    <a:pt x="780" y="500"/>
                  </a:cubicBezTo>
                  <a:lnTo>
                    <a:pt x="1000" y="340"/>
                  </a:lnTo>
                  <a:lnTo>
                    <a:pt x="1000" y="1000"/>
                  </a:lnTo>
                  <a:lnTo>
                    <a:pt x="0" y="1000"/>
                  </a:lnTo>
                  <a:close/>
                </a:path>
              </a:pathLst>
            </a:custGeom>
            <a:solidFill>
              <a:srgbClr val="8CBFA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68" name="Editable vector path"/>
            <p:cNvSpPr/>
            <p:nvPr/>
          </p:nvSpPr>
          <p:spPr>
            <a:xfrm>
              <a:off x="411480" y="6574901"/>
              <a:ext cx="886968" cy="266639"/>
            </a:xfrm>
            <a:custGeom>
              <a:avLst/>
              <a:gdLst/>
              <a:ahLst/>
              <a:cxnLst/>
              <a:rect l="0" t="0" r="r" b="b"/>
              <a:pathLst>
                <a:path w="1000" h="1000" stroke="0">
                  <a:moveTo>
                    <a:pt x="0" y="700"/>
                  </a:moveTo>
                  <a:cubicBezTo>
                    <a:pt x="250" y="310"/>
                    <a:pt x="590" y="140"/>
                    <a:pt x="1000" y="450"/>
                  </a:cubicBezTo>
                  <a:lnTo>
                    <a:pt x="1000" y="1000"/>
                  </a:lnTo>
                  <a:lnTo>
                    <a:pt x="0" y="1000"/>
                  </a:lnTo>
                  <a:close/>
                </a:path>
              </a:pathLst>
            </a:custGeom>
            <a:solidFill>
              <a:srgbClr val="679F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69" name="Ellipse"/>
            <p:cNvSpPr/>
            <p:nvPr/>
          </p:nvSpPr>
          <p:spPr>
            <a:xfrm>
              <a:off x="491307" y="6283573"/>
              <a:ext cx="168523" cy="34564"/>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70" name="Ellipse"/>
            <p:cNvSpPr/>
            <p:nvPr/>
          </p:nvSpPr>
          <p:spPr>
            <a:xfrm>
              <a:off x="571134" y="6258885"/>
              <a:ext cx="106436" cy="45427"/>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71" name="Field base"/>
            <p:cNvSpPr/>
            <p:nvPr/>
          </p:nvSpPr>
          <p:spPr>
            <a:xfrm>
              <a:off x="411480" y="6742785"/>
              <a:ext cx="886968" cy="444398"/>
            </a:xfrm>
            <a:prstGeom prst="rect">
              <a:avLst/>
            </a:prstGeom>
            <a:solidFill>
              <a:srgbClr val="C5CD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72" name="Editable polygon"/>
            <p:cNvSpPr/>
            <p:nvPr/>
          </p:nvSpPr>
          <p:spPr>
            <a:xfrm>
              <a:off x="411480" y="6732910"/>
              <a:ext cx="727313" cy="454273"/>
            </a:xfrm>
            <a:custGeom>
              <a:avLst/>
              <a:gdLst/>
              <a:ahLst/>
              <a:cxnLst/>
              <a:rect l="0" t="0" r="r" b="b"/>
              <a:pathLst>
                <a:path w="1000" h="1000" stroke="0">
                  <a:moveTo>
                    <a:pt x="0" y="174"/>
                  </a:moveTo>
                  <a:lnTo>
                    <a:pt x="732" y="0"/>
                  </a:lnTo>
                  <a:lnTo>
                    <a:pt x="1000" y="196"/>
                  </a:lnTo>
                  <a:lnTo>
                    <a:pt x="268" y="1000"/>
                  </a:lnTo>
                  <a:lnTo>
                    <a:pt x="0" y="1000"/>
                  </a:lnTo>
                  <a:close/>
                </a:path>
              </a:pathLst>
            </a:custGeom>
            <a:solidFill>
              <a:srgbClr val="C6CB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73" name="Editable polygon"/>
            <p:cNvSpPr/>
            <p:nvPr/>
          </p:nvSpPr>
          <p:spPr>
            <a:xfrm>
              <a:off x="588873" y="6752661"/>
              <a:ext cx="709574" cy="434522"/>
            </a:xfrm>
            <a:custGeom>
              <a:avLst/>
              <a:gdLst/>
              <a:ahLst/>
              <a:cxnLst/>
              <a:rect l="0" t="0" r="r" b="b"/>
              <a:pathLst>
                <a:path w="1000" h="1000" stroke="0">
                  <a:moveTo>
                    <a:pt x="0" y="1000"/>
                  </a:moveTo>
                  <a:lnTo>
                    <a:pt x="662" y="0"/>
                  </a:lnTo>
                  <a:lnTo>
                    <a:pt x="1000" y="23"/>
                  </a:lnTo>
                  <a:lnTo>
                    <a:pt x="1000" y="1000"/>
                  </a:lnTo>
                  <a:close/>
                </a:path>
              </a:pathLst>
            </a:custGeom>
            <a:solidFill>
              <a:srgbClr val="86AE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174" name="Editable connector"/>
            <p:cNvCxnSpPr/>
            <p:nvPr/>
          </p:nvCxnSpPr>
          <p:spPr>
            <a:xfrm flipV="1">
              <a:off x="446958" y="6774387"/>
              <a:ext cx="487833"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75" name="Editable connector"/>
            <p:cNvCxnSpPr/>
            <p:nvPr/>
          </p:nvCxnSpPr>
          <p:spPr>
            <a:xfrm flipV="1">
              <a:off x="522351" y="6774387"/>
              <a:ext cx="438162"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76" name="Editable connector"/>
            <p:cNvCxnSpPr/>
            <p:nvPr/>
          </p:nvCxnSpPr>
          <p:spPr>
            <a:xfrm flipV="1">
              <a:off x="597743" y="6774387"/>
              <a:ext cx="388492"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77" name="Editable connector"/>
            <p:cNvCxnSpPr/>
            <p:nvPr/>
          </p:nvCxnSpPr>
          <p:spPr>
            <a:xfrm flipV="1">
              <a:off x="673135" y="6774387"/>
              <a:ext cx="338822"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78" name="Editable connector"/>
            <p:cNvCxnSpPr/>
            <p:nvPr/>
          </p:nvCxnSpPr>
          <p:spPr>
            <a:xfrm flipV="1">
              <a:off x="748527" y="6774387"/>
              <a:ext cx="289152"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79" name="Editable connector"/>
            <p:cNvCxnSpPr/>
            <p:nvPr/>
          </p:nvCxnSpPr>
          <p:spPr>
            <a:xfrm flipV="1">
              <a:off x="823920" y="6774387"/>
              <a:ext cx="239481"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80" name="Editable connector"/>
            <p:cNvCxnSpPr/>
            <p:nvPr/>
          </p:nvCxnSpPr>
          <p:spPr>
            <a:xfrm flipV="1">
              <a:off x="899312" y="6774387"/>
              <a:ext cx="189811" cy="412797"/>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181" name="Editable connector"/>
            <p:cNvCxnSpPr/>
            <p:nvPr/>
          </p:nvCxnSpPr>
          <p:spPr>
            <a:xfrm flipV="1">
              <a:off x="801745" y="6782287"/>
              <a:ext cx="337048" cy="404897"/>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182" name="Editable connector"/>
            <p:cNvCxnSpPr/>
            <p:nvPr/>
          </p:nvCxnSpPr>
          <p:spPr>
            <a:xfrm flipV="1">
              <a:off x="894877" y="6782287"/>
              <a:ext cx="268751" cy="404897"/>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183" name="Editable connector"/>
            <p:cNvCxnSpPr/>
            <p:nvPr/>
          </p:nvCxnSpPr>
          <p:spPr>
            <a:xfrm flipV="1">
              <a:off x="988009" y="6782287"/>
              <a:ext cx="200454" cy="404897"/>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184" name="Editable connector"/>
            <p:cNvCxnSpPr/>
            <p:nvPr/>
          </p:nvCxnSpPr>
          <p:spPr>
            <a:xfrm flipV="1">
              <a:off x="1081140" y="6782287"/>
              <a:ext cx="132159" cy="404897"/>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185" name="Editable connector"/>
            <p:cNvCxnSpPr/>
            <p:nvPr/>
          </p:nvCxnSpPr>
          <p:spPr>
            <a:xfrm flipV="1">
              <a:off x="1174272" y="6782287"/>
              <a:ext cx="63862" cy="404897"/>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186" name="Editable connector"/>
            <p:cNvCxnSpPr/>
            <p:nvPr/>
          </p:nvCxnSpPr>
          <p:spPr>
            <a:xfrm flipH="1" flipV="1">
              <a:off x="1262969" y="6782287"/>
              <a:ext cx="4435" cy="404897"/>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sp>
          <p:nvSpPr>
            <p:cNvPr id="10187" name="Editable polygon"/>
            <p:cNvSpPr/>
            <p:nvPr/>
          </p:nvSpPr>
          <p:spPr>
            <a:xfrm>
              <a:off x="464698" y="6742785"/>
              <a:ext cx="647486" cy="444398"/>
            </a:xfrm>
            <a:custGeom>
              <a:avLst/>
              <a:gdLst/>
              <a:ahLst/>
              <a:cxnLst/>
              <a:rect l="0" t="0" r="r" b="b"/>
              <a:pathLst>
                <a:path w="1000" h="1000" stroke="0">
                  <a:moveTo>
                    <a:pt x="0" y="1000"/>
                  </a:moveTo>
                  <a:lnTo>
                    <a:pt x="534" y="1000"/>
                  </a:lnTo>
                  <a:lnTo>
                    <a:pt x="1000" y="0"/>
                  </a:lnTo>
                  <a:lnTo>
                    <a:pt x="945" y="0"/>
                  </a:lnTo>
                  <a:close/>
                </a:path>
              </a:pathLst>
            </a:custGeom>
            <a:solidFill>
              <a:srgbClr val="EEDC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nvGrpSpPr>
            <p:cNvPr id="10188" name="Grouped field tree"/>
            <p:cNvGrpSpPr/>
            <p:nvPr/>
          </p:nvGrpSpPr>
          <p:grpSpPr>
            <a:xfrm>
              <a:off x="444297" y="6458074"/>
              <a:ext cx="337047" cy="373590"/>
              <a:chOff x="444297" y="6458074"/>
              <a:chExt cx="337047" cy="373590"/>
            </a:xfrm>
          </p:grpSpPr>
          <p:sp>
            <p:nvSpPr>
              <p:cNvPr id="10189" name="Editable polygon"/>
              <p:cNvSpPr/>
              <p:nvPr/>
            </p:nvSpPr>
            <p:spPr>
              <a:xfrm>
                <a:off x="522351" y="6535103"/>
                <a:ext cx="159654" cy="296561"/>
              </a:xfrm>
              <a:custGeom>
                <a:avLst/>
                <a:gdLst/>
                <a:ahLst/>
                <a:cxnLst/>
                <a:rect l="0" t="0" r="r" b="b"/>
                <a:pathLst>
                  <a:path w="1000" h="1000" stroke="0">
                    <a:moveTo>
                      <a:pt x="489" y="1000"/>
                    </a:moveTo>
                    <a:lnTo>
                      <a:pt x="622" y="1000"/>
                    </a:lnTo>
                    <a:lnTo>
                      <a:pt x="622" y="143"/>
                    </a:lnTo>
                    <a:lnTo>
                      <a:pt x="1000" y="13"/>
                    </a:lnTo>
                    <a:lnTo>
                      <a:pt x="867" y="0"/>
                    </a:lnTo>
                    <a:lnTo>
                      <a:pt x="556" y="182"/>
                    </a:lnTo>
                    <a:lnTo>
                      <a:pt x="133" y="0"/>
                    </a:lnTo>
                    <a:lnTo>
                      <a:pt x="0" y="13"/>
                    </a:lnTo>
                    <a:lnTo>
                      <a:pt x="489" y="260"/>
                    </a:lnTo>
                    <a:close/>
                  </a:path>
                </a:pathLst>
              </a:custGeom>
              <a:solidFill>
                <a:srgbClr val="75654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0" name="Ellipse"/>
              <p:cNvSpPr/>
              <p:nvPr/>
            </p:nvSpPr>
            <p:spPr>
              <a:xfrm>
                <a:off x="444297" y="6519697"/>
                <a:ext cx="149010" cy="77029"/>
              </a:xfrm>
              <a:prstGeom prst="ellipse">
                <a:avLst/>
              </a:prstGeom>
              <a:solidFill>
                <a:srgbClr val="6CA46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1" name="Ellipse"/>
              <p:cNvSpPr/>
              <p:nvPr/>
            </p:nvSpPr>
            <p:spPr>
              <a:xfrm>
                <a:off x="540090" y="6458074"/>
                <a:ext cx="134819" cy="119395"/>
              </a:xfrm>
              <a:prstGeom prst="ellipse">
                <a:avLst/>
              </a:prstGeom>
              <a:solidFill>
                <a:srgbClr val="598D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2" name="Ellipse"/>
              <p:cNvSpPr/>
              <p:nvPr/>
            </p:nvSpPr>
            <p:spPr>
              <a:xfrm>
                <a:off x="611047" y="6500440"/>
                <a:ext cx="170297" cy="92434"/>
              </a:xfrm>
              <a:prstGeom prst="ellipse">
                <a:avLst/>
              </a:prstGeom>
              <a:solidFill>
                <a:srgbClr val="3C77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3" name="Ellipse"/>
              <p:cNvSpPr/>
              <p:nvPr/>
            </p:nvSpPr>
            <p:spPr>
              <a:xfrm>
                <a:off x="472680" y="6492737"/>
                <a:ext cx="156106" cy="88583"/>
              </a:xfrm>
              <a:prstGeom prst="ellipse">
                <a:avLst/>
              </a:prstGeom>
              <a:solidFill>
                <a:srgbClr val="5E976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4" name="Ellipse"/>
              <p:cNvSpPr/>
              <p:nvPr/>
            </p:nvSpPr>
            <p:spPr>
              <a:xfrm>
                <a:off x="554281" y="6492737"/>
                <a:ext cx="145462" cy="103989"/>
              </a:xfrm>
              <a:prstGeom prst="ellipse">
                <a:avLst/>
              </a:prstGeom>
              <a:solidFill>
                <a:srgbClr val="4886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grpSp>
          <p:nvGrpSpPr>
            <p:cNvPr id="10195" name="Grouped farm building"/>
            <p:cNvGrpSpPr/>
            <p:nvPr/>
          </p:nvGrpSpPr>
          <p:grpSpPr>
            <a:xfrm>
              <a:off x="1094445" y="6644030"/>
              <a:ext cx="168523" cy="111297"/>
              <a:chOff x="1094445" y="6644030"/>
              <a:chExt cx="168523" cy="111297"/>
            </a:xfrm>
          </p:grpSpPr>
          <p:sp>
            <p:nvSpPr>
              <p:cNvPr id="10196" name="Panel"/>
              <p:cNvSpPr/>
              <p:nvPr/>
            </p:nvSpPr>
            <p:spPr>
              <a:xfrm>
                <a:off x="1111297" y="6684915"/>
                <a:ext cx="124707" cy="70412"/>
              </a:xfrm>
              <a:prstGeom prst="rect">
                <a:avLst/>
              </a:prstGeom>
              <a:solidFill>
                <a:srgbClr val="FEF7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7" name="Editable polygon"/>
              <p:cNvSpPr/>
              <p:nvPr/>
            </p:nvSpPr>
            <p:spPr>
              <a:xfrm>
                <a:off x="1094445" y="6644030"/>
                <a:ext cx="168523" cy="43156"/>
              </a:xfrm>
              <a:custGeom>
                <a:avLst/>
                <a:gdLst/>
                <a:ahLst/>
                <a:cxnLst/>
                <a:rect l="0" t="0" r="r" b="b"/>
                <a:pathLst>
                  <a:path w="1000" h="1000" stroke="0">
                    <a:moveTo>
                      <a:pt x="0" y="1000"/>
                    </a:moveTo>
                    <a:lnTo>
                      <a:pt x="490" y="0"/>
                    </a:lnTo>
                    <a:lnTo>
                      <a:pt x="1000" y="1000"/>
                    </a:lnTo>
                    <a:close/>
                  </a:path>
                </a:pathLst>
              </a:custGeom>
              <a:solidFill>
                <a:srgbClr val="BD7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8" name="Panel"/>
              <p:cNvSpPr/>
              <p:nvPr/>
            </p:nvSpPr>
            <p:spPr>
              <a:xfrm>
                <a:off x="1143317" y="6709900"/>
                <a:ext cx="30334" cy="45427"/>
              </a:xfrm>
              <a:prstGeom prst="rect">
                <a:avLst/>
              </a:prstGeom>
              <a:solidFill>
                <a:srgbClr val="5075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199" name="Panel"/>
              <p:cNvSpPr/>
              <p:nvPr/>
            </p:nvSpPr>
            <p:spPr>
              <a:xfrm>
                <a:off x="1190503" y="6703086"/>
                <a:ext cx="28649" cy="19306"/>
              </a:xfrm>
              <a:prstGeom prst="rect">
                <a:avLst/>
              </a:prstGeom>
              <a:solidFill>
                <a:srgbClr val="9FC3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cxnSp>
          <p:nvCxnSpPr>
            <p:cNvPr id="10200" name="Editable connector"/>
            <p:cNvCxnSpPr/>
            <p:nvPr/>
          </p:nvCxnSpPr>
          <p:spPr>
            <a:xfrm>
              <a:off x="455828" y="6979798"/>
              <a:ext cx="0" cy="98755"/>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201" name="Editable polygon"/>
            <p:cNvSpPr/>
            <p:nvPr/>
          </p:nvSpPr>
          <p:spPr>
            <a:xfrm>
              <a:off x="427445" y="6997574"/>
              <a:ext cx="28382" cy="31601"/>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02" name="Editable polygon"/>
            <p:cNvSpPr/>
            <p:nvPr/>
          </p:nvSpPr>
          <p:spPr>
            <a:xfrm>
              <a:off x="455828" y="7011399"/>
              <a:ext cx="24835" cy="36539"/>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03" name="Editable connector"/>
            <p:cNvCxnSpPr/>
            <p:nvPr/>
          </p:nvCxnSpPr>
          <p:spPr>
            <a:xfrm>
              <a:off x="517916" y="7034113"/>
              <a:ext cx="0" cy="98755"/>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204" name="Editable polygon"/>
            <p:cNvSpPr/>
            <p:nvPr/>
          </p:nvSpPr>
          <p:spPr>
            <a:xfrm>
              <a:off x="489533" y="7051889"/>
              <a:ext cx="28382" cy="31601"/>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05" name="Editable polygon"/>
            <p:cNvSpPr/>
            <p:nvPr/>
          </p:nvSpPr>
          <p:spPr>
            <a:xfrm>
              <a:off x="517916" y="7065715"/>
              <a:ext cx="24835" cy="36539"/>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06" name="Editable connector"/>
            <p:cNvCxnSpPr/>
            <p:nvPr/>
          </p:nvCxnSpPr>
          <p:spPr>
            <a:xfrm>
              <a:off x="580003" y="6979798"/>
              <a:ext cx="0" cy="98755"/>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207" name="Editable polygon"/>
            <p:cNvSpPr/>
            <p:nvPr/>
          </p:nvSpPr>
          <p:spPr>
            <a:xfrm>
              <a:off x="551620" y="6997574"/>
              <a:ext cx="28382" cy="31601"/>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08" name="Editable polygon"/>
            <p:cNvSpPr/>
            <p:nvPr/>
          </p:nvSpPr>
          <p:spPr>
            <a:xfrm>
              <a:off x="580003" y="7011399"/>
              <a:ext cx="24835" cy="36539"/>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09" name="Editable connector"/>
            <p:cNvCxnSpPr/>
            <p:nvPr/>
          </p:nvCxnSpPr>
          <p:spPr>
            <a:xfrm>
              <a:off x="642091" y="7034113"/>
              <a:ext cx="0" cy="98755"/>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210" name="Editable polygon"/>
            <p:cNvSpPr/>
            <p:nvPr/>
          </p:nvSpPr>
          <p:spPr>
            <a:xfrm>
              <a:off x="613708" y="7051889"/>
              <a:ext cx="28382" cy="31601"/>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11" name="Editable polygon"/>
            <p:cNvSpPr/>
            <p:nvPr/>
          </p:nvSpPr>
          <p:spPr>
            <a:xfrm>
              <a:off x="642091" y="7065715"/>
              <a:ext cx="24835" cy="36539"/>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nvGrpSpPr>
            <p:cNvPr id="10212" name="Editable African farmer"/>
            <p:cNvGrpSpPr/>
            <p:nvPr/>
          </p:nvGrpSpPr>
          <p:grpSpPr>
            <a:xfrm>
              <a:off x="581777" y="6424596"/>
              <a:ext cx="603670" cy="762587"/>
              <a:chOff x="581777" y="6424596"/>
              <a:chExt cx="603670" cy="762587"/>
            </a:xfrm>
          </p:grpSpPr>
          <p:sp>
            <p:nvSpPr>
              <p:cNvPr id="10213" name="Editable vector path"/>
              <p:cNvSpPr/>
              <p:nvPr/>
            </p:nvSpPr>
            <p:spPr>
              <a:xfrm>
                <a:off x="596324" y="6771227"/>
                <a:ext cx="567304" cy="408253"/>
              </a:xfrm>
              <a:custGeom>
                <a:avLst/>
                <a:gdLst/>
                <a:ahLst/>
                <a:cxnLst/>
                <a:rect l="0" t="0" r="r" b="b"/>
                <a:pathLst>
                  <a:path w="1000" h="1000" stroke="0">
                    <a:moveTo>
                      <a:pt x="330" y="0"/>
                    </a:moveTo>
                    <a:cubicBezTo>
                      <a:pt x="90" y="80"/>
                      <a:pt x="45" y="345"/>
                      <a:pt x="0" y="650"/>
                    </a:cubicBezTo>
                    <a:lnTo>
                      <a:pt x="130" y="810"/>
                    </a:lnTo>
                    <a:lnTo>
                      <a:pt x="255" y="470"/>
                    </a:lnTo>
                    <a:lnTo>
                      <a:pt x="310" y="1000"/>
                    </a:lnTo>
                    <a:lnTo>
                      <a:pt x="920" y="1000"/>
                    </a:lnTo>
                    <a:lnTo>
                      <a:pt x="960" y="430"/>
                    </a:lnTo>
                    <a:cubicBezTo>
                      <a:pt x="1000" y="200"/>
                      <a:pt x="840" y="50"/>
                      <a:pt x="650" y="0"/>
                    </a:cubicBezTo>
                    <a:close/>
                  </a:path>
                </a:pathLst>
              </a:custGeom>
              <a:solidFill>
                <a:srgbClr val="AE592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14" name="Editable vector path"/>
              <p:cNvSpPr/>
              <p:nvPr/>
            </p:nvSpPr>
            <p:spPr>
              <a:xfrm>
                <a:off x="690874" y="7025422"/>
                <a:ext cx="370930" cy="161761"/>
              </a:xfrm>
              <a:custGeom>
                <a:avLst/>
                <a:gdLst/>
                <a:ahLst/>
                <a:cxnLst/>
                <a:rect l="0" t="0" r="r" b="b"/>
                <a:pathLst>
                  <a:path w="1000" h="1000" stroke="0">
                    <a:moveTo>
                      <a:pt x="0" y="0"/>
                    </a:moveTo>
                    <a:lnTo>
                      <a:pt x="1000" y="0"/>
                    </a:lnTo>
                    <a:lnTo>
                      <a:pt x="970" y="1000"/>
                    </a:lnTo>
                    <a:lnTo>
                      <a:pt x="540" y="1000"/>
                    </a:lnTo>
                    <a:lnTo>
                      <a:pt x="480" y="330"/>
                    </a:lnTo>
                    <a:lnTo>
                      <a:pt x="390" y="1000"/>
                    </a:lnTo>
                    <a:lnTo>
                      <a:pt x="0" y="1000"/>
                    </a:lnTo>
                    <a:close/>
                  </a:path>
                </a:pathLst>
              </a:custGeom>
              <a:solidFill>
                <a:srgbClr val="274D6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15" name="Editable vector path"/>
              <p:cNvSpPr/>
              <p:nvPr/>
            </p:nvSpPr>
            <p:spPr>
              <a:xfrm>
                <a:off x="698148" y="6771227"/>
                <a:ext cx="356383" cy="331224"/>
              </a:xfrm>
              <a:custGeom>
                <a:avLst/>
                <a:gdLst/>
                <a:ahLst/>
                <a:cxnLst/>
                <a:rect l="0" t="0" r="r" b="b"/>
                <a:pathLst>
                  <a:path w="1000" h="1000" stroke="0">
                    <a:moveTo>
                      <a:pt x="190" y="0"/>
                    </a:moveTo>
                    <a:lnTo>
                      <a:pt x="750" y="0"/>
                    </a:lnTo>
                    <a:cubicBezTo>
                      <a:pt x="950" y="200"/>
                      <a:pt x="990" y="700"/>
                      <a:pt x="950" y="1000"/>
                    </a:cubicBezTo>
                    <a:lnTo>
                      <a:pt x="30" y="1000"/>
                    </a:lnTo>
                    <a:cubicBezTo>
                      <a:pt x="0" y="700"/>
                      <a:pt x="0" y="300"/>
                      <a:pt x="190" y="0"/>
                    </a:cubicBezTo>
                    <a:close/>
                  </a:path>
                </a:pathLst>
              </a:custGeom>
              <a:solidFill>
                <a:srgbClr val="D77B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16" name="Editable connector"/>
              <p:cNvCxnSpPr/>
              <p:nvPr/>
            </p:nvCxnSpPr>
            <p:spPr>
              <a:xfrm flipH="1">
                <a:off x="850883" y="6802038"/>
                <a:ext cx="14547" cy="285008"/>
              </a:xfrm>
              <a:prstGeom prst="line">
                <a:avLst/>
              </a:prstGeom>
              <a:ln w="6985" cap="rnd">
                <a:solidFill>
                  <a:srgbClr val="AE5928"/>
                </a:solidFill>
              </a:ln>
            </p:spPr>
            <p:style>
              <a:lnRef idx="2">
                <a:schemeClr val="accent1"/>
              </a:lnRef>
              <a:fillRef idx="0">
                <a:schemeClr val="accent1"/>
              </a:fillRef>
              <a:effectRef idx="0">
                <a:schemeClr val="accent1"/>
              </a:effectRef>
              <a:fontRef idx="minor">
                <a:schemeClr val="tx1"/>
              </a:fontRef>
            </p:style>
          </p:cxnSp>
          <p:cxnSp>
            <p:nvCxnSpPr>
              <p:cNvPr id="10217" name="Editable connector"/>
              <p:cNvCxnSpPr/>
              <p:nvPr/>
            </p:nvCxnSpPr>
            <p:spPr>
              <a:xfrm flipH="1">
                <a:off x="727240" y="6940691"/>
                <a:ext cx="14546" cy="115543"/>
              </a:xfrm>
              <a:prstGeom prst="line">
                <a:avLst/>
              </a:prstGeom>
              <a:ln w="7620" cap="rnd">
                <a:solidFill>
                  <a:srgbClr val="ED9C4C"/>
                </a:solidFill>
              </a:ln>
            </p:spPr>
            <p:style>
              <a:lnRef idx="2">
                <a:schemeClr val="accent1"/>
              </a:lnRef>
              <a:fillRef idx="0">
                <a:schemeClr val="accent1"/>
              </a:fillRef>
              <a:effectRef idx="0">
                <a:schemeClr val="accent1"/>
              </a:effectRef>
              <a:fontRef idx="minor">
                <a:schemeClr val="tx1"/>
              </a:fontRef>
            </p:style>
          </p:cxnSp>
          <p:sp>
            <p:nvSpPr>
              <p:cNvPr id="10218" name="Editable vector path"/>
              <p:cNvSpPr/>
              <p:nvPr/>
            </p:nvSpPr>
            <p:spPr>
              <a:xfrm>
                <a:off x="799971" y="6686495"/>
                <a:ext cx="145462" cy="146355"/>
              </a:xfrm>
              <a:custGeom>
                <a:avLst/>
                <a:gdLst/>
                <a:ahLst/>
                <a:cxnLst/>
                <a:rect l="0" t="0" r="r" b="b"/>
                <a:pathLst>
                  <a:path w="1000" h="1000" stroke="0">
                    <a:moveTo>
                      <a:pt x="0" y="0"/>
                    </a:moveTo>
                    <a:lnTo>
                      <a:pt x="880" y="0"/>
                    </a:lnTo>
                    <a:lnTo>
                      <a:pt x="1000" y="850"/>
                    </a:lnTo>
                    <a:lnTo>
                      <a:pt x="520" y="1000"/>
                    </a:lnTo>
                    <a:lnTo>
                      <a:pt x="0" y="700"/>
                    </a:lnTo>
                    <a:close/>
                  </a:path>
                </a:pathLst>
              </a:custGeom>
              <a:solidFill>
                <a:srgbClr val="6045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19" name="Editable vector path"/>
              <p:cNvSpPr/>
              <p:nvPr/>
            </p:nvSpPr>
            <p:spPr>
              <a:xfrm>
                <a:off x="756333" y="6509328"/>
                <a:ext cx="232740" cy="246492"/>
              </a:xfrm>
              <a:custGeom>
                <a:avLst/>
                <a:gdLst/>
                <a:ahLst/>
                <a:cxnLst/>
                <a:rect l="0" t="0" r="r" b="b"/>
                <a:pathLst>
                  <a:path w="1000" h="1000" stroke="0">
                    <a:moveTo>
                      <a:pt x="160" y="0"/>
                    </a:moveTo>
                    <a:cubicBezTo>
                      <a:pt x="510" y="-60"/>
                      <a:pt x="950" y="100"/>
                      <a:pt x="940" y="410"/>
                    </a:cubicBezTo>
                    <a:lnTo>
                      <a:pt x="1000" y="560"/>
                    </a:lnTo>
                    <a:lnTo>
                      <a:pt x="900" y="615"/>
                    </a:lnTo>
                    <a:cubicBezTo>
                      <a:pt x="850" y="850"/>
                      <a:pt x="720" y="1000"/>
                      <a:pt x="450" y="980"/>
                    </a:cubicBezTo>
                    <a:cubicBezTo>
                      <a:pt x="180" y="950"/>
                      <a:pt x="0" y="620"/>
                      <a:pt x="0" y="350"/>
                    </a:cubicBezTo>
                    <a:cubicBezTo>
                      <a:pt x="0" y="140"/>
                      <a:pt x="45" y="40"/>
                      <a:pt x="160" y="0"/>
                    </a:cubicBezTo>
                    <a:close/>
                  </a:path>
                </a:pathLst>
              </a:custGeom>
              <a:solidFill>
                <a:srgbClr val="8359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0" name="Ellipse"/>
              <p:cNvSpPr/>
              <p:nvPr/>
            </p:nvSpPr>
            <p:spPr>
              <a:xfrm>
                <a:off x="719967" y="6617168"/>
                <a:ext cx="72731" cy="77029"/>
              </a:xfrm>
              <a:prstGeom prst="ellipse">
                <a:avLst/>
              </a:prstGeom>
              <a:solidFill>
                <a:srgbClr val="8359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1" name="Editable vector path"/>
              <p:cNvSpPr/>
              <p:nvPr/>
            </p:nvSpPr>
            <p:spPr>
              <a:xfrm>
                <a:off x="734513" y="6497773"/>
                <a:ext cx="232740" cy="146355"/>
              </a:xfrm>
              <a:custGeom>
                <a:avLst/>
                <a:gdLst/>
                <a:ahLst/>
                <a:cxnLst/>
                <a:rect l="0" t="0" r="r" b="b"/>
                <a:pathLst>
                  <a:path w="1000" h="1000" stroke="0">
                    <a:moveTo>
                      <a:pt x="100" y="980"/>
                    </a:moveTo>
                    <a:cubicBezTo>
                      <a:pt x="-30" y="300"/>
                      <a:pt x="140" y="0"/>
                      <a:pt x="600" y="0"/>
                    </a:cubicBezTo>
                    <a:cubicBezTo>
                      <a:pt x="850" y="0"/>
                      <a:pt x="1000" y="180"/>
                      <a:pt x="1000" y="430"/>
                    </a:cubicBezTo>
                    <a:lnTo>
                      <a:pt x="280" y="380"/>
                    </a:lnTo>
                    <a:lnTo>
                      <a:pt x="220" y="750"/>
                    </a:lnTo>
                    <a:close/>
                  </a:path>
                </a:pathLst>
              </a:custGeom>
              <a:solidFill>
                <a:srgbClr val="3F352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2" name="Editable vector path"/>
              <p:cNvSpPr/>
              <p:nvPr/>
            </p:nvSpPr>
            <p:spPr>
              <a:xfrm>
                <a:off x="690874" y="6424596"/>
                <a:ext cx="320018" cy="157909"/>
              </a:xfrm>
              <a:custGeom>
                <a:avLst/>
                <a:gdLst/>
                <a:ahLst/>
                <a:cxnLst/>
                <a:rect l="0" t="0" r="r" b="b"/>
                <a:pathLst>
                  <a:path w="1000" h="1000" stroke="0">
                    <a:moveTo>
                      <a:pt x="0" y="1000"/>
                    </a:moveTo>
                    <a:lnTo>
                      <a:pt x="140" y="230"/>
                    </a:lnTo>
                    <a:cubicBezTo>
                      <a:pt x="170" y="-100"/>
                      <a:pt x="780" y="-60"/>
                      <a:pt x="860" y="240"/>
                    </a:cubicBezTo>
                    <a:lnTo>
                      <a:pt x="1000" y="1000"/>
                    </a:lnTo>
                    <a:close/>
                  </a:path>
                </a:pathLst>
              </a:custGeom>
              <a:solidFill>
                <a:srgbClr val="D7A5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3" name="Editable vector path"/>
              <p:cNvSpPr/>
              <p:nvPr/>
            </p:nvSpPr>
            <p:spPr>
              <a:xfrm>
                <a:off x="727240" y="6437691"/>
                <a:ext cx="196374" cy="123246"/>
              </a:xfrm>
              <a:custGeom>
                <a:avLst/>
                <a:gdLst/>
                <a:ahLst/>
                <a:cxnLst/>
                <a:rect l="0" t="0" r="r" b="b"/>
                <a:pathLst>
                  <a:path w="1000" h="1000" stroke="0">
                    <a:moveTo>
                      <a:pt x="0" y="1000"/>
                    </a:moveTo>
                    <a:lnTo>
                      <a:pt x="120" y="80"/>
                    </a:lnTo>
                    <a:cubicBezTo>
                      <a:pt x="330" y="-40"/>
                      <a:pt x="660" y="0"/>
                      <a:pt x="840" y="150"/>
                    </a:cubicBezTo>
                    <a:lnTo>
                      <a:pt x="1000" y="1000"/>
                    </a:lnTo>
                    <a:close/>
                  </a:path>
                </a:pathLst>
              </a:custGeom>
              <a:solidFill>
                <a:srgbClr val="EFCB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4" name="Editable vector path"/>
              <p:cNvSpPr/>
              <p:nvPr/>
            </p:nvSpPr>
            <p:spPr>
              <a:xfrm>
                <a:off x="690874" y="6540139"/>
                <a:ext cx="320018" cy="38514"/>
              </a:xfrm>
              <a:custGeom>
                <a:avLst/>
                <a:gdLst/>
                <a:ahLst/>
                <a:cxnLst/>
                <a:rect l="0" t="0" r="r" b="b"/>
                <a:pathLst>
                  <a:path w="1000" h="1000" stroke="0">
                    <a:moveTo>
                      <a:pt x="0" y="0"/>
                    </a:moveTo>
                    <a:lnTo>
                      <a:pt x="1000" y="0"/>
                    </a:lnTo>
                    <a:lnTo>
                      <a:pt x="1000" y="1000"/>
                    </a:lnTo>
                    <a:lnTo>
                      <a:pt x="0" y="1000"/>
                    </a:lnTo>
                    <a:close/>
                  </a:path>
                </a:pathLst>
              </a:custGeom>
              <a:solidFill>
                <a:srgbClr val="BA8A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5" name="Ellipse"/>
              <p:cNvSpPr/>
              <p:nvPr/>
            </p:nvSpPr>
            <p:spPr>
              <a:xfrm>
                <a:off x="581777" y="6547842"/>
                <a:ext cx="530939" cy="61623"/>
              </a:xfrm>
              <a:prstGeom prst="ellipse">
                <a:avLst/>
              </a:prstGeom>
              <a:solidFill>
                <a:srgbClr val="D7A557"/>
              </a:solidFill>
              <a:ln w="5715">
                <a:solidFill>
                  <a:srgbClr val="BA8A3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26" name="Ellipse"/>
              <p:cNvSpPr/>
              <p:nvPr/>
            </p:nvSpPr>
            <p:spPr>
              <a:xfrm>
                <a:off x="909069" y="6622561"/>
                <a:ext cx="23274" cy="13865"/>
              </a:xfrm>
              <a:prstGeom prst="ellipse">
                <a:avLst/>
              </a:prstGeom>
              <a:solidFill>
                <a:srgbClr val="3547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27" name="Editable connector"/>
              <p:cNvCxnSpPr/>
              <p:nvPr/>
            </p:nvCxnSpPr>
            <p:spPr>
              <a:xfrm flipV="1">
                <a:off x="899613" y="6607925"/>
                <a:ext cx="36366" cy="3851"/>
              </a:xfrm>
              <a:prstGeom prst="line">
                <a:avLst/>
              </a:prstGeom>
              <a:ln w="7620" cap="rnd">
                <a:solidFill>
                  <a:srgbClr val="60452E"/>
                </a:solidFill>
              </a:ln>
            </p:spPr>
            <p:style>
              <a:lnRef idx="2">
                <a:schemeClr val="accent1"/>
              </a:lnRef>
              <a:fillRef idx="0">
                <a:schemeClr val="accent1"/>
              </a:fillRef>
              <a:effectRef idx="0">
                <a:schemeClr val="accent1"/>
              </a:effectRef>
              <a:fontRef idx="minor">
                <a:schemeClr val="tx1"/>
              </a:fontRef>
            </p:style>
          </p:cxnSp>
          <p:grpSp>
            <p:nvGrpSpPr>
              <p:cNvPr id="10228" name="Connector route"/>
              <p:cNvGrpSpPr/>
              <p:nvPr/>
            </p:nvGrpSpPr>
            <p:grpSpPr>
              <a:xfrm>
                <a:off x="949071" y="6642588"/>
                <a:ext cx="34911" cy="24649"/>
                <a:chOff x="949071" y="6642588"/>
                <a:chExt cx="34911" cy="24649"/>
              </a:xfrm>
            </p:grpSpPr>
            <p:cxnSp>
              <p:nvCxnSpPr>
                <p:cNvPr id="10229" name="Connector route / segment 1"/>
                <p:cNvCxnSpPr/>
                <p:nvPr/>
              </p:nvCxnSpPr>
              <p:spPr>
                <a:xfrm>
                  <a:off x="956344" y="6642588"/>
                  <a:ext cx="27638" cy="19257"/>
                </a:xfrm>
                <a:prstGeom prst="line">
                  <a:avLst/>
                </a:prstGeom>
                <a:ln w="6350" cap="rnd">
                  <a:solidFill>
                    <a:srgbClr val="60452E"/>
                  </a:solidFill>
                </a:ln>
              </p:spPr>
              <p:style>
                <a:lnRef idx="2">
                  <a:schemeClr val="accent1"/>
                </a:lnRef>
                <a:fillRef idx="0">
                  <a:schemeClr val="accent1"/>
                </a:fillRef>
                <a:effectRef idx="0">
                  <a:schemeClr val="accent1"/>
                </a:effectRef>
                <a:fontRef idx="minor">
                  <a:schemeClr val="tx1"/>
                </a:fontRef>
              </p:style>
            </p:cxnSp>
            <p:cxnSp>
              <p:nvCxnSpPr>
                <p:cNvPr id="10230" name="Connector route / segment 2"/>
                <p:cNvCxnSpPr/>
                <p:nvPr/>
              </p:nvCxnSpPr>
              <p:spPr>
                <a:xfrm flipH="1">
                  <a:off x="949071" y="6661845"/>
                  <a:ext cx="34911" cy="5392"/>
                </a:xfrm>
                <a:prstGeom prst="line">
                  <a:avLst/>
                </a:prstGeom>
                <a:ln w="6350" cap="rnd">
                  <a:solidFill>
                    <a:srgbClr val="60452E"/>
                  </a:solidFill>
                </a:ln>
              </p:spPr>
              <p:style>
                <a:lnRef idx="2">
                  <a:schemeClr val="accent1"/>
                </a:lnRef>
                <a:fillRef idx="0">
                  <a:schemeClr val="accent1"/>
                </a:fillRef>
                <a:effectRef idx="0">
                  <a:schemeClr val="accent1"/>
                </a:effectRef>
                <a:fontRef idx="minor">
                  <a:schemeClr val="tx1"/>
                </a:fontRef>
              </p:style>
            </p:cxnSp>
          </p:grpSp>
          <p:sp>
            <p:nvSpPr>
              <p:cNvPr id="10231" name="Editable vector path"/>
              <p:cNvSpPr/>
              <p:nvPr/>
            </p:nvSpPr>
            <p:spPr>
              <a:xfrm>
                <a:off x="879976" y="6690346"/>
                <a:ext cx="69094" cy="19257"/>
              </a:xfrm>
              <a:custGeom>
                <a:avLst/>
                <a:gdLst/>
                <a:ahLst/>
                <a:cxnLst/>
                <a:rect l="0" t="0" r="r" b="b"/>
                <a:pathLst>
                  <a:path w="1000" h="1000" fill="none">
                    <a:moveTo>
                      <a:pt x="0" y="0"/>
                    </a:moveTo>
                    <a:cubicBezTo>
                      <a:pt x="300" y="900"/>
                      <a:pt x="710" y="950"/>
                      <a:pt x="1000" y="0"/>
                    </a:cubicBezTo>
                  </a:path>
                </a:pathLst>
              </a:custGeom>
              <a:noFill/>
              <a:ln w="6985">
                <a:solidFill>
                  <a:srgbClr val="60452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32" name="Editable polygon"/>
              <p:cNvSpPr/>
              <p:nvPr/>
            </p:nvSpPr>
            <p:spPr>
              <a:xfrm>
                <a:off x="749060" y="6771227"/>
                <a:ext cx="109097" cy="77029"/>
              </a:xfrm>
              <a:custGeom>
                <a:avLst/>
                <a:gdLst/>
                <a:ahLst/>
                <a:cxnLst/>
                <a:rect l="0" t="0" r="r" b="b"/>
                <a:pathLst>
                  <a:path w="1000" h="1000" stroke="0">
                    <a:moveTo>
                      <a:pt x="400" y="0"/>
                    </a:moveTo>
                    <a:lnTo>
                      <a:pt x="1000" y="700"/>
                    </a:lnTo>
                    <a:lnTo>
                      <a:pt x="467" y="1000"/>
                    </a:lnTo>
                    <a:lnTo>
                      <a:pt x="0" y="200"/>
                    </a:lnTo>
                    <a:close/>
                  </a:path>
                </a:pathLst>
              </a:custGeom>
              <a:solidFill>
                <a:srgbClr val="ED9C4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33" name="Editable polygon"/>
              <p:cNvSpPr/>
              <p:nvPr/>
            </p:nvSpPr>
            <p:spPr>
              <a:xfrm>
                <a:off x="865430" y="6771227"/>
                <a:ext cx="116370" cy="69326"/>
              </a:xfrm>
              <a:custGeom>
                <a:avLst/>
                <a:gdLst/>
                <a:ahLst/>
                <a:cxnLst/>
                <a:rect l="0" t="0" r="r" b="b"/>
                <a:pathLst>
                  <a:path w="1000" h="1000" stroke="0">
                    <a:moveTo>
                      <a:pt x="562" y="0"/>
                    </a:moveTo>
                    <a:lnTo>
                      <a:pt x="0" y="778"/>
                    </a:lnTo>
                    <a:lnTo>
                      <a:pt x="625" y="1000"/>
                    </a:lnTo>
                    <a:lnTo>
                      <a:pt x="1000" y="333"/>
                    </a:lnTo>
                    <a:close/>
                  </a:path>
                </a:pathLst>
              </a:custGeom>
              <a:solidFill>
                <a:srgbClr val="ED9C4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34" name="Editable polygon"/>
              <p:cNvSpPr/>
              <p:nvPr/>
            </p:nvSpPr>
            <p:spPr>
              <a:xfrm>
                <a:off x="785425" y="6809741"/>
                <a:ext cx="400022" cy="277304"/>
              </a:xfrm>
              <a:custGeom>
                <a:avLst/>
                <a:gdLst/>
                <a:ahLst/>
                <a:cxnLst/>
                <a:rect l="0" t="0" r="r" b="b"/>
                <a:pathLst>
                  <a:path w="1000" h="1000" stroke="0">
                    <a:moveTo>
                      <a:pt x="145" y="306"/>
                    </a:moveTo>
                    <a:lnTo>
                      <a:pt x="1000" y="0"/>
                    </a:lnTo>
                    <a:lnTo>
                      <a:pt x="855" y="750"/>
                    </a:lnTo>
                    <a:lnTo>
                      <a:pt x="0" y="1000"/>
                    </a:lnTo>
                    <a:close/>
                  </a:path>
                </a:pathLst>
              </a:custGeom>
              <a:solidFill>
                <a:srgbClr val="213E5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35" name="Editable polygon"/>
              <p:cNvSpPr/>
              <p:nvPr/>
            </p:nvSpPr>
            <p:spPr>
              <a:xfrm>
                <a:off x="818154" y="6832850"/>
                <a:ext cx="341837" cy="223384"/>
              </a:xfrm>
              <a:custGeom>
                <a:avLst/>
                <a:gdLst/>
                <a:ahLst/>
                <a:cxnLst/>
                <a:rect l="0" t="0" r="r" b="b"/>
                <a:pathLst>
                  <a:path w="1000" h="1000" stroke="0">
                    <a:moveTo>
                      <a:pt x="138" y="328"/>
                    </a:moveTo>
                    <a:lnTo>
                      <a:pt x="1000" y="0"/>
                    </a:lnTo>
                    <a:lnTo>
                      <a:pt x="862" y="707"/>
                    </a:lnTo>
                    <a:lnTo>
                      <a:pt x="0" y="1000"/>
                    </a:lnTo>
                    <a:close/>
                  </a:path>
                </a:pathLst>
              </a:custGeom>
              <a:solidFill>
                <a:srgbClr val="CBDD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36" name="Editable connector"/>
              <p:cNvCxnSpPr/>
              <p:nvPr/>
            </p:nvCxnSpPr>
            <p:spPr>
              <a:xfrm flipV="1">
                <a:off x="879976" y="6875986"/>
                <a:ext cx="218194" cy="53920"/>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cxnSp>
            <p:nvCxnSpPr>
              <p:cNvPr id="10237" name="Editable connector"/>
              <p:cNvCxnSpPr/>
              <p:nvPr/>
            </p:nvCxnSpPr>
            <p:spPr>
              <a:xfrm flipV="1">
                <a:off x="867612" y="6912190"/>
                <a:ext cx="218194" cy="53920"/>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cxnSp>
            <p:nvCxnSpPr>
              <p:cNvPr id="10238" name="Editable connector"/>
              <p:cNvCxnSpPr/>
              <p:nvPr/>
            </p:nvCxnSpPr>
            <p:spPr>
              <a:xfrm flipV="1">
                <a:off x="855247" y="6948393"/>
                <a:ext cx="218194" cy="53921"/>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sp>
            <p:nvSpPr>
              <p:cNvPr id="10239" name="Editable vector path"/>
              <p:cNvSpPr/>
              <p:nvPr/>
            </p:nvSpPr>
            <p:spPr>
              <a:xfrm>
                <a:off x="592687" y="6917582"/>
                <a:ext cx="392749" cy="157909"/>
              </a:xfrm>
              <a:custGeom>
                <a:avLst/>
                <a:gdLst/>
                <a:ahLst/>
                <a:cxnLst/>
                <a:rect l="0" t="0" r="r" b="b"/>
                <a:pathLst>
                  <a:path w="1000" h="1000" stroke="0">
                    <a:moveTo>
                      <a:pt x="0" y="0"/>
                    </a:moveTo>
                    <a:lnTo>
                      <a:pt x="220" y="100"/>
                    </a:lnTo>
                    <a:lnTo>
                      <a:pt x="355" y="505"/>
                    </a:lnTo>
                    <a:lnTo>
                      <a:pt x="850" y="555"/>
                    </a:lnTo>
                    <a:lnTo>
                      <a:pt x="1000" y="710"/>
                    </a:lnTo>
                    <a:lnTo>
                      <a:pt x="850" y="935"/>
                    </a:lnTo>
                    <a:lnTo>
                      <a:pt x="290" y="1000"/>
                    </a:lnTo>
                    <a:cubicBezTo>
                      <a:pt x="95" y="935"/>
                      <a:pt x="50" y="520"/>
                      <a:pt x="0" y="0"/>
                    </a:cubicBezTo>
                    <a:close/>
                  </a:path>
                </a:pathLst>
              </a:custGeom>
              <a:solidFill>
                <a:srgbClr val="8359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40" name="Editable vector path"/>
              <p:cNvSpPr/>
              <p:nvPr/>
            </p:nvSpPr>
            <p:spPr>
              <a:xfrm>
                <a:off x="581777" y="6825147"/>
                <a:ext cx="196374" cy="138652"/>
              </a:xfrm>
              <a:custGeom>
                <a:avLst/>
                <a:gdLst/>
                <a:ahLst/>
                <a:cxnLst/>
                <a:rect l="0" t="0" r="r" b="b"/>
                <a:pathLst>
                  <a:path w="1000" h="1000" stroke="0">
                    <a:moveTo>
                      <a:pt x="320" y="0"/>
                    </a:moveTo>
                    <a:cubicBezTo>
                      <a:pt x="650" y="10"/>
                      <a:pt x="1000" y="290"/>
                      <a:pt x="1000" y="700"/>
                    </a:cubicBezTo>
                    <a:lnTo>
                      <a:pt x="530" y="1000"/>
                    </a:lnTo>
                    <a:lnTo>
                      <a:pt x="0" y="790"/>
                    </a:lnTo>
                    <a:cubicBezTo>
                      <a:pt x="0" y="390"/>
                      <a:pt x="95" y="50"/>
                      <a:pt x="320" y="0"/>
                    </a:cubicBezTo>
                    <a:close/>
                  </a:path>
                </a:pathLst>
              </a:custGeom>
              <a:solidFill>
                <a:srgbClr val="D77B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41" name="Ellipse"/>
              <p:cNvSpPr/>
              <p:nvPr/>
            </p:nvSpPr>
            <p:spPr>
              <a:xfrm>
                <a:off x="1116353" y="6891392"/>
                <a:ext cx="63276" cy="69326"/>
              </a:xfrm>
              <a:prstGeom prst="ellipse">
                <a:avLst/>
              </a:prstGeom>
              <a:solidFill>
                <a:srgbClr val="8359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42" name="Editable connector"/>
              <p:cNvCxnSpPr/>
              <p:nvPr/>
            </p:nvCxnSpPr>
            <p:spPr>
              <a:xfrm>
                <a:off x="1134536" y="6920663"/>
                <a:ext cx="7273" cy="15406"/>
              </a:xfrm>
              <a:prstGeom prst="line">
                <a:avLst/>
              </a:prstGeom>
              <a:ln w="5080" cap="rnd">
                <a:solidFill>
                  <a:srgbClr val="60452E"/>
                </a:solidFill>
              </a:ln>
            </p:spPr>
            <p:style>
              <a:lnRef idx="2">
                <a:schemeClr val="accent1"/>
              </a:lnRef>
              <a:fillRef idx="0">
                <a:schemeClr val="accent1"/>
              </a:fillRef>
              <a:effectRef idx="0">
                <a:schemeClr val="accent1"/>
              </a:effectRef>
              <a:fontRef idx="minor">
                <a:schemeClr val="tx1"/>
              </a:fontRef>
            </p:style>
          </p:cxnSp>
          <p:cxnSp>
            <p:nvCxnSpPr>
              <p:cNvPr id="10243" name="Editable connector"/>
              <p:cNvCxnSpPr/>
              <p:nvPr/>
            </p:nvCxnSpPr>
            <p:spPr>
              <a:xfrm>
                <a:off x="1143264" y="6920663"/>
                <a:ext cx="7273" cy="15406"/>
              </a:xfrm>
              <a:prstGeom prst="line">
                <a:avLst/>
              </a:prstGeom>
              <a:ln w="5080" cap="rnd">
                <a:solidFill>
                  <a:srgbClr val="60452E"/>
                </a:solidFill>
              </a:ln>
            </p:spPr>
            <p:style>
              <a:lnRef idx="2">
                <a:schemeClr val="accent1"/>
              </a:lnRef>
              <a:fillRef idx="0">
                <a:schemeClr val="accent1"/>
              </a:fillRef>
              <a:effectRef idx="0">
                <a:schemeClr val="accent1"/>
              </a:effectRef>
              <a:fontRef idx="minor">
                <a:schemeClr val="tx1"/>
              </a:fontRef>
            </p:style>
          </p:cxnSp>
          <p:cxnSp>
            <p:nvCxnSpPr>
              <p:cNvPr id="10244" name="Editable connector"/>
              <p:cNvCxnSpPr/>
              <p:nvPr/>
            </p:nvCxnSpPr>
            <p:spPr>
              <a:xfrm>
                <a:off x="1151991" y="6920663"/>
                <a:ext cx="7273" cy="15406"/>
              </a:xfrm>
              <a:prstGeom prst="line">
                <a:avLst/>
              </a:prstGeom>
              <a:ln w="5080" cap="rnd">
                <a:solidFill>
                  <a:srgbClr val="60452E"/>
                </a:solidFill>
              </a:ln>
            </p:spPr>
            <p:style>
              <a:lnRef idx="2">
                <a:schemeClr val="accent1"/>
              </a:lnRef>
              <a:fillRef idx="0">
                <a:schemeClr val="accent1"/>
              </a:fillRef>
              <a:effectRef idx="0">
                <a:schemeClr val="accent1"/>
              </a:effectRef>
              <a:fontRef idx="minor">
                <a:schemeClr val="tx1"/>
              </a:fontRef>
            </p:style>
          </p:cxnSp>
        </p:grpSp>
      </p:grpSp>
      <p:sp>
        <p:nvSpPr>
          <p:cNvPr id="10245" name="Africa T1 box"/>
          <p:cNvSpPr/>
          <p:nvPr/>
        </p:nvSpPr>
        <p:spPr>
          <a:xfrm>
            <a:off x="1874520" y="6867144"/>
            <a:ext cx="2926080" cy="1188720"/>
          </a:xfrm>
          <a:prstGeom prst="roundRect">
            <a:avLst>
              <a:gd name="adj" fmla="val 5000"/>
            </a:avLst>
          </a:prstGeom>
          <a:solidFill>
            <a:srgbClr val="FFFFFF"/>
          </a:solidFill>
          <a:ln w="8255">
            <a:solidFill>
              <a:srgbClr val="E6AB80"/>
            </a:solidFill>
          </a:ln>
        </p:spPr>
        <p:txBody>
          <a:bodyPr/>
          <a:lstStyle/>
          <a:p>
            <a:endParaRPr lang="en-US"/>
          </a:p>
        </p:txBody>
      </p:sp>
      <p:sp>
        <p:nvSpPr>
          <p:cNvPr id="10246" name="Africa T1 label"/>
          <p:cNvSpPr txBox="1"/>
          <p:nvPr/>
        </p:nvSpPr>
        <p:spPr>
          <a:xfrm>
            <a:off x="2002536" y="6958584"/>
            <a:ext cx="548640" cy="365760"/>
          </a:xfrm>
          <a:prstGeom prst="rect">
            <a:avLst/>
          </a:prstGeom>
          <a:noFill/>
        </p:spPr>
        <p:txBody>
          <a:bodyPr wrap="square" lIns="0" tIns="0" rIns="0" bIns="0" anchor="t">
            <a:noAutofit/>
          </a:bodyPr>
          <a:lstStyle/>
          <a:p>
            <a:pPr algn="l">
              <a:lnSpc>
                <a:spcPct val="95000"/>
              </a:lnSpc>
            </a:pPr>
            <a:r>
              <a:rPr lang="en-US" sz="1900" b="1" i="0" dirty="0">
                <a:solidFill>
                  <a:srgbClr val="CF6224"/>
                </a:solidFill>
                <a:latin typeface="Arial"/>
                <a:cs typeface="Arial"/>
              </a:rPr>
              <a:t xml:space="preserve">T1</a:t>
            </a:r>
          </a:p>
        </p:txBody>
      </p:sp>
      <p:grpSp>
        <p:nvGrpSpPr>
          <p:cNvPr id="10247" name="Crop plant icon"/>
          <p:cNvGrpSpPr/>
          <p:nvPr/>
        </p:nvGrpSpPr>
        <p:grpSpPr>
          <a:xfrm>
            <a:off x="4246657" y="6976872"/>
            <a:ext cx="425927" cy="384048"/>
            <a:chOff x="1839772" y="6849221"/>
            <a:chExt cx="239939" cy="216347"/>
          </a:xfrm>
        </p:grpSpPr>
        <p:grpSp>
          <p:nvGrpSpPr>
            <p:cNvPr id="10248" name="Connector route"/>
            <p:cNvGrpSpPr/>
            <p:nvPr/>
          </p:nvGrpSpPr>
          <p:grpSpPr>
            <a:xfrm>
              <a:off x="1950963" y="6849221"/>
              <a:ext cx="40965" cy="209215"/>
              <a:chOff x="1950963" y="6849221"/>
              <a:chExt cx="40965" cy="209215"/>
            </a:xfrm>
          </p:grpSpPr>
          <p:cxnSp>
            <p:nvCxnSpPr>
              <p:cNvPr id="10249" name="Connector route / segment 1"/>
              <p:cNvCxnSpPr/>
              <p:nvPr/>
            </p:nvCxnSpPr>
            <p:spPr>
              <a:xfrm flipV="1">
                <a:off x="1950963" y="6934809"/>
                <a:ext cx="5853" cy="123627"/>
              </a:xfrm>
              <a:prstGeom prst="line">
                <a:avLst/>
              </a:prstGeom>
              <a:ln w="17780" cap="rnd">
                <a:solidFill>
                  <a:srgbClr val="CF6224"/>
                </a:solidFill>
              </a:ln>
            </p:spPr>
            <p:style>
              <a:lnRef idx="2">
                <a:schemeClr val="accent1"/>
              </a:lnRef>
              <a:fillRef idx="0">
                <a:schemeClr val="accent1"/>
              </a:fillRef>
              <a:effectRef idx="0">
                <a:schemeClr val="accent1"/>
              </a:effectRef>
              <a:fontRef idx="minor">
                <a:schemeClr val="tx1"/>
              </a:fontRef>
            </p:style>
          </p:cxnSp>
          <p:cxnSp>
            <p:nvCxnSpPr>
              <p:cNvPr id="10250" name="Connector route / segment 2"/>
              <p:cNvCxnSpPr/>
              <p:nvPr/>
            </p:nvCxnSpPr>
            <p:spPr>
              <a:xfrm flipV="1">
                <a:off x="1956816" y="6849221"/>
                <a:ext cx="35112" cy="85588"/>
              </a:xfrm>
              <a:prstGeom prst="line">
                <a:avLst/>
              </a:prstGeom>
              <a:ln w="17780" cap="rnd">
                <a:solidFill>
                  <a:srgbClr val="CF6224"/>
                </a:solidFill>
              </a:ln>
            </p:spPr>
            <p:style>
              <a:lnRef idx="2">
                <a:schemeClr val="accent1"/>
              </a:lnRef>
              <a:fillRef idx="0">
                <a:schemeClr val="accent1"/>
              </a:fillRef>
              <a:effectRef idx="0">
                <a:schemeClr val="accent1"/>
              </a:effectRef>
              <a:fontRef idx="minor">
                <a:schemeClr val="tx1"/>
              </a:fontRef>
            </p:style>
          </p:cxnSp>
        </p:grpSp>
        <p:sp>
          <p:nvSpPr>
            <p:cNvPr id="10251" name="Editable vector path"/>
            <p:cNvSpPr/>
            <p:nvPr/>
          </p:nvSpPr>
          <p:spPr>
            <a:xfrm>
              <a:off x="1839772" y="6927677"/>
              <a:ext cx="114117" cy="71323"/>
            </a:xfrm>
            <a:custGeom>
              <a:avLst/>
              <a:gdLst/>
              <a:ahLst/>
              <a:cxnLst/>
              <a:rect l="0" t="0" r="r" b="b"/>
              <a:pathLst>
                <a:path w="1000" h="1000">
                  <a:moveTo>
                    <a:pt x="950" y="980"/>
                  </a:moveTo>
                  <a:cubicBezTo>
                    <a:pt x="200" y="940"/>
                    <a:pt x="0" y="330"/>
                    <a:pt x="0" y="0"/>
                  </a:cubicBezTo>
                  <a:cubicBezTo>
                    <a:pt x="660" y="60"/>
                    <a:pt x="1000" y="410"/>
                    <a:pt x="950" y="980"/>
                  </a:cubicBezTo>
                  <a:close/>
                </a:path>
              </a:pathLst>
            </a:custGeom>
            <a:solidFill>
              <a:srgbClr val="EFF8F0"/>
            </a:solidFill>
            <a:ln w="14604">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52" name="Editable vector path"/>
            <p:cNvSpPr/>
            <p:nvPr/>
          </p:nvSpPr>
          <p:spPr>
            <a:xfrm rot="6000000">
              <a:off x="1965594" y="6903902"/>
              <a:ext cx="114117" cy="73700"/>
            </a:xfrm>
            <a:custGeom>
              <a:avLst/>
              <a:gdLst/>
              <a:ahLst/>
              <a:cxnLst/>
              <a:rect l="0" t="0" r="r" b="b"/>
              <a:pathLst>
                <a:path w="1000" h="1000">
                  <a:moveTo>
                    <a:pt x="950" y="980"/>
                  </a:moveTo>
                  <a:cubicBezTo>
                    <a:pt x="200" y="940"/>
                    <a:pt x="0" y="330"/>
                    <a:pt x="0" y="0"/>
                  </a:cubicBezTo>
                  <a:cubicBezTo>
                    <a:pt x="660" y="60"/>
                    <a:pt x="1000" y="410"/>
                    <a:pt x="950" y="980"/>
                  </a:cubicBezTo>
                  <a:close/>
                </a:path>
              </a:pathLst>
            </a:custGeom>
            <a:solidFill>
              <a:srgbClr val="EFF8F0"/>
            </a:solidFill>
            <a:ln w="14604">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53" name="Editable vector path"/>
            <p:cNvSpPr/>
            <p:nvPr/>
          </p:nvSpPr>
          <p:spPr>
            <a:xfrm>
              <a:off x="1863181" y="6851599"/>
              <a:ext cx="102412" cy="71323"/>
            </a:xfrm>
            <a:custGeom>
              <a:avLst/>
              <a:gdLst/>
              <a:ahLst/>
              <a:cxnLst/>
              <a:rect l="0" t="0" r="r" b="b"/>
              <a:pathLst>
                <a:path w="1000" h="1000">
                  <a:moveTo>
                    <a:pt x="950" y="980"/>
                  </a:moveTo>
                  <a:cubicBezTo>
                    <a:pt x="200" y="940"/>
                    <a:pt x="0" y="330"/>
                    <a:pt x="0" y="0"/>
                  </a:cubicBezTo>
                  <a:cubicBezTo>
                    <a:pt x="660" y="60"/>
                    <a:pt x="1000" y="410"/>
                    <a:pt x="950" y="980"/>
                  </a:cubicBezTo>
                  <a:close/>
                </a:path>
              </a:pathLst>
            </a:custGeom>
            <a:solidFill>
              <a:srgbClr val="EFF8F0"/>
            </a:solidFill>
            <a:ln w="14604">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54" name="Editable connector"/>
            <p:cNvCxnSpPr/>
            <p:nvPr/>
          </p:nvCxnSpPr>
          <p:spPr>
            <a:xfrm>
              <a:off x="1851477" y="7065568"/>
              <a:ext cx="210677" cy="0"/>
            </a:xfrm>
            <a:prstGeom prst="line">
              <a:avLst/>
            </a:prstGeom>
            <a:ln w="12700" cap="rnd">
              <a:solidFill>
                <a:srgbClr val="CF6224"/>
              </a:solidFill>
            </a:ln>
          </p:spPr>
          <p:style>
            <a:lnRef idx="2">
              <a:schemeClr val="accent1"/>
            </a:lnRef>
            <a:fillRef idx="0">
              <a:schemeClr val="accent1"/>
            </a:fillRef>
            <a:effectRef idx="0">
              <a:schemeClr val="accent1"/>
            </a:effectRef>
            <a:fontRef idx="minor">
              <a:schemeClr val="tx1"/>
            </a:fontRef>
          </p:style>
        </p:cxnSp>
      </p:grpSp>
      <p:sp>
        <p:nvSpPr>
          <p:cNvPr id="10255" name="Africa T1 text"/>
          <p:cNvSpPr txBox="1"/>
          <p:nvPr/>
        </p:nvSpPr>
        <p:spPr>
          <a:xfrm>
            <a:off x="2002536" y="7379208"/>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Manager and plot profile; main crop</a:t>
            </a:r>
          </a:p>
        </p:txBody>
      </p:sp>
      <p:cxnSp>
        <p:nvCxnSpPr>
          <p:cNvPr id="10256" name="Africa T1 to T2"/>
          <p:cNvCxnSpPr/>
          <p:nvPr/>
        </p:nvCxnSpPr>
        <p:spPr>
          <a:xfrm>
            <a:off x="4818888" y="7461504"/>
            <a:ext cx="164592" cy="0"/>
          </a:xfrm>
          <a:prstGeom prst="straightConnector1">
            <a:avLst/>
          </a:prstGeom>
          <a:ln w="19050">
            <a:solidFill>
              <a:srgbClr val="CF6224"/>
            </a:solidFill>
            <a:tailEnd type="triangle" w="med" len="med"/>
          </a:ln>
        </p:spPr>
      </p:cxnSp>
      <p:sp>
        <p:nvSpPr>
          <p:cNvPr id="10257" name="Africa T2 box"/>
          <p:cNvSpPr/>
          <p:nvPr/>
        </p:nvSpPr>
        <p:spPr>
          <a:xfrm>
            <a:off x="5001768" y="6867144"/>
            <a:ext cx="2926080" cy="1188720"/>
          </a:xfrm>
          <a:prstGeom prst="roundRect">
            <a:avLst>
              <a:gd name="adj" fmla="val 5000"/>
            </a:avLst>
          </a:prstGeom>
          <a:solidFill>
            <a:srgbClr val="FFFFFF"/>
          </a:solidFill>
          <a:ln w="8255">
            <a:solidFill>
              <a:srgbClr val="E6AB80"/>
            </a:solidFill>
          </a:ln>
        </p:spPr>
        <p:txBody>
          <a:bodyPr/>
          <a:lstStyle/>
          <a:p>
            <a:endParaRPr lang="en-US"/>
          </a:p>
        </p:txBody>
      </p:sp>
      <p:sp>
        <p:nvSpPr>
          <p:cNvPr id="10258" name="Africa T2 label"/>
          <p:cNvSpPr txBox="1"/>
          <p:nvPr/>
        </p:nvSpPr>
        <p:spPr>
          <a:xfrm>
            <a:off x="5129784" y="6958584"/>
            <a:ext cx="548640" cy="365760"/>
          </a:xfrm>
          <a:prstGeom prst="rect">
            <a:avLst/>
          </a:prstGeom>
          <a:noFill/>
        </p:spPr>
        <p:txBody>
          <a:bodyPr wrap="square" lIns="0" tIns="0" rIns="0" bIns="0" anchor="t">
            <a:noAutofit/>
          </a:bodyPr>
          <a:lstStyle/>
          <a:p>
            <a:pPr algn="l">
              <a:lnSpc>
                <a:spcPct val="95000"/>
              </a:lnSpc>
            </a:pPr>
            <a:r>
              <a:rPr lang="en-US" sz="1900" b="1" i="0" dirty="0">
                <a:solidFill>
                  <a:srgbClr val="CF6224"/>
                </a:solidFill>
                <a:latin typeface="Arial"/>
                <a:cs typeface="Arial"/>
              </a:rPr>
              <a:t xml:space="preserve">T2</a:t>
            </a:r>
          </a:p>
        </p:txBody>
      </p:sp>
      <p:grpSp>
        <p:nvGrpSpPr>
          <p:cNvPr id="10259" name="Location pin icon"/>
          <p:cNvGrpSpPr/>
          <p:nvPr/>
        </p:nvGrpSpPr>
        <p:grpSpPr>
          <a:xfrm>
            <a:off x="7446508" y="6976872"/>
            <a:ext cx="353324" cy="384048"/>
            <a:chOff x="3118104" y="6848856"/>
            <a:chExt cx="210312" cy="228600"/>
          </a:xfrm>
        </p:grpSpPr>
        <p:sp>
          <p:nvSpPr>
            <p:cNvPr id="10260" name="Editable vector path"/>
            <p:cNvSpPr/>
            <p:nvPr/>
          </p:nvSpPr>
          <p:spPr>
            <a:xfrm>
              <a:off x="3118104" y="6848856"/>
              <a:ext cx="210312" cy="228600"/>
            </a:xfrm>
            <a:custGeom>
              <a:avLst/>
              <a:gdLst/>
              <a:ahLst/>
              <a:cxnLst/>
              <a:rect l="0" t="0" r="r" b="b"/>
              <a:pathLst>
                <a:path w="1000" h="1000" stroke="0">
                  <a:moveTo>
                    <a:pt x="500" y="1000"/>
                  </a:moveTo>
                  <a:cubicBezTo>
                    <a:pt x="320" y="700"/>
                    <a:pt x="0" y="460"/>
                    <a:pt x="0" y="280"/>
                  </a:cubicBezTo>
                  <a:cubicBezTo>
                    <a:pt x="0" y="-70"/>
                    <a:pt x="1000" y="-70"/>
                    <a:pt x="1000" y="280"/>
                  </a:cubicBezTo>
                  <a:cubicBezTo>
                    <a:pt x="1000" y="460"/>
                    <a:pt x="680" y="700"/>
                    <a:pt x="500" y="1000"/>
                  </a:cubicBezTo>
                  <a:close/>
                </a:path>
              </a:pathLst>
            </a:custGeom>
            <a:solidFill>
              <a:srgbClr val="CF622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61" name="Ellipse"/>
            <p:cNvSpPr/>
            <p:nvPr/>
          </p:nvSpPr>
          <p:spPr>
            <a:xfrm>
              <a:off x="3183300" y="6880860"/>
              <a:ext cx="79918" cy="70866"/>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262" name="Africa T2 text"/>
          <p:cNvSpPr txBox="1"/>
          <p:nvPr/>
        </p:nvSpPr>
        <p:spPr>
          <a:xfrm>
            <a:off x="5129784" y="7379208"/>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T1 + the country’s agro-ecological zones</a:t>
            </a:r>
          </a:p>
        </p:txBody>
      </p:sp>
      <p:cxnSp>
        <p:nvCxnSpPr>
          <p:cNvPr id="10263" name="Africa T2 to T3"/>
          <p:cNvCxnSpPr/>
          <p:nvPr/>
        </p:nvCxnSpPr>
        <p:spPr>
          <a:xfrm>
            <a:off x="7946136" y="7461504"/>
            <a:ext cx="164592" cy="0"/>
          </a:xfrm>
          <a:prstGeom prst="straightConnector1">
            <a:avLst/>
          </a:prstGeom>
          <a:ln w="19050">
            <a:solidFill>
              <a:srgbClr val="CF6224"/>
            </a:solidFill>
            <a:tailEnd type="triangle" w="med" len="med"/>
          </a:ln>
        </p:spPr>
      </p:cxnSp>
      <p:sp>
        <p:nvSpPr>
          <p:cNvPr id="10264" name="Africa T3 box"/>
          <p:cNvSpPr/>
          <p:nvPr/>
        </p:nvSpPr>
        <p:spPr>
          <a:xfrm>
            <a:off x="8129016" y="6867144"/>
            <a:ext cx="2926080" cy="1188720"/>
          </a:xfrm>
          <a:prstGeom prst="roundRect">
            <a:avLst>
              <a:gd name="adj" fmla="val 5000"/>
            </a:avLst>
          </a:prstGeom>
          <a:solidFill>
            <a:srgbClr val="FFFFFF"/>
          </a:solidFill>
          <a:ln w="8255">
            <a:solidFill>
              <a:srgbClr val="E6AB80"/>
            </a:solidFill>
          </a:ln>
        </p:spPr>
        <p:txBody>
          <a:bodyPr/>
          <a:lstStyle/>
          <a:p>
            <a:endParaRPr lang="en-US"/>
          </a:p>
        </p:txBody>
      </p:sp>
      <p:sp>
        <p:nvSpPr>
          <p:cNvPr id="10265" name="Africa T3 label"/>
          <p:cNvSpPr txBox="1"/>
          <p:nvPr/>
        </p:nvSpPr>
        <p:spPr>
          <a:xfrm>
            <a:off x="8257032" y="6958584"/>
            <a:ext cx="548640" cy="365760"/>
          </a:xfrm>
          <a:prstGeom prst="rect">
            <a:avLst/>
          </a:prstGeom>
          <a:noFill/>
        </p:spPr>
        <p:txBody>
          <a:bodyPr wrap="square" lIns="0" tIns="0" rIns="0" bIns="0" anchor="t">
            <a:noAutofit/>
          </a:bodyPr>
          <a:lstStyle/>
          <a:p>
            <a:pPr algn="l">
              <a:lnSpc>
                <a:spcPct val="95000"/>
              </a:lnSpc>
            </a:pPr>
            <a:r>
              <a:rPr lang="en-US" sz="1900" b="1" i="0" dirty="0">
                <a:solidFill>
                  <a:srgbClr val="CF6224"/>
                </a:solidFill>
                <a:latin typeface="Arial"/>
                <a:cs typeface="Arial"/>
              </a:rPr>
              <a:t xml:space="preserve">T3</a:t>
            </a:r>
          </a:p>
        </p:txBody>
      </p:sp>
      <p:grpSp>
        <p:nvGrpSpPr>
          <p:cNvPr id="10266" name="African cognitive scaffold"/>
          <p:cNvGrpSpPr/>
          <p:nvPr/>
        </p:nvGrpSpPr>
        <p:grpSpPr>
          <a:xfrm>
            <a:off x="10528261" y="6976872"/>
            <a:ext cx="398819" cy="384048"/>
            <a:chOff x="4370832" y="6839712"/>
            <a:chExt cx="246888" cy="237744"/>
          </a:xfrm>
        </p:grpSpPr>
        <p:sp>
          <p:nvSpPr>
            <p:cNvPr id="10267" name="Document sheet"/>
            <p:cNvSpPr/>
            <p:nvPr/>
          </p:nvSpPr>
          <p:spPr>
            <a:xfrm>
              <a:off x="4370832" y="6839712"/>
              <a:ext cx="246888" cy="237744"/>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68" name="Folded corner"/>
            <p:cNvSpPr/>
            <p:nvPr/>
          </p:nvSpPr>
          <p:spPr>
            <a:xfrm>
              <a:off x="4544888" y="6839712"/>
              <a:ext cx="72831" cy="59436"/>
            </a:xfrm>
            <a:custGeom>
              <a:avLst/>
              <a:gdLst/>
              <a:ahLst/>
              <a:cxnLst/>
              <a:rect l="0" t="0" r="r" b="b"/>
              <a:pathLst>
                <a:path w="1000" h="1000" fill="none">
                  <a:moveTo>
                    <a:pt x="0" y="0"/>
                  </a:moveTo>
                  <a:lnTo>
                    <a:pt x="0" y="1000"/>
                  </a:lnTo>
                  <a:lnTo>
                    <a:pt x="1000" y="1000"/>
                  </a:lnTo>
                </a:path>
              </a:pathLst>
            </a:custGeom>
            <a:noFill/>
            <a:ln w="12700">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69" name="Editable connector"/>
            <p:cNvCxnSpPr/>
            <p:nvPr/>
          </p:nvCxnSpPr>
          <p:spPr>
            <a:xfrm>
              <a:off x="4412802" y="6913412"/>
              <a:ext cx="108631" cy="0"/>
            </a:xfrm>
            <a:prstGeom prst="line">
              <a:avLst/>
            </a:prstGeom>
            <a:ln w="10160" cap="rnd">
              <a:solidFill>
                <a:srgbClr val="CF6224"/>
              </a:solidFill>
            </a:ln>
          </p:spPr>
          <p:style>
            <a:lnRef idx="2">
              <a:schemeClr val="accent1"/>
            </a:lnRef>
            <a:fillRef idx="0">
              <a:schemeClr val="accent1"/>
            </a:fillRef>
            <a:effectRef idx="0">
              <a:schemeClr val="accent1"/>
            </a:effectRef>
            <a:fontRef idx="minor">
              <a:schemeClr val="tx1"/>
            </a:fontRef>
          </p:style>
        </p:cxnSp>
        <p:cxnSp>
          <p:nvCxnSpPr>
            <p:cNvPr id="10270" name="Editable connector"/>
            <p:cNvCxnSpPr/>
            <p:nvPr/>
          </p:nvCxnSpPr>
          <p:spPr>
            <a:xfrm>
              <a:off x="4412802" y="6949074"/>
              <a:ext cx="158009" cy="0"/>
            </a:xfrm>
            <a:prstGeom prst="line">
              <a:avLst/>
            </a:prstGeom>
            <a:ln w="10160" cap="rnd">
              <a:solidFill>
                <a:srgbClr val="CF6224"/>
              </a:solidFill>
            </a:ln>
          </p:spPr>
          <p:style>
            <a:lnRef idx="2">
              <a:schemeClr val="accent1"/>
            </a:lnRef>
            <a:fillRef idx="0">
              <a:schemeClr val="accent1"/>
            </a:fillRef>
            <a:effectRef idx="0">
              <a:schemeClr val="accent1"/>
            </a:effectRef>
            <a:fontRef idx="minor">
              <a:schemeClr val="tx1"/>
            </a:fontRef>
          </p:style>
        </p:cxnSp>
        <p:cxnSp>
          <p:nvCxnSpPr>
            <p:cNvPr id="10271" name="Editable connector"/>
            <p:cNvCxnSpPr/>
            <p:nvPr/>
          </p:nvCxnSpPr>
          <p:spPr>
            <a:xfrm>
              <a:off x="4412802" y="6984735"/>
              <a:ext cx="158009" cy="0"/>
            </a:xfrm>
            <a:prstGeom prst="line">
              <a:avLst/>
            </a:prstGeom>
            <a:ln w="10160" cap="rnd">
              <a:solidFill>
                <a:srgbClr val="CF6224"/>
              </a:solidFill>
            </a:ln>
          </p:spPr>
          <p:style>
            <a:lnRef idx="2">
              <a:schemeClr val="accent1"/>
            </a:lnRef>
            <a:fillRef idx="0">
              <a:schemeClr val="accent1"/>
            </a:fillRef>
            <a:effectRef idx="0">
              <a:schemeClr val="accent1"/>
            </a:effectRef>
            <a:fontRef idx="minor">
              <a:schemeClr val="tx1"/>
            </a:fontRef>
          </p:style>
        </p:cxnSp>
        <p:cxnSp>
          <p:nvCxnSpPr>
            <p:cNvPr id="10272" name="Editable connector"/>
            <p:cNvCxnSpPr/>
            <p:nvPr/>
          </p:nvCxnSpPr>
          <p:spPr>
            <a:xfrm>
              <a:off x="4412802" y="7020397"/>
              <a:ext cx="111100" cy="0"/>
            </a:xfrm>
            <a:prstGeom prst="line">
              <a:avLst/>
            </a:prstGeom>
            <a:ln w="10160" cap="rnd">
              <a:solidFill>
                <a:srgbClr val="CF6224"/>
              </a:solidFill>
            </a:ln>
          </p:spPr>
          <p:style>
            <a:lnRef idx="2">
              <a:schemeClr val="accent1"/>
            </a:lnRef>
            <a:fillRef idx="0">
              <a:schemeClr val="accent1"/>
            </a:fillRef>
            <a:effectRef idx="0">
              <a:schemeClr val="accent1"/>
            </a:effectRef>
            <a:fontRef idx="minor">
              <a:schemeClr val="tx1"/>
            </a:fontRef>
          </p:style>
        </p:cxnSp>
      </p:grpSp>
      <p:sp>
        <p:nvSpPr>
          <p:cNvPr id="10273" name="Africa T3 text"/>
          <p:cNvSpPr txBox="1"/>
          <p:nvPr/>
        </p:nvSpPr>
        <p:spPr>
          <a:xfrm>
            <a:off x="8257032" y="7379208"/>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T2 + first-person guide; no numbers</a:t>
            </a:r>
          </a:p>
        </p:txBody>
      </p:sp>
      <p:cxnSp>
        <p:nvCxnSpPr>
          <p:cNvPr id="10274" name="Africa T3 to T4"/>
          <p:cNvCxnSpPr/>
          <p:nvPr/>
        </p:nvCxnSpPr>
        <p:spPr>
          <a:xfrm>
            <a:off x="11073384" y="7461504"/>
            <a:ext cx="164592" cy="0"/>
          </a:xfrm>
          <a:prstGeom prst="straightConnector1">
            <a:avLst/>
          </a:prstGeom>
          <a:ln w="19050">
            <a:solidFill>
              <a:srgbClr val="CF6224"/>
            </a:solidFill>
            <a:tailEnd type="triangle" w="med" len="med"/>
          </a:ln>
        </p:spPr>
      </p:cxnSp>
      <p:sp>
        <p:nvSpPr>
          <p:cNvPr id="10275" name="Africa T4 box"/>
          <p:cNvSpPr/>
          <p:nvPr/>
        </p:nvSpPr>
        <p:spPr>
          <a:xfrm>
            <a:off x="11256264" y="6867144"/>
            <a:ext cx="2926080" cy="1188720"/>
          </a:xfrm>
          <a:prstGeom prst="roundRect">
            <a:avLst>
              <a:gd name="adj" fmla="val 5000"/>
            </a:avLst>
          </a:prstGeom>
          <a:solidFill>
            <a:srgbClr val="FFFFFF"/>
          </a:solidFill>
          <a:ln w="8255">
            <a:solidFill>
              <a:srgbClr val="E6AB80"/>
            </a:solidFill>
          </a:ln>
        </p:spPr>
        <p:txBody>
          <a:bodyPr/>
          <a:lstStyle/>
          <a:p>
            <a:endParaRPr lang="en-US"/>
          </a:p>
        </p:txBody>
      </p:sp>
      <p:sp>
        <p:nvSpPr>
          <p:cNvPr id="10276" name="Africa T4 label"/>
          <p:cNvSpPr txBox="1"/>
          <p:nvPr/>
        </p:nvSpPr>
        <p:spPr>
          <a:xfrm>
            <a:off x="11384280" y="6958584"/>
            <a:ext cx="548640" cy="365760"/>
          </a:xfrm>
          <a:prstGeom prst="rect">
            <a:avLst/>
          </a:prstGeom>
          <a:noFill/>
        </p:spPr>
        <p:txBody>
          <a:bodyPr wrap="square" lIns="0" tIns="0" rIns="0" bIns="0" anchor="t">
            <a:noAutofit/>
          </a:bodyPr>
          <a:lstStyle/>
          <a:p>
            <a:pPr algn="l">
              <a:lnSpc>
                <a:spcPct val="95000"/>
              </a:lnSpc>
            </a:pPr>
            <a:r>
              <a:rPr lang="en-US" sz="1900" b="1" i="0" dirty="0">
                <a:solidFill>
                  <a:srgbClr val="CF6224"/>
                </a:solidFill>
                <a:latin typeface="Arial"/>
                <a:cs typeface="Arial"/>
              </a:rPr>
              <a:t xml:space="preserve">T4</a:t>
            </a:r>
          </a:p>
        </p:txBody>
      </p:sp>
      <p:grpSp>
        <p:nvGrpSpPr>
          <p:cNvPr id="10277" name="Practice ranges icon"/>
          <p:cNvGrpSpPr/>
          <p:nvPr/>
        </p:nvGrpSpPr>
        <p:grpSpPr>
          <a:xfrm>
            <a:off x="13492856" y="6976872"/>
            <a:ext cx="561472" cy="384048"/>
            <a:chOff x="6007607" y="6866229"/>
            <a:chExt cx="228600" cy="156363"/>
          </a:xfrm>
        </p:grpSpPr>
        <p:cxnSp>
          <p:nvCxnSpPr>
            <p:cNvPr id="10278" name="Editable connector"/>
            <p:cNvCxnSpPr/>
            <p:nvPr/>
          </p:nvCxnSpPr>
          <p:spPr>
            <a:xfrm>
              <a:off x="6007607" y="7022592"/>
              <a:ext cx="228600"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279" name="Editable connector"/>
            <p:cNvCxnSpPr/>
            <p:nvPr/>
          </p:nvCxnSpPr>
          <p:spPr>
            <a:xfrm flipV="1">
              <a:off x="6007607" y="6866229"/>
              <a:ext cx="0" cy="156363"/>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sp>
          <p:nvSpPr>
            <p:cNvPr id="10280" name="Panel"/>
            <p:cNvSpPr/>
            <p:nvPr/>
          </p:nvSpPr>
          <p:spPr>
            <a:xfrm>
              <a:off x="6035040" y="6956755"/>
              <a:ext cx="26289" cy="65836"/>
            </a:xfrm>
            <a:prstGeom prst="rect">
              <a:avLst/>
            </a:prstGeom>
            <a:solidFill>
              <a:srgbClr val="CF6224"/>
            </a:solidFill>
            <a:ln w="5715">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81" name="Panel"/>
            <p:cNvSpPr/>
            <p:nvPr/>
          </p:nvSpPr>
          <p:spPr>
            <a:xfrm>
              <a:off x="6083045" y="6910669"/>
              <a:ext cx="26289" cy="111922"/>
            </a:xfrm>
            <a:prstGeom prst="rect">
              <a:avLst/>
            </a:prstGeom>
            <a:solidFill>
              <a:srgbClr val="CF6224"/>
            </a:solidFill>
            <a:ln w="5715">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82" name="Panel"/>
            <p:cNvSpPr/>
            <p:nvPr/>
          </p:nvSpPr>
          <p:spPr>
            <a:xfrm>
              <a:off x="6131051" y="6937004"/>
              <a:ext cx="26289" cy="85587"/>
            </a:xfrm>
            <a:prstGeom prst="rect">
              <a:avLst/>
            </a:prstGeom>
            <a:solidFill>
              <a:srgbClr val="CF6224"/>
            </a:solidFill>
            <a:ln w="5715">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83" name="Panel"/>
            <p:cNvSpPr/>
            <p:nvPr/>
          </p:nvSpPr>
          <p:spPr>
            <a:xfrm>
              <a:off x="6179057" y="6874459"/>
              <a:ext cx="26289" cy="148132"/>
            </a:xfrm>
            <a:prstGeom prst="rect">
              <a:avLst/>
            </a:prstGeom>
            <a:solidFill>
              <a:srgbClr val="CF6224"/>
            </a:solidFill>
            <a:ln w="5715">
              <a:solidFill>
                <a:srgbClr val="CF62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284" name="Africa T4 text"/>
          <p:cNvSpPr txBox="1"/>
          <p:nvPr/>
        </p:nvSpPr>
        <p:spPr>
          <a:xfrm>
            <a:off x="11384280" y="7379208"/>
            <a:ext cx="2651760" cy="640080"/>
          </a:xfrm>
          <a:prstGeom prst="rect">
            <a:avLst/>
          </a:prstGeom>
          <a:noFill/>
        </p:spPr>
        <p:txBody>
          <a:bodyPr wrap="square" lIns="0" tIns="0" rIns="0" bIns="0" anchor="t">
            <a:noAutofit/>
          </a:bodyPr>
          <a:lstStyle/>
          <a:p>
            <a:pPr algn="l">
              <a:lnSpc>
                <a:spcPct val="95000"/>
              </a:lnSpc>
            </a:pPr>
            <a:r>
              <a:rPr lang="en-US" sz="1700" b="0" i="0" dirty="0">
                <a:solidFill>
                  <a:srgbClr val="123755"/>
                </a:solidFill>
                <a:latin typeface="Arial"/>
                <a:cs typeface="Arial"/>
              </a:rPr>
              <a:t xml:space="preserve">T3 + practice ranges and checks</a:t>
            </a:r>
          </a:p>
        </p:txBody>
      </p:sp>
      <p:sp>
        <p:nvSpPr>
          <p:cNvPr id="10285" name="Africa note box"/>
          <p:cNvSpPr/>
          <p:nvPr/>
        </p:nvSpPr>
        <p:spPr>
          <a:xfrm>
            <a:off x="1874520" y="8156448"/>
            <a:ext cx="12307824" cy="329184"/>
          </a:xfrm>
          <a:prstGeom prst="roundRect">
            <a:avLst>
              <a:gd name="adj" fmla="val 4000"/>
            </a:avLst>
          </a:prstGeom>
          <a:solidFill>
            <a:srgbClr val="FFF7DB"/>
          </a:solidFill>
          <a:ln w="5080">
            <a:solidFill>
              <a:srgbClr val="D8AF46"/>
            </a:solidFill>
          </a:ln>
        </p:spPr>
        <p:txBody>
          <a:bodyPr/>
          <a:lstStyle/>
          <a:p>
            <a:endParaRPr lang="en-US"/>
          </a:p>
        </p:txBody>
      </p:sp>
      <p:sp>
        <p:nvSpPr>
          <p:cNvPr id="10286" name="Africa note"/>
          <p:cNvSpPr txBox="1"/>
          <p:nvPr/>
        </p:nvSpPr>
        <p:spPr>
          <a:xfrm>
            <a:off x="2011680" y="8183880"/>
            <a:ext cx="12033504" cy="292608"/>
          </a:xfrm>
          <a:prstGeom prst="rect">
            <a:avLst/>
          </a:prstGeom>
          <a:noFill/>
        </p:spPr>
        <p:txBody>
          <a:bodyPr wrap="square" lIns="0" tIns="0" rIns="0" bIns="0" anchor="t">
            <a:noAutofit/>
          </a:bodyPr>
          <a:lstStyle/>
          <a:p>
            <a:pPr algn="l">
              <a:lnSpc>
                <a:spcPct val="95000"/>
              </a:lnSpc>
            </a:pPr>
            <a:r>
              <a:rPr lang="en-US" sz="1600" b="0" i="1" dirty="0">
                <a:solidFill>
                  <a:srgbClr val="5C4A1A"/>
                </a:solidFill>
                <a:latin typeface="Arial"/>
                <a:cs typeface="Arial"/>
              </a:rPr>
              <a:t xml:space="preserve">T4 practice values are approximate regional figures, not estimates from the evaluation panel.</a:t>
            </a:r>
          </a:p>
        </p:txBody>
      </p:sp>
      <p:sp>
        <p:nvSpPr>
          <p:cNvPr id="10287" name="Panel 3 background"/>
          <p:cNvSpPr/>
          <p:nvPr/>
        </p:nvSpPr>
        <p:spPr>
          <a:xfrm>
            <a:off x="164592" y="8851392"/>
            <a:ext cx="4636008" cy="3931920"/>
          </a:xfrm>
          <a:prstGeom prst="roundRect">
            <a:avLst>
              <a:gd name="adj" fmla="val 2600"/>
            </a:avLst>
          </a:prstGeom>
          <a:solidFill>
            <a:srgbClr val="F8FBFD"/>
          </a:solidFill>
          <a:ln w="9525">
            <a:solidFill>
              <a:srgbClr val="A9CBDD"/>
            </a:solidFill>
          </a:ln>
        </p:spPr>
        <p:txBody>
          <a:bodyPr/>
          <a:lstStyle/>
          <a:p>
            <a:endParaRPr lang="en-US"/>
          </a:p>
        </p:txBody>
      </p:sp>
      <p:sp>
        <p:nvSpPr>
          <p:cNvPr id="10288" name="Panel 3 title"/>
          <p:cNvSpPr txBox="1"/>
          <p:nvPr/>
        </p:nvSpPr>
        <p:spPr>
          <a:xfrm>
            <a:off x="320040" y="8961120"/>
            <a:ext cx="4361688" cy="365760"/>
          </a:xfrm>
          <a:prstGeom prst="rect">
            <a:avLst/>
          </a:prstGeom>
          <a:noFill/>
        </p:spPr>
        <p:txBody>
          <a:bodyPr wrap="square" lIns="0" tIns="0" rIns="0" bIns="0" anchor="t">
            <a:noAutofit/>
          </a:bodyPr>
          <a:lstStyle/>
          <a:p>
            <a:pPr algn="l">
              <a:lnSpc>
                <a:spcPct val="95000"/>
              </a:lnSpc>
            </a:pPr>
            <a:r>
              <a:rPr lang="en-US" sz="2000" b="1" i="0" dirty="0">
                <a:solidFill>
                  <a:srgbClr val="123755"/>
                </a:solidFill>
                <a:latin typeface="Arial"/>
                <a:cs typeface="Arial"/>
              </a:rPr>
              <a:t xml:space="preserve">3  PROMPT COMPOSER</a:t>
            </a:r>
          </a:p>
        </p:txBody>
      </p:sp>
      <p:sp>
        <p:nvSpPr>
          <p:cNvPr id="10289" name="Panel 3 subtitle"/>
          <p:cNvSpPr txBox="1"/>
          <p:nvPr/>
        </p:nvSpPr>
        <p:spPr>
          <a:xfrm>
            <a:off x="320040" y="9354312"/>
            <a:ext cx="4361688" cy="329184"/>
          </a:xfrm>
          <a:prstGeom prst="rect">
            <a:avLst/>
          </a:prstGeom>
          <a:noFill/>
        </p:spPr>
        <p:txBody>
          <a:bodyPr wrap="square" lIns="0" tIns="0" rIns="0" bIns="0" anchor="t">
            <a:noAutofit/>
          </a:bodyPr>
          <a:lstStyle/>
          <a:p>
            <a:pPr algn="l">
              <a:lnSpc>
                <a:spcPct val="95000"/>
              </a:lnSpc>
            </a:pPr>
            <a:r>
              <a:rPr lang="en-US" sz="1650" b="0" i="0" dirty="0">
                <a:solidFill>
                  <a:srgbClr val="506B81"/>
                </a:solidFill>
                <a:latin typeface="Arial"/>
                <a:cs typeface="Arial"/>
              </a:rPr>
              <a:t xml:space="preserve">One plain-text prompt per design</a:t>
            </a:r>
          </a:p>
        </p:txBody>
      </p:sp>
      <p:sp>
        <p:nvSpPr>
          <p:cNvPr id="10290" name="Ingredient 1"/>
          <p:cNvSpPr/>
          <p:nvPr/>
        </p:nvSpPr>
        <p:spPr>
          <a:xfrm>
            <a:off x="393192" y="9765792"/>
            <a:ext cx="4178808" cy="493776"/>
          </a:xfrm>
          <a:prstGeom prst="roundRect">
            <a:avLst>
              <a:gd name="adj" fmla="val 5000"/>
            </a:avLst>
          </a:prstGeom>
          <a:solidFill>
            <a:srgbClr val="FFFFFF"/>
          </a:solidFill>
          <a:ln w="8255">
            <a:solidFill>
              <a:srgbClr val="A9CBDD"/>
            </a:solidFill>
          </a:ln>
        </p:spPr>
        <p:txBody>
          <a:bodyPr/>
          <a:lstStyle/>
          <a:p>
            <a:endParaRPr lang="en-US"/>
          </a:p>
        </p:txBody>
      </p:sp>
      <p:grpSp>
        <p:nvGrpSpPr>
          <p:cNvPr id="10291" name="Editable Quzhou farmer"/>
          <p:cNvGrpSpPr/>
          <p:nvPr/>
        </p:nvGrpSpPr>
        <p:grpSpPr>
          <a:xfrm>
            <a:off x="512064" y="9829800"/>
            <a:ext cx="283649" cy="365760"/>
            <a:chOff x="7138720" y="4598517"/>
            <a:chExt cx="280812" cy="362102"/>
          </a:xfrm>
        </p:grpSpPr>
        <p:sp>
          <p:nvSpPr>
            <p:cNvPr id="10292" name="Editable vector path"/>
            <p:cNvSpPr/>
            <p:nvPr/>
          </p:nvSpPr>
          <p:spPr>
            <a:xfrm>
              <a:off x="7145487" y="4763109"/>
              <a:ext cx="263895" cy="193852"/>
            </a:xfrm>
            <a:custGeom>
              <a:avLst/>
              <a:gdLst/>
              <a:ahLst/>
              <a:cxnLst/>
              <a:rect l="0" t="0" r="r" b="b"/>
              <a:pathLst>
                <a:path w="1000" h="1000" stroke="0">
                  <a:moveTo>
                    <a:pt x="330" y="0"/>
                  </a:moveTo>
                  <a:cubicBezTo>
                    <a:pt x="90" y="80"/>
                    <a:pt x="45" y="345"/>
                    <a:pt x="0" y="650"/>
                  </a:cubicBezTo>
                  <a:lnTo>
                    <a:pt x="130" y="810"/>
                  </a:lnTo>
                  <a:lnTo>
                    <a:pt x="255" y="470"/>
                  </a:lnTo>
                  <a:lnTo>
                    <a:pt x="310" y="1000"/>
                  </a:lnTo>
                  <a:lnTo>
                    <a:pt x="920" y="1000"/>
                  </a:lnTo>
                  <a:lnTo>
                    <a:pt x="960" y="430"/>
                  </a:lnTo>
                  <a:cubicBezTo>
                    <a:pt x="1000" y="200"/>
                    <a:pt x="840" y="50"/>
                    <a:pt x="650" y="0"/>
                  </a:cubicBezTo>
                  <a:close/>
                </a:path>
              </a:pathLst>
            </a:custGeom>
            <a:solidFill>
              <a:srgbClr val="2460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93" name="Editable vector path"/>
            <p:cNvSpPr/>
            <p:nvPr/>
          </p:nvSpPr>
          <p:spPr>
            <a:xfrm>
              <a:off x="7189470" y="4883810"/>
              <a:ext cx="172547" cy="76809"/>
            </a:xfrm>
            <a:custGeom>
              <a:avLst/>
              <a:gdLst/>
              <a:ahLst/>
              <a:cxnLst/>
              <a:rect l="0" t="0" r="r" b="b"/>
              <a:pathLst>
                <a:path w="1000" h="1000" stroke="0">
                  <a:moveTo>
                    <a:pt x="0" y="0"/>
                  </a:moveTo>
                  <a:lnTo>
                    <a:pt x="1000" y="0"/>
                  </a:lnTo>
                  <a:lnTo>
                    <a:pt x="970" y="1000"/>
                  </a:lnTo>
                  <a:lnTo>
                    <a:pt x="540" y="1000"/>
                  </a:lnTo>
                  <a:lnTo>
                    <a:pt x="480" y="330"/>
                  </a:lnTo>
                  <a:lnTo>
                    <a:pt x="390" y="1000"/>
                  </a:lnTo>
                  <a:lnTo>
                    <a:pt x="0" y="1000"/>
                  </a:lnTo>
                  <a:close/>
                </a:path>
              </a:pathLst>
            </a:custGeom>
            <a:solidFill>
              <a:srgbClr val="274D6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94" name="Editable vector path"/>
            <p:cNvSpPr/>
            <p:nvPr/>
          </p:nvSpPr>
          <p:spPr>
            <a:xfrm>
              <a:off x="7192853" y="4763109"/>
              <a:ext cx="165780" cy="157276"/>
            </a:xfrm>
            <a:custGeom>
              <a:avLst/>
              <a:gdLst/>
              <a:ahLst/>
              <a:cxnLst/>
              <a:rect l="0" t="0" r="r" b="b"/>
              <a:pathLst>
                <a:path w="1000" h="1000" stroke="0">
                  <a:moveTo>
                    <a:pt x="190" y="0"/>
                  </a:moveTo>
                  <a:lnTo>
                    <a:pt x="750" y="0"/>
                  </a:lnTo>
                  <a:cubicBezTo>
                    <a:pt x="950" y="200"/>
                    <a:pt x="990" y="700"/>
                    <a:pt x="950" y="1000"/>
                  </a:cubicBezTo>
                  <a:lnTo>
                    <a:pt x="30" y="1000"/>
                  </a:lnTo>
                  <a:cubicBezTo>
                    <a:pt x="0" y="700"/>
                    <a:pt x="0" y="300"/>
                    <a:pt x="190" y="0"/>
                  </a:cubicBezTo>
                  <a:close/>
                </a:path>
              </a:pathLst>
            </a:custGeom>
            <a:solidFill>
              <a:srgbClr val="3B83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295" name="Editable connector"/>
            <p:cNvCxnSpPr/>
            <p:nvPr/>
          </p:nvCxnSpPr>
          <p:spPr>
            <a:xfrm flipH="1">
              <a:off x="7263902" y="4777740"/>
              <a:ext cx="6766" cy="135331"/>
            </a:xfrm>
            <a:prstGeom prst="line">
              <a:avLst/>
            </a:prstGeom>
            <a:ln w="6985" cap="rnd">
              <a:solidFill>
                <a:srgbClr val="24608E"/>
              </a:solidFill>
            </a:ln>
          </p:spPr>
          <p:style>
            <a:lnRef idx="2">
              <a:schemeClr val="accent1"/>
            </a:lnRef>
            <a:fillRef idx="0">
              <a:schemeClr val="accent1"/>
            </a:fillRef>
            <a:effectRef idx="0">
              <a:schemeClr val="accent1"/>
            </a:effectRef>
            <a:fontRef idx="minor">
              <a:schemeClr val="tx1"/>
            </a:fontRef>
          </p:style>
        </p:cxnSp>
        <p:cxnSp>
          <p:nvCxnSpPr>
            <p:cNvPr id="10296" name="Editable connector"/>
            <p:cNvCxnSpPr/>
            <p:nvPr/>
          </p:nvCxnSpPr>
          <p:spPr>
            <a:xfrm flipH="1">
              <a:off x="7206386" y="4843576"/>
              <a:ext cx="6766" cy="54864"/>
            </a:xfrm>
            <a:prstGeom prst="line">
              <a:avLst/>
            </a:prstGeom>
            <a:ln w="7620" cap="rnd">
              <a:solidFill>
                <a:srgbClr val="5A9FC4"/>
              </a:solidFill>
            </a:ln>
          </p:spPr>
          <p:style>
            <a:lnRef idx="2">
              <a:schemeClr val="accent1"/>
            </a:lnRef>
            <a:fillRef idx="0">
              <a:schemeClr val="accent1"/>
            </a:fillRef>
            <a:effectRef idx="0">
              <a:schemeClr val="accent1"/>
            </a:effectRef>
            <a:fontRef idx="minor">
              <a:schemeClr val="tx1"/>
            </a:fontRef>
          </p:style>
        </p:cxnSp>
        <p:sp>
          <p:nvSpPr>
            <p:cNvPr id="10297" name="Editable vector path"/>
            <p:cNvSpPr/>
            <p:nvPr/>
          </p:nvSpPr>
          <p:spPr>
            <a:xfrm>
              <a:off x="7240219" y="4722876"/>
              <a:ext cx="67665" cy="69494"/>
            </a:xfrm>
            <a:custGeom>
              <a:avLst/>
              <a:gdLst/>
              <a:ahLst/>
              <a:cxnLst/>
              <a:rect l="0" t="0" r="r" b="b"/>
              <a:pathLst>
                <a:path w="1000" h="1000" stroke="0">
                  <a:moveTo>
                    <a:pt x="0" y="0"/>
                  </a:moveTo>
                  <a:lnTo>
                    <a:pt x="880" y="0"/>
                  </a:lnTo>
                  <a:lnTo>
                    <a:pt x="1000" y="850"/>
                  </a:lnTo>
                  <a:lnTo>
                    <a:pt x="520" y="1000"/>
                  </a:lnTo>
                  <a:lnTo>
                    <a:pt x="0" y="700"/>
                  </a:lnTo>
                  <a:close/>
                </a:path>
              </a:pathLst>
            </a:custGeom>
            <a:solidFill>
              <a:srgbClr val="C78E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98" name="Editable vector path"/>
            <p:cNvSpPr/>
            <p:nvPr/>
          </p:nvSpPr>
          <p:spPr>
            <a:xfrm>
              <a:off x="7219919" y="4638751"/>
              <a:ext cx="108264" cy="117043"/>
            </a:xfrm>
            <a:custGeom>
              <a:avLst/>
              <a:gdLst/>
              <a:ahLst/>
              <a:cxnLst/>
              <a:rect l="0" t="0" r="r" b="b"/>
              <a:pathLst>
                <a:path w="1000" h="1000" stroke="0">
                  <a:moveTo>
                    <a:pt x="160" y="0"/>
                  </a:moveTo>
                  <a:cubicBezTo>
                    <a:pt x="510" y="-60"/>
                    <a:pt x="950" y="100"/>
                    <a:pt x="940" y="410"/>
                  </a:cubicBezTo>
                  <a:lnTo>
                    <a:pt x="1000" y="560"/>
                  </a:lnTo>
                  <a:lnTo>
                    <a:pt x="900" y="615"/>
                  </a:lnTo>
                  <a:cubicBezTo>
                    <a:pt x="850" y="850"/>
                    <a:pt x="720" y="1000"/>
                    <a:pt x="450" y="980"/>
                  </a:cubicBezTo>
                  <a:cubicBezTo>
                    <a:pt x="180" y="950"/>
                    <a:pt x="0" y="620"/>
                    <a:pt x="0" y="350"/>
                  </a:cubicBezTo>
                  <a:cubicBezTo>
                    <a:pt x="0" y="140"/>
                    <a:pt x="45" y="40"/>
                    <a:pt x="160" y="0"/>
                  </a:cubicBezTo>
                  <a:close/>
                </a:path>
              </a:pathLst>
            </a:cu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299" name="Ellipse"/>
            <p:cNvSpPr/>
            <p:nvPr/>
          </p:nvSpPr>
          <p:spPr>
            <a:xfrm>
              <a:off x="7203003" y="4689957"/>
              <a:ext cx="33832" cy="36576"/>
            </a:xfrm>
            <a:prstGeom prst="ellipse">
              <a:avLst/>
            </a:pr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00" name="Editable vector path"/>
            <p:cNvSpPr/>
            <p:nvPr/>
          </p:nvSpPr>
          <p:spPr>
            <a:xfrm>
              <a:off x="7209769" y="4633264"/>
              <a:ext cx="108264" cy="69494"/>
            </a:xfrm>
            <a:custGeom>
              <a:avLst/>
              <a:gdLst/>
              <a:ahLst/>
              <a:cxnLst/>
              <a:rect l="0" t="0" r="r" b="b"/>
              <a:pathLst>
                <a:path w="1000" h="1000" stroke="0">
                  <a:moveTo>
                    <a:pt x="100" y="980"/>
                  </a:moveTo>
                  <a:cubicBezTo>
                    <a:pt x="-30" y="300"/>
                    <a:pt x="140" y="0"/>
                    <a:pt x="600" y="0"/>
                  </a:cubicBezTo>
                  <a:cubicBezTo>
                    <a:pt x="850" y="0"/>
                    <a:pt x="1000" y="180"/>
                    <a:pt x="1000" y="430"/>
                  </a:cubicBezTo>
                  <a:lnTo>
                    <a:pt x="280" y="380"/>
                  </a:lnTo>
                  <a:lnTo>
                    <a:pt x="220" y="750"/>
                  </a:lnTo>
                  <a:close/>
                </a:path>
              </a:pathLst>
            </a:custGeom>
            <a:solidFill>
              <a:srgbClr val="354A4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01" name="Editable vector path"/>
            <p:cNvSpPr/>
            <p:nvPr/>
          </p:nvSpPr>
          <p:spPr>
            <a:xfrm>
              <a:off x="7189470" y="4598517"/>
              <a:ext cx="148864" cy="74980"/>
            </a:xfrm>
            <a:custGeom>
              <a:avLst/>
              <a:gdLst/>
              <a:ahLst/>
              <a:cxnLst/>
              <a:rect l="0" t="0" r="r" b="b"/>
              <a:pathLst>
                <a:path w="1000" h="1000" stroke="0">
                  <a:moveTo>
                    <a:pt x="0" y="1000"/>
                  </a:moveTo>
                  <a:lnTo>
                    <a:pt x="140" y="230"/>
                  </a:lnTo>
                  <a:cubicBezTo>
                    <a:pt x="170" y="-100"/>
                    <a:pt x="780" y="-60"/>
                    <a:pt x="860" y="240"/>
                  </a:cubicBezTo>
                  <a:lnTo>
                    <a:pt x="1000" y="1000"/>
                  </a:lnTo>
                  <a:close/>
                </a:path>
              </a:pathLst>
            </a:custGeom>
            <a:solidFill>
              <a:srgbClr val="E9BD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02" name="Editable vector path"/>
            <p:cNvSpPr/>
            <p:nvPr/>
          </p:nvSpPr>
          <p:spPr>
            <a:xfrm>
              <a:off x="7206386" y="4604735"/>
              <a:ext cx="91348" cy="58521"/>
            </a:xfrm>
            <a:custGeom>
              <a:avLst/>
              <a:gdLst/>
              <a:ahLst/>
              <a:cxnLst/>
              <a:rect l="0" t="0" r="r" b="b"/>
              <a:pathLst>
                <a:path w="1000" h="1000" stroke="0">
                  <a:moveTo>
                    <a:pt x="0" y="1000"/>
                  </a:moveTo>
                  <a:lnTo>
                    <a:pt x="120" y="80"/>
                  </a:lnTo>
                  <a:cubicBezTo>
                    <a:pt x="330" y="-40"/>
                    <a:pt x="660" y="0"/>
                    <a:pt x="840" y="150"/>
                  </a:cubicBezTo>
                  <a:lnTo>
                    <a:pt x="1000" y="1000"/>
                  </a:lnTo>
                  <a:close/>
                </a:path>
              </a:pathLst>
            </a:custGeom>
            <a:solidFill>
              <a:srgbClr val="EFCB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03" name="Editable vector path"/>
            <p:cNvSpPr/>
            <p:nvPr/>
          </p:nvSpPr>
          <p:spPr>
            <a:xfrm>
              <a:off x="7189470" y="4653381"/>
              <a:ext cx="148864" cy="18288"/>
            </a:xfrm>
            <a:custGeom>
              <a:avLst/>
              <a:gdLst/>
              <a:ahLst/>
              <a:cxnLst/>
              <a:rect l="0" t="0" r="r" b="b"/>
              <a:pathLst>
                <a:path w="1000" h="1000" stroke="0">
                  <a:moveTo>
                    <a:pt x="0" y="0"/>
                  </a:moveTo>
                  <a:lnTo>
                    <a:pt x="1000" y="0"/>
                  </a:lnTo>
                  <a:lnTo>
                    <a:pt x="1000" y="1000"/>
                  </a:lnTo>
                  <a:lnTo>
                    <a:pt x="0" y="1000"/>
                  </a:lnTo>
                  <a:close/>
                </a:path>
              </a:pathLst>
            </a:custGeom>
            <a:solidFill>
              <a:srgbClr val="BA8A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04" name="Ellipse"/>
            <p:cNvSpPr/>
            <p:nvPr/>
          </p:nvSpPr>
          <p:spPr>
            <a:xfrm>
              <a:off x="7138720" y="4657039"/>
              <a:ext cx="246979" cy="29260"/>
            </a:xfrm>
            <a:prstGeom prst="ellipse">
              <a:avLst/>
            </a:prstGeom>
            <a:solidFill>
              <a:srgbClr val="E9BD64"/>
            </a:solidFill>
            <a:ln w="5715">
              <a:solidFill>
                <a:srgbClr val="BA8A3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05" name="Ellipse"/>
            <p:cNvSpPr/>
            <p:nvPr/>
          </p:nvSpPr>
          <p:spPr>
            <a:xfrm>
              <a:off x="7290968" y="4692517"/>
              <a:ext cx="10826" cy="6583"/>
            </a:xfrm>
            <a:prstGeom prst="ellipse">
              <a:avLst/>
            </a:prstGeom>
            <a:solidFill>
              <a:srgbClr val="3547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06" name="Editable connector"/>
            <p:cNvCxnSpPr/>
            <p:nvPr/>
          </p:nvCxnSpPr>
          <p:spPr>
            <a:xfrm flipV="1">
              <a:off x="7286570" y="4685568"/>
              <a:ext cx="16916" cy="1829"/>
            </a:xfrm>
            <a:prstGeom prst="line">
              <a:avLst/>
            </a:prstGeom>
            <a:ln w="7620" cap="rnd">
              <a:solidFill>
                <a:srgbClr val="C78E63"/>
              </a:solidFill>
            </a:ln>
          </p:spPr>
          <p:style>
            <a:lnRef idx="2">
              <a:schemeClr val="accent1"/>
            </a:lnRef>
            <a:fillRef idx="0">
              <a:schemeClr val="accent1"/>
            </a:fillRef>
            <a:effectRef idx="0">
              <a:schemeClr val="accent1"/>
            </a:effectRef>
            <a:fontRef idx="minor">
              <a:schemeClr val="tx1"/>
            </a:fontRef>
          </p:style>
        </p:cxnSp>
        <p:grpSp>
          <p:nvGrpSpPr>
            <p:cNvPr id="10307" name="Connector route"/>
            <p:cNvGrpSpPr/>
            <p:nvPr/>
          </p:nvGrpSpPr>
          <p:grpSpPr>
            <a:xfrm>
              <a:off x="7309576" y="4702027"/>
              <a:ext cx="16240" cy="11705"/>
              <a:chOff x="7309576" y="4702027"/>
              <a:chExt cx="16240" cy="11705"/>
            </a:xfrm>
          </p:grpSpPr>
          <p:cxnSp>
            <p:nvCxnSpPr>
              <p:cNvPr id="10308" name="Connector route / segment 1"/>
              <p:cNvCxnSpPr/>
              <p:nvPr/>
            </p:nvCxnSpPr>
            <p:spPr>
              <a:xfrm>
                <a:off x="7312959" y="4702027"/>
                <a:ext cx="12857" cy="9144"/>
              </a:xfrm>
              <a:prstGeom prst="line">
                <a:avLst/>
              </a:prstGeom>
              <a:ln w="6350" cap="rnd">
                <a:solidFill>
                  <a:srgbClr val="C78E63"/>
                </a:solidFill>
              </a:ln>
            </p:spPr>
            <p:style>
              <a:lnRef idx="2">
                <a:schemeClr val="accent1"/>
              </a:lnRef>
              <a:fillRef idx="0">
                <a:schemeClr val="accent1"/>
              </a:fillRef>
              <a:effectRef idx="0">
                <a:schemeClr val="accent1"/>
              </a:effectRef>
              <a:fontRef idx="minor">
                <a:schemeClr val="tx1"/>
              </a:fontRef>
            </p:style>
          </p:cxnSp>
          <p:cxnSp>
            <p:nvCxnSpPr>
              <p:cNvPr id="10309" name="Connector route / segment 2"/>
              <p:cNvCxnSpPr/>
              <p:nvPr/>
            </p:nvCxnSpPr>
            <p:spPr>
              <a:xfrm flipH="1">
                <a:off x="7309576" y="4711171"/>
                <a:ext cx="16240" cy="2561"/>
              </a:xfrm>
              <a:prstGeom prst="line">
                <a:avLst/>
              </a:prstGeom>
              <a:ln w="6350" cap="rnd">
                <a:solidFill>
                  <a:srgbClr val="C78E63"/>
                </a:solidFill>
              </a:ln>
            </p:spPr>
            <p:style>
              <a:lnRef idx="2">
                <a:schemeClr val="accent1"/>
              </a:lnRef>
              <a:fillRef idx="0">
                <a:schemeClr val="accent1"/>
              </a:fillRef>
              <a:effectRef idx="0">
                <a:schemeClr val="accent1"/>
              </a:effectRef>
              <a:fontRef idx="minor">
                <a:schemeClr val="tx1"/>
              </a:fontRef>
            </p:style>
          </p:cxnSp>
        </p:grpSp>
        <p:sp>
          <p:nvSpPr>
            <p:cNvPr id="10310" name="Editable vector path"/>
            <p:cNvSpPr/>
            <p:nvPr/>
          </p:nvSpPr>
          <p:spPr>
            <a:xfrm>
              <a:off x="7277435" y="4724704"/>
              <a:ext cx="32141" cy="9144"/>
            </a:xfrm>
            <a:custGeom>
              <a:avLst/>
              <a:gdLst/>
              <a:ahLst/>
              <a:cxnLst/>
              <a:rect l="0" t="0" r="r" b="b"/>
              <a:pathLst>
                <a:path w="1000" h="1000" fill="none">
                  <a:moveTo>
                    <a:pt x="0" y="0"/>
                  </a:moveTo>
                  <a:cubicBezTo>
                    <a:pt x="300" y="900"/>
                    <a:pt x="710" y="950"/>
                    <a:pt x="1000" y="0"/>
                  </a:cubicBezTo>
                </a:path>
              </a:pathLst>
            </a:custGeom>
            <a:noFill/>
            <a:ln w="6985">
              <a:solidFill>
                <a:srgbClr val="C78E6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11" name="Editable polygon"/>
            <p:cNvSpPr/>
            <p:nvPr/>
          </p:nvSpPr>
          <p:spPr>
            <a:xfrm>
              <a:off x="7216536" y="4763109"/>
              <a:ext cx="50749" cy="36576"/>
            </a:xfrm>
            <a:custGeom>
              <a:avLst/>
              <a:gdLst/>
              <a:ahLst/>
              <a:cxnLst/>
              <a:rect l="0" t="0" r="r" b="b"/>
              <a:pathLst>
                <a:path w="1000" h="1000" stroke="0">
                  <a:moveTo>
                    <a:pt x="400" y="0"/>
                  </a:moveTo>
                  <a:lnTo>
                    <a:pt x="1000" y="700"/>
                  </a:lnTo>
                  <a:lnTo>
                    <a:pt x="467" y="1000"/>
                  </a:lnTo>
                  <a:lnTo>
                    <a:pt x="0" y="200"/>
                  </a:lnTo>
                  <a:close/>
                </a:path>
              </a:pathLst>
            </a:custGeom>
            <a:solidFill>
              <a:srgbClr val="5A9F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12" name="Editable polygon"/>
            <p:cNvSpPr/>
            <p:nvPr/>
          </p:nvSpPr>
          <p:spPr>
            <a:xfrm>
              <a:off x="7270668" y="4763109"/>
              <a:ext cx="54132" cy="32918"/>
            </a:xfrm>
            <a:custGeom>
              <a:avLst/>
              <a:gdLst/>
              <a:ahLst/>
              <a:cxnLst/>
              <a:rect l="0" t="0" r="r" b="b"/>
              <a:pathLst>
                <a:path w="1000" h="1000" stroke="0">
                  <a:moveTo>
                    <a:pt x="562" y="0"/>
                  </a:moveTo>
                  <a:lnTo>
                    <a:pt x="0" y="778"/>
                  </a:lnTo>
                  <a:lnTo>
                    <a:pt x="625" y="1000"/>
                  </a:lnTo>
                  <a:lnTo>
                    <a:pt x="1000" y="333"/>
                  </a:lnTo>
                  <a:close/>
                </a:path>
              </a:pathLst>
            </a:custGeom>
            <a:solidFill>
              <a:srgbClr val="5A9F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13" name="Editable polygon"/>
            <p:cNvSpPr/>
            <p:nvPr/>
          </p:nvSpPr>
          <p:spPr>
            <a:xfrm>
              <a:off x="7233452" y="4781397"/>
              <a:ext cx="186080" cy="131673"/>
            </a:xfrm>
            <a:custGeom>
              <a:avLst/>
              <a:gdLst/>
              <a:ahLst/>
              <a:cxnLst/>
              <a:rect l="0" t="0" r="r" b="b"/>
              <a:pathLst>
                <a:path w="1000" h="1000" stroke="0">
                  <a:moveTo>
                    <a:pt x="145" y="306"/>
                  </a:moveTo>
                  <a:lnTo>
                    <a:pt x="1000" y="0"/>
                  </a:lnTo>
                  <a:lnTo>
                    <a:pt x="855" y="750"/>
                  </a:lnTo>
                  <a:lnTo>
                    <a:pt x="0" y="1000"/>
                  </a:lnTo>
                  <a:close/>
                </a:path>
              </a:pathLst>
            </a:custGeom>
            <a:solidFill>
              <a:srgbClr val="213E5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14" name="Editable polygon"/>
            <p:cNvSpPr/>
            <p:nvPr/>
          </p:nvSpPr>
          <p:spPr>
            <a:xfrm>
              <a:off x="7248677" y="4792370"/>
              <a:ext cx="159014" cy="106070"/>
            </a:xfrm>
            <a:custGeom>
              <a:avLst/>
              <a:gdLst/>
              <a:ahLst/>
              <a:cxnLst/>
              <a:rect l="0" t="0" r="r" b="b"/>
              <a:pathLst>
                <a:path w="1000" h="1000" stroke="0">
                  <a:moveTo>
                    <a:pt x="138" y="328"/>
                  </a:moveTo>
                  <a:lnTo>
                    <a:pt x="1000" y="0"/>
                  </a:lnTo>
                  <a:lnTo>
                    <a:pt x="862" y="707"/>
                  </a:lnTo>
                  <a:lnTo>
                    <a:pt x="0" y="1000"/>
                  </a:lnTo>
                  <a:close/>
                </a:path>
              </a:pathLst>
            </a:custGeom>
            <a:solidFill>
              <a:srgbClr val="CBDD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15" name="Editable connector"/>
            <p:cNvCxnSpPr/>
            <p:nvPr/>
          </p:nvCxnSpPr>
          <p:spPr>
            <a:xfrm flipV="1">
              <a:off x="7277435" y="4812852"/>
              <a:ext cx="101498" cy="25604"/>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cxnSp>
          <p:nvCxnSpPr>
            <p:cNvPr id="10316" name="Editable connector"/>
            <p:cNvCxnSpPr/>
            <p:nvPr/>
          </p:nvCxnSpPr>
          <p:spPr>
            <a:xfrm flipV="1">
              <a:off x="7271683" y="4830043"/>
              <a:ext cx="101499" cy="25603"/>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cxnSp>
          <p:nvCxnSpPr>
            <p:cNvPr id="10317" name="Editable connector"/>
            <p:cNvCxnSpPr/>
            <p:nvPr/>
          </p:nvCxnSpPr>
          <p:spPr>
            <a:xfrm flipV="1">
              <a:off x="7265932" y="4847234"/>
              <a:ext cx="101498" cy="25603"/>
            </a:xfrm>
            <a:prstGeom prst="line">
              <a:avLst/>
            </a:prstGeom>
            <a:ln w="6350" cap="rnd">
              <a:solidFill>
                <a:srgbClr val="7192A6"/>
              </a:solidFill>
            </a:ln>
          </p:spPr>
          <p:style>
            <a:lnRef idx="2">
              <a:schemeClr val="accent1"/>
            </a:lnRef>
            <a:fillRef idx="0">
              <a:schemeClr val="accent1"/>
            </a:fillRef>
            <a:effectRef idx="0">
              <a:schemeClr val="accent1"/>
            </a:effectRef>
            <a:fontRef idx="minor">
              <a:schemeClr val="tx1"/>
            </a:fontRef>
          </p:style>
        </p:cxnSp>
        <p:sp>
          <p:nvSpPr>
            <p:cNvPr id="10318" name="Editable vector path"/>
            <p:cNvSpPr/>
            <p:nvPr/>
          </p:nvSpPr>
          <p:spPr>
            <a:xfrm>
              <a:off x="7143795" y="4832604"/>
              <a:ext cx="182697" cy="74980"/>
            </a:xfrm>
            <a:custGeom>
              <a:avLst/>
              <a:gdLst/>
              <a:ahLst/>
              <a:cxnLst/>
              <a:rect l="0" t="0" r="r" b="b"/>
              <a:pathLst>
                <a:path w="1000" h="1000" stroke="0">
                  <a:moveTo>
                    <a:pt x="0" y="0"/>
                  </a:moveTo>
                  <a:lnTo>
                    <a:pt x="220" y="100"/>
                  </a:lnTo>
                  <a:lnTo>
                    <a:pt x="355" y="505"/>
                  </a:lnTo>
                  <a:lnTo>
                    <a:pt x="850" y="555"/>
                  </a:lnTo>
                  <a:lnTo>
                    <a:pt x="1000" y="710"/>
                  </a:lnTo>
                  <a:lnTo>
                    <a:pt x="850" y="935"/>
                  </a:lnTo>
                  <a:lnTo>
                    <a:pt x="290" y="1000"/>
                  </a:lnTo>
                  <a:cubicBezTo>
                    <a:pt x="95" y="935"/>
                    <a:pt x="50" y="520"/>
                    <a:pt x="0" y="0"/>
                  </a:cubicBezTo>
                  <a:close/>
                </a:path>
              </a:pathLst>
            </a:cu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19" name="Editable vector path"/>
            <p:cNvSpPr/>
            <p:nvPr/>
          </p:nvSpPr>
          <p:spPr>
            <a:xfrm>
              <a:off x="7138720" y="4788712"/>
              <a:ext cx="91348" cy="65836"/>
            </a:xfrm>
            <a:custGeom>
              <a:avLst/>
              <a:gdLst/>
              <a:ahLst/>
              <a:cxnLst/>
              <a:rect l="0" t="0" r="r" b="b"/>
              <a:pathLst>
                <a:path w="1000" h="1000" stroke="0">
                  <a:moveTo>
                    <a:pt x="320" y="0"/>
                  </a:moveTo>
                  <a:cubicBezTo>
                    <a:pt x="650" y="10"/>
                    <a:pt x="1000" y="290"/>
                    <a:pt x="1000" y="700"/>
                  </a:cubicBezTo>
                  <a:lnTo>
                    <a:pt x="530" y="1000"/>
                  </a:lnTo>
                  <a:lnTo>
                    <a:pt x="0" y="790"/>
                  </a:lnTo>
                  <a:cubicBezTo>
                    <a:pt x="0" y="390"/>
                    <a:pt x="95" y="50"/>
                    <a:pt x="320" y="0"/>
                  </a:cubicBezTo>
                  <a:close/>
                </a:path>
              </a:pathLst>
            </a:custGeom>
            <a:solidFill>
              <a:srgbClr val="3B83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20" name="Ellipse"/>
            <p:cNvSpPr/>
            <p:nvPr/>
          </p:nvSpPr>
          <p:spPr>
            <a:xfrm>
              <a:off x="7387391" y="4820168"/>
              <a:ext cx="29434" cy="32918"/>
            </a:xfrm>
            <a:prstGeom prst="ellipse">
              <a:avLst/>
            </a:prstGeom>
            <a:solidFill>
              <a:srgbClr val="E8B9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21" name="Editable connector"/>
            <p:cNvCxnSpPr/>
            <p:nvPr/>
          </p:nvCxnSpPr>
          <p:spPr>
            <a:xfrm>
              <a:off x="7395850" y="4834067"/>
              <a:ext cx="3383" cy="7315"/>
            </a:xfrm>
            <a:prstGeom prst="line">
              <a:avLst/>
            </a:prstGeom>
            <a:ln w="5080" cap="rnd">
              <a:solidFill>
                <a:srgbClr val="C78E63"/>
              </a:solidFill>
            </a:ln>
          </p:spPr>
          <p:style>
            <a:lnRef idx="2">
              <a:schemeClr val="accent1"/>
            </a:lnRef>
            <a:fillRef idx="0">
              <a:schemeClr val="accent1"/>
            </a:fillRef>
            <a:effectRef idx="0">
              <a:schemeClr val="accent1"/>
            </a:effectRef>
            <a:fontRef idx="minor">
              <a:schemeClr val="tx1"/>
            </a:fontRef>
          </p:style>
        </p:cxnSp>
        <p:cxnSp>
          <p:nvCxnSpPr>
            <p:cNvPr id="10322" name="Editable connector"/>
            <p:cNvCxnSpPr/>
            <p:nvPr/>
          </p:nvCxnSpPr>
          <p:spPr>
            <a:xfrm>
              <a:off x="7399910" y="4834067"/>
              <a:ext cx="3383" cy="7315"/>
            </a:xfrm>
            <a:prstGeom prst="line">
              <a:avLst/>
            </a:prstGeom>
            <a:ln w="5080" cap="rnd">
              <a:solidFill>
                <a:srgbClr val="C78E63"/>
              </a:solidFill>
            </a:ln>
          </p:spPr>
          <p:style>
            <a:lnRef idx="2">
              <a:schemeClr val="accent1"/>
            </a:lnRef>
            <a:fillRef idx="0">
              <a:schemeClr val="accent1"/>
            </a:fillRef>
            <a:effectRef idx="0">
              <a:schemeClr val="accent1"/>
            </a:effectRef>
            <a:fontRef idx="minor">
              <a:schemeClr val="tx1"/>
            </a:fontRef>
          </p:style>
        </p:cxnSp>
        <p:cxnSp>
          <p:nvCxnSpPr>
            <p:cNvPr id="10323" name="Editable connector"/>
            <p:cNvCxnSpPr/>
            <p:nvPr/>
          </p:nvCxnSpPr>
          <p:spPr>
            <a:xfrm>
              <a:off x="7403969" y="4834067"/>
              <a:ext cx="3384" cy="7315"/>
            </a:xfrm>
            <a:prstGeom prst="line">
              <a:avLst/>
            </a:prstGeom>
            <a:ln w="5080" cap="rnd">
              <a:solidFill>
                <a:srgbClr val="C78E63"/>
              </a:solidFill>
            </a:ln>
          </p:spPr>
          <p:style>
            <a:lnRef idx="2">
              <a:schemeClr val="accent1"/>
            </a:lnRef>
            <a:fillRef idx="0">
              <a:schemeClr val="accent1"/>
            </a:fillRef>
            <a:effectRef idx="0">
              <a:schemeClr val="accent1"/>
            </a:effectRef>
            <a:fontRef idx="minor">
              <a:schemeClr val="tx1"/>
            </a:fontRef>
          </p:style>
        </p:cxnSp>
      </p:grpSp>
      <p:sp>
        <p:nvSpPr>
          <p:cNvPr id="10324" name="Ingredient 1 text"/>
          <p:cNvSpPr txBox="1"/>
          <p:nvPr/>
        </p:nvSpPr>
        <p:spPr>
          <a:xfrm>
            <a:off x="1124712" y="9857232"/>
            <a:ext cx="331012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Role and guidance</a:t>
            </a:r>
          </a:p>
        </p:txBody>
      </p:sp>
      <p:sp>
        <p:nvSpPr>
          <p:cNvPr id="10325" name="Ingredient 2"/>
          <p:cNvSpPr/>
          <p:nvPr/>
        </p:nvSpPr>
        <p:spPr>
          <a:xfrm>
            <a:off x="393192" y="10332720"/>
            <a:ext cx="4178808" cy="493776"/>
          </a:xfrm>
          <a:prstGeom prst="roundRect">
            <a:avLst>
              <a:gd name="adj" fmla="val 5000"/>
            </a:avLst>
          </a:prstGeom>
          <a:solidFill>
            <a:srgbClr val="FFFFFF"/>
          </a:solidFill>
          <a:ln w="8255">
            <a:solidFill>
              <a:srgbClr val="A9CBDD"/>
            </a:solidFill>
          </a:ln>
        </p:spPr>
        <p:txBody>
          <a:bodyPr/>
          <a:lstStyle/>
          <a:p>
            <a:endParaRPr lang="en-US"/>
          </a:p>
        </p:txBody>
      </p:sp>
      <p:grpSp>
        <p:nvGrpSpPr>
          <p:cNvPr id="10326" name="Profile fields in prompt"/>
          <p:cNvGrpSpPr/>
          <p:nvPr/>
        </p:nvGrpSpPr>
        <p:grpSpPr>
          <a:xfrm>
            <a:off x="512064" y="10396728"/>
            <a:ext cx="283169" cy="365760"/>
            <a:chOff x="7150608" y="5120640"/>
            <a:chExt cx="219456" cy="283464"/>
          </a:xfrm>
        </p:grpSpPr>
        <p:sp>
          <p:nvSpPr>
            <p:cNvPr id="10327" name="Document sheet"/>
            <p:cNvSpPr/>
            <p:nvPr/>
          </p:nvSpPr>
          <p:spPr>
            <a:xfrm>
              <a:off x="7150608" y="5120640"/>
              <a:ext cx="219456" cy="283464"/>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28" name="Folded corner"/>
            <p:cNvSpPr/>
            <p:nvPr/>
          </p:nvSpPr>
          <p:spPr>
            <a:xfrm>
              <a:off x="7305324" y="5120640"/>
              <a:ext cx="64739" cy="70866"/>
            </a:xfrm>
            <a:custGeom>
              <a:avLst/>
              <a:gdLst/>
              <a:ahLst/>
              <a:cxnLst/>
              <a:rect l="0" t="0" r="r" b="b"/>
              <a:pathLst>
                <a:path w="1000" h="1000" fill="none">
                  <a:moveTo>
                    <a:pt x="0" y="0"/>
                  </a:moveTo>
                  <a:lnTo>
                    <a:pt x="0" y="1000"/>
                  </a:lnTo>
                  <a:lnTo>
                    <a:pt x="1000" y="1000"/>
                  </a:lnTo>
                </a:path>
              </a:pathLst>
            </a:custGeom>
            <a:noFill/>
            <a:ln w="12700">
              <a:solidFill>
                <a:srgbClr val="157A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29" name="Editable connector"/>
            <p:cNvCxnSpPr/>
            <p:nvPr/>
          </p:nvCxnSpPr>
          <p:spPr>
            <a:xfrm>
              <a:off x="7187915" y="5208513"/>
              <a:ext cx="96561"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330" name="Editable connector"/>
            <p:cNvCxnSpPr/>
            <p:nvPr/>
          </p:nvCxnSpPr>
          <p:spPr>
            <a:xfrm>
              <a:off x="7187915" y="5251033"/>
              <a:ext cx="140452"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331" name="Editable connector"/>
            <p:cNvCxnSpPr/>
            <p:nvPr/>
          </p:nvCxnSpPr>
          <p:spPr>
            <a:xfrm>
              <a:off x="7187915" y="5293553"/>
              <a:ext cx="140452"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cxnSp>
          <p:nvCxnSpPr>
            <p:cNvPr id="10332" name="Editable connector"/>
            <p:cNvCxnSpPr/>
            <p:nvPr/>
          </p:nvCxnSpPr>
          <p:spPr>
            <a:xfrm>
              <a:off x="7187915" y="5336072"/>
              <a:ext cx="98755" cy="0"/>
            </a:xfrm>
            <a:prstGeom prst="line">
              <a:avLst/>
            </a:prstGeom>
            <a:ln w="10160" cap="rnd">
              <a:solidFill>
                <a:srgbClr val="157ABC"/>
              </a:solidFill>
            </a:ln>
          </p:spPr>
          <p:style>
            <a:lnRef idx="2">
              <a:schemeClr val="accent1"/>
            </a:lnRef>
            <a:fillRef idx="0">
              <a:schemeClr val="accent1"/>
            </a:fillRef>
            <a:effectRef idx="0">
              <a:schemeClr val="accent1"/>
            </a:effectRef>
            <a:fontRef idx="minor">
              <a:schemeClr val="tx1"/>
            </a:fontRef>
          </p:style>
        </p:cxnSp>
      </p:grpSp>
      <p:sp>
        <p:nvSpPr>
          <p:cNvPr id="10333" name="Ingredient 2 text"/>
          <p:cNvSpPr txBox="1"/>
          <p:nvPr/>
        </p:nvSpPr>
        <p:spPr>
          <a:xfrm>
            <a:off x="1124712" y="10424160"/>
            <a:ext cx="331012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Survey profile</a:t>
            </a:r>
          </a:p>
        </p:txBody>
      </p:sp>
      <p:sp>
        <p:nvSpPr>
          <p:cNvPr id="10334" name="Ingredient 3"/>
          <p:cNvSpPr/>
          <p:nvPr/>
        </p:nvSpPr>
        <p:spPr>
          <a:xfrm>
            <a:off x="393192" y="10899648"/>
            <a:ext cx="4178808" cy="493776"/>
          </a:xfrm>
          <a:prstGeom prst="roundRect">
            <a:avLst>
              <a:gd name="adj" fmla="val 5000"/>
            </a:avLst>
          </a:prstGeom>
          <a:solidFill>
            <a:srgbClr val="FFFFFF"/>
          </a:solidFill>
          <a:ln w="8255">
            <a:solidFill>
              <a:srgbClr val="A9CBDD"/>
            </a:solidFill>
          </a:ln>
        </p:spPr>
        <p:txBody>
          <a:bodyPr/>
          <a:lstStyle/>
          <a:p>
            <a:endParaRPr lang="en-US"/>
          </a:p>
        </p:txBody>
      </p:sp>
      <p:grpSp>
        <p:nvGrpSpPr>
          <p:cNvPr id="10335" name="Regional context / editable miniature field"/>
          <p:cNvGrpSpPr/>
          <p:nvPr/>
        </p:nvGrpSpPr>
        <p:grpSpPr>
          <a:xfrm>
            <a:off x="512064" y="10963656"/>
            <a:ext cx="408791" cy="365760"/>
            <a:chOff x="7095744" y="5605272"/>
            <a:chExt cx="347472" cy="310896"/>
          </a:xfrm>
        </p:grpSpPr>
        <p:sp>
          <p:nvSpPr>
            <p:cNvPr id="10336" name="Sky background"/>
            <p:cNvSpPr/>
            <p:nvPr/>
          </p:nvSpPr>
          <p:spPr>
            <a:xfrm>
              <a:off x="7095744" y="5605272"/>
              <a:ext cx="347472" cy="310896"/>
            </a:xfrm>
            <a:prstGeom prst="roundRect">
              <a:avLst>
                <a:gd name="adj" fmla="val 5500"/>
              </a:avLst>
            </a:prstGeom>
            <a:solidFill>
              <a:srgbClr val="E7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37" name="Editable vector path"/>
            <p:cNvSpPr/>
            <p:nvPr/>
          </p:nvSpPr>
          <p:spPr>
            <a:xfrm>
              <a:off x="7095744" y="5655015"/>
              <a:ext cx="347472" cy="105704"/>
            </a:xfrm>
            <a:custGeom>
              <a:avLst/>
              <a:gdLst/>
              <a:ahLst/>
              <a:cxnLst/>
              <a:rect l="0" t="0" r="r" b="b"/>
              <a:pathLst>
                <a:path w="1000" h="1000" stroke="0">
                  <a:moveTo>
                    <a:pt x="0" y="550"/>
                  </a:moveTo>
                  <a:lnTo>
                    <a:pt x="140" y="190"/>
                  </a:lnTo>
                  <a:lnTo>
                    <a:pt x="360" y="610"/>
                  </a:lnTo>
                  <a:lnTo>
                    <a:pt x="590" y="100"/>
                  </a:lnTo>
                  <a:lnTo>
                    <a:pt x="820" y="420"/>
                  </a:lnTo>
                  <a:lnTo>
                    <a:pt x="1000" y="230"/>
                  </a:lnTo>
                  <a:lnTo>
                    <a:pt x="1000" y="1000"/>
                  </a:lnTo>
                  <a:lnTo>
                    <a:pt x="0" y="1000"/>
                  </a:lnTo>
                  <a:close/>
                </a:path>
              </a:pathLst>
            </a:custGeom>
            <a:solidFill>
              <a:srgbClr val="BDDC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38" name="Editable vector path"/>
            <p:cNvSpPr/>
            <p:nvPr/>
          </p:nvSpPr>
          <p:spPr>
            <a:xfrm>
              <a:off x="7095744" y="5692322"/>
              <a:ext cx="347472" cy="93268"/>
            </a:xfrm>
            <a:custGeom>
              <a:avLst/>
              <a:gdLst/>
              <a:ahLst/>
              <a:cxnLst/>
              <a:rect l="0" t="0" r="r" b="b"/>
              <a:pathLst>
                <a:path w="1000" h="1000" stroke="0">
                  <a:moveTo>
                    <a:pt x="0" y="410"/>
                  </a:moveTo>
                  <a:cubicBezTo>
                    <a:pt x="300" y="100"/>
                    <a:pt x="530" y="250"/>
                    <a:pt x="780" y="500"/>
                  </a:cubicBezTo>
                  <a:lnTo>
                    <a:pt x="1000" y="340"/>
                  </a:lnTo>
                  <a:lnTo>
                    <a:pt x="1000" y="1000"/>
                  </a:lnTo>
                  <a:lnTo>
                    <a:pt x="0" y="1000"/>
                  </a:lnTo>
                  <a:close/>
                </a:path>
              </a:pathLst>
            </a:custGeom>
            <a:solidFill>
              <a:srgbClr val="8CBFA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39" name="Editable vector path"/>
            <p:cNvSpPr/>
            <p:nvPr/>
          </p:nvSpPr>
          <p:spPr>
            <a:xfrm>
              <a:off x="7095744" y="5723412"/>
              <a:ext cx="347472" cy="83941"/>
            </a:xfrm>
            <a:custGeom>
              <a:avLst/>
              <a:gdLst/>
              <a:ahLst/>
              <a:cxnLst/>
              <a:rect l="0" t="0" r="r" b="b"/>
              <a:pathLst>
                <a:path w="1000" h="1000" stroke="0">
                  <a:moveTo>
                    <a:pt x="0" y="700"/>
                  </a:moveTo>
                  <a:cubicBezTo>
                    <a:pt x="250" y="310"/>
                    <a:pt x="590" y="140"/>
                    <a:pt x="1000" y="450"/>
                  </a:cubicBezTo>
                  <a:lnTo>
                    <a:pt x="1000" y="1000"/>
                  </a:lnTo>
                  <a:lnTo>
                    <a:pt x="0" y="1000"/>
                  </a:lnTo>
                  <a:close/>
                </a:path>
              </a:pathLst>
            </a:custGeom>
            <a:solidFill>
              <a:srgbClr val="679F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40" name="Ellipse"/>
            <p:cNvSpPr/>
            <p:nvPr/>
          </p:nvSpPr>
          <p:spPr>
            <a:xfrm>
              <a:off x="7127016" y="5631698"/>
              <a:ext cx="66019" cy="10881"/>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41" name="Ellipse"/>
            <p:cNvSpPr/>
            <p:nvPr/>
          </p:nvSpPr>
          <p:spPr>
            <a:xfrm>
              <a:off x="7158288" y="5623925"/>
              <a:ext cx="41696" cy="14301"/>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42" name="Field base"/>
            <p:cNvSpPr/>
            <p:nvPr/>
          </p:nvSpPr>
          <p:spPr>
            <a:xfrm>
              <a:off x="7095744" y="5776264"/>
              <a:ext cx="347472" cy="139903"/>
            </a:xfrm>
            <a:prstGeom prst="rect">
              <a:avLst/>
            </a:prstGeom>
            <a:solidFill>
              <a:srgbClr val="C5CD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43" name="Editable polygon"/>
            <p:cNvSpPr/>
            <p:nvPr/>
          </p:nvSpPr>
          <p:spPr>
            <a:xfrm>
              <a:off x="7095744" y="5773155"/>
              <a:ext cx="284927" cy="143012"/>
            </a:xfrm>
            <a:custGeom>
              <a:avLst/>
              <a:gdLst/>
              <a:ahLst/>
              <a:cxnLst/>
              <a:rect l="0" t="0" r="r" b="b"/>
              <a:pathLst>
                <a:path w="1000" h="1000" stroke="0">
                  <a:moveTo>
                    <a:pt x="0" y="174"/>
                  </a:moveTo>
                  <a:lnTo>
                    <a:pt x="732" y="0"/>
                  </a:lnTo>
                  <a:lnTo>
                    <a:pt x="1000" y="196"/>
                  </a:lnTo>
                  <a:lnTo>
                    <a:pt x="268" y="1000"/>
                  </a:lnTo>
                  <a:lnTo>
                    <a:pt x="0" y="1000"/>
                  </a:lnTo>
                  <a:close/>
                </a:path>
              </a:pathLst>
            </a:custGeom>
            <a:solidFill>
              <a:srgbClr val="C6CB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44" name="Editable polygon"/>
            <p:cNvSpPr/>
            <p:nvPr/>
          </p:nvSpPr>
          <p:spPr>
            <a:xfrm>
              <a:off x="7165238" y="5779373"/>
              <a:ext cx="277977" cy="136794"/>
            </a:xfrm>
            <a:custGeom>
              <a:avLst/>
              <a:gdLst/>
              <a:ahLst/>
              <a:cxnLst/>
              <a:rect l="0" t="0" r="r" b="b"/>
              <a:pathLst>
                <a:path w="1000" h="1000" stroke="0">
                  <a:moveTo>
                    <a:pt x="0" y="1000"/>
                  </a:moveTo>
                  <a:lnTo>
                    <a:pt x="662" y="0"/>
                  </a:lnTo>
                  <a:lnTo>
                    <a:pt x="1000" y="23"/>
                  </a:lnTo>
                  <a:lnTo>
                    <a:pt x="1000" y="1000"/>
                  </a:lnTo>
                  <a:close/>
                </a:path>
              </a:pathLst>
            </a:custGeom>
            <a:solidFill>
              <a:srgbClr val="86AE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45" name="Editable connector"/>
            <p:cNvCxnSpPr/>
            <p:nvPr/>
          </p:nvCxnSpPr>
          <p:spPr>
            <a:xfrm flipV="1">
              <a:off x="7109642" y="5786213"/>
              <a:ext cx="191110"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46" name="Editable connector"/>
            <p:cNvCxnSpPr/>
            <p:nvPr/>
          </p:nvCxnSpPr>
          <p:spPr>
            <a:xfrm flipV="1">
              <a:off x="7139178" y="5786213"/>
              <a:ext cx="171651"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47" name="Editable connector"/>
            <p:cNvCxnSpPr/>
            <p:nvPr/>
          </p:nvCxnSpPr>
          <p:spPr>
            <a:xfrm flipV="1">
              <a:off x="7168713" y="5786213"/>
              <a:ext cx="152192"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48" name="Editable connector"/>
            <p:cNvCxnSpPr/>
            <p:nvPr/>
          </p:nvCxnSpPr>
          <p:spPr>
            <a:xfrm flipV="1">
              <a:off x="7198248" y="5786213"/>
              <a:ext cx="132734"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49" name="Editable connector"/>
            <p:cNvCxnSpPr/>
            <p:nvPr/>
          </p:nvCxnSpPr>
          <p:spPr>
            <a:xfrm flipV="1">
              <a:off x="7227783" y="5786213"/>
              <a:ext cx="113276"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50" name="Editable connector"/>
            <p:cNvCxnSpPr/>
            <p:nvPr/>
          </p:nvCxnSpPr>
          <p:spPr>
            <a:xfrm flipV="1">
              <a:off x="7257318" y="5786213"/>
              <a:ext cx="93817"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51" name="Editable connector"/>
            <p:cNvCxnSpPr/>
            <p:nvPr/>
          </p:nvCxnSpPr>
          <p:spPr>
            <a:xfrm flipV="1">
              <a:off x="7286853" y="5786213"/>
              <a:ext cx="74359" cy="129955"/>
            </a:xfrm>
            <a:prstGeom prst="line">
              <a:avLst/>
            </a:prstGeom>
            <a:ln w="8890" cap="rnd">
              <a:solidFill>
                <a:srgbClr val="7F9E53"/>
              </a:solidFill>
            </a:ln>
          </p:spPr>
          <p:style>
            <a:lnRef idx="2">
              <a:schemeClr val="accent1"/>
            </a:lnRef>
            <a:fillRef idx="0">
              <a:schemeClr val="accent1"/>
            </a:fillRef>
            <a:effectRef idx="0">
              <a:schemeClr val="accent1"/>
            </a:effectRef>
            <a:fontRef idx="minor">
              <a:schemeClr val="tx1"/>
            </a:fontRef>
          </p:style>
        </p:cxnSp>
        <p:cxnSp>
          <p:nvCxnSpPr>
            <p:cNvPr id="10352" name="Editable connector"/>
            <p:cNvCxnSpPr/>
            <p:nvPr/>
          </p:nvCxnSpPr>
          <p:spPr>
            <a:xfrm flipV="1">
              <a:off x="7248631" y="5788700"/>
              <a:ext cx="132040" cy="127468"/>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353" name="Editable connector"/>
            <p:cNvCxnSpPr/>
            <p:nvPr/>
          </p:nvCxnSpPr>
          <p:spPr>
            <a:xfrm flipV="1">
              <a:off x="7285116" y="5788700"/>
              <a:ext cx="105284" cy="127468"/>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354" name="Editable connector"/>
            <p:cNvCxnSpPr/>
            <p:nvPr/>
          </p:nvCxnSpPr>
          <p:spPr>
            <a:xfrm flipV="1">
              <a:off x="7321600" y="5788700"/>
              <a:ext cx="78529" cy="127468"/>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355" name="Editable connector"/>
            <p:cNvCxnSpPr/>
            <p:nvPr/>
          </p:nvCxnSpPr>
          <p:spPr>
            <a:xfrm flipV="1">
              <a:off x="7358085" y="5788700"/>
              <a:ext cx="51773" cy="127468"/>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356" name="Editable connector"/>
            <p:cNvCxnSpPr/>
            <p:nvPr/>
          </p:nvCxnSpPr>
          <p:spPr>
            <a:xfrm flipV="1">
              <a:off x="7394569" y="5788700"/>
              <a:ext cx="25018" cy="127468"/>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cxnSp>
          <p:nvCxnSpPr>
            <p:cNvPr id="10357" name="Editable connector"/>
            <p:cNvCxnSpPr/>
            <p:nvPr/>
          </p:nvCxnSpPr>
          <p:spPr>
            <a:xfrm flipH="1" flipV="1">
              <a:off x="7429317" y="5788700"/>
              <a:ext cx="1737" cy="127468"/>
            </a:xfrm>
            <a:prstGeom prst="line">
              <a:avLst/>
            </a:prstGeom>
            <a:ln w="8890" cap="rnd">
              <a:solidFill>
                <a:srgbClr val="DCE2A3"/>
              </a:solidFill>
            </a:ln>
          </p:spPr>
          <p:style>
            <a:lnRef idx="2">
              <a:schemeClr val="accent1"/>
            </a:lnRef>
            <a:fillRef idx="0">
              <a:schemeClr val="accent1"/>
            </a:fillRef>
            <a:effectRef idx="0">
              <a:schemeClr val="accent1"/>
            </a:effectRef>
            <a:fontRef idx="minor">
              <a:schemeClr val="tx1"/>
            </a:fontRef>
          </p:style>
        </p:cxnSp>
        <p:sp>
          <p:nvSpPr>
            <p:cNvPr id="10358" name="Editable polygon"/>
            <p:cNvSpPr/>
            <p:nvPr/>
          </p:nvSpPr>
          <p:spPr>
            <a:xfrm>
              <a:off x="7116592" y="5776264"/>
              <a:ext cx="253654" cy="139903"/>
            </a:xfrm>
            <a:custGeom>
              <a:avLst/>
              <a:gdLst/>
              <a:ahLst/>
              <a:cxnLst/>
              <a:rect l="0" t="0" r="r" b="b"/>
              <a:pathLst>
                <a:path w="1000" h="1000" stroke="0">
                  <a:moveTo>
                    <a:pt x="0" y="1000"/>
                  </a:moveTo>
                  <a:lnTo>
                    <a:pt x="534" y="1000"/>
                  </a:lnTo>
                  <a:lnTo>
                    <a:pt x="1000" y="0"/>
                  </a:lnTo>
                  <a:lnTo>
                    <a:pt x="945" y="0"/>
                  </a:lnTo>
                  <a:close/>
                </a:path>
              </a:pathLst>
            </a:custGeom>
            <a:solidFill>
              <a:srgbClr val="EEDC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nvGrpSpPr>
            <p:cNvPr id="10359" name="Grouped farm building"/>
            <p:cNvGrpSpPr/>
            <p:nvPr/>
          </p:nvGrpSpPr>
          <p:grpSpPr>
            <a:xfrm>
              <a:off x="7100956" y="5740511"/>
              <a:ext cx="90342" cy="47225"/>
              <a:chOff x="7100956" y="5740511"/>
              <a:chExt cx="90342" cy="47225"/>
            </a:xfrm>
          </p:grpSpPr>
          <p:sp>
            <p:nvSpPr>
              <p:cNvPr id="10360" name="Panel"/>
              <p:cNvSpPr/>
              <p:nvPr/>
            </p:nvSpPr>
            <p:spPr>
              <a:xfrm>
                <a:off x="7109990" y="5757859"/>
                <a:ext cx="66853" cy="29877"/>
              </a:xfrm>
              <a:prstGeom prst="rect">
                <a:avLst/>
              </a:prstGeom>
              <a:solidFill>
                <a:srgbClr val="FEF7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61" name="Editable polygon"/>
              <p:cNvSpPr/>
              <p:nvPr/>
            </p:nvSpPr>
            <p:spPr>
              <a:xfrm>
                <a:off x="7100956" y="5740511"/>
                <a:ext cx="90342" cy="18311"/>
              </a:xfrm>
              <a:custGeom>
                <a:avLst/>
                <a:gdLst/>
                <a:ahLst/>
                <a:cxnLst/>
                <a:rect l="0" t="0" r="r" b="b"/>
                <a:pathLst>
                  <a:path w="1000" h="1000" stroke="0">
                    <a:moveTo>
                      <a:pt x="0" y="1000"/>
                    </a:moveTo>
                    <a:lnTo>
                      <a:pt x="490" y="0"/>
                    </a:lnTo>
                    <a:lnTo>
                      <a:pt x="1000" y="1000"/>
                    </a:lnTo>
                    <a:close/>
                  </a:path>
                </a:pathLst>
              </a:custGeom>
              <a:solidFill>
                <a:srgbClr val="BD7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62" name="Panel"/>
              <p:cNvSpPr/>
              <p:nvPr/>
            </p:nvSpPr>
            <p:spPr>
              <a:xfrm>
                <a:off x="7127155" y="5768461"/>
                <a:ext cx="16261" cy="19275"/>
              </a:xfrm>
              <a:prstGeom prst="rect">
                <a:avLst/>
              </a:prstGeom>
              <a:solidFill>
                <a:srgbClr val="5075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63" name="Panel"/>
              <p:cNvSpPr/>
              <p:nvPr/>
            </p:nvSpPr>
            <p:spPr>
              <a:xfrm>
                <a:off x="7152451" y="5765569"/>
                <a:ext cx="15358" cy="8192"/>
              </a:xfrm>
              <a:prstGeom prst="rect">
                <a:avLst/>
              </a:prstGeom>
              <a:solidFill>
                <a:srgbClr val="9FC3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grpSp>
          <p:nvGrpSpPr>
            <p:cNvPr id="10364" name="Grouped farm building"/>
            <p:cNvGrpSpPr/>
            <p:nvPr/>
          </p:nvGrpSpPr>
          <p:grpSpPr>
            <a:xfrm>
              <a:off x="7321600" y="5738957"/>
              <a:ext cx="86868" cy="45701"/>
              <a:chOff x="7321600" y="5738957"/>
              <a:chExt cx="86868" cy="45701"/>
            </a:xfrm>
          </p:grpSpPr>
          <p:sp>
            <p:nvSpPr>
              <p:cNvPr id="10365" name="Panel"/>
              <p:cNvSpPr/>
              <p:nvPr/>
            </p:nvSpPr>
            <p:spPr>
              <a:xfrm>
                <a:off x="7330287" y="5755745"/>
                <a:ext cx="64282" cy="28913"/>
              </a:xfrm>
              <a:prstGeom prst="rect">
                <a:avLst/>
              </a:prstGeom>
              <a:solidFill>
                <a:srgbClr val="FEF7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66" name="Editable polygon"/>
              <p:cNvSpPr/>
              <p:nvPr/>
            </p:nvSpPr>
            <p:spPr>
              <a:xfrm>
                <a:off x="7321600" y="5738957"/>
                <a:ext cx="86868" cy="17721"/>
              </a:xfrm>
              <a:custGeom>
                <a:avLst/>
                <a:gdLst/>
                <a:ahLst/>
                <a:cxnLst/>
                <a:rect l="0" t="0" r="r" b="b"/>
                <a:pathLst>
                  <a:path w="1000" h="1000" stroke="0">
                    <a:moveTo>
                      <a:pt x="0" y="1000"/>
                    </a:moveTo>
                    <a:lnTo>
                      <a:pt x="490" y="0"/>
                    </a:lnTo>
                    <a:lnTo>
                      <a:pt x="1000" y="1000"/>
                    </a:lnTo>
                    <a:close/>
                  </a:path>
                </a:pathLst>
              </a:custGeom>
              <a:solidFill>
                <a:srgbClr val="BD7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67" name="Panel"/>
              <p:cNvSpPr/>
              <p:nvPr/>
            </p:nvSpPr>
            <p:spPr>
              <a:xfrm>
                <a:off x="7346792" y="5766005"/>
                <a:ext cx="15636" cy="18653"/>
              </a:xfrm>
              <a:prstGeom prst="rect">
                <a:avLst/>
              </a:prstGeom>
              <a:solidFill>
                <a:srgbClr val="5075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68" name="Panel"/>
              <p:cNvSpPr/>
              <p:nvPr/>
            </p:nvSpPr>
            <p:spPr>
              <a:xfrm>
                <a:off x="7371115" y="5763207"/>
                <a:ext cx="14767" cy="7927"/>
              </a:xfrm>
              <a:prstGeom prst="rect">
                <a:avLst/>
              </a:prstGeom>
              <a:solidFill>
                <a:srgbClr val="9FC3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grpSp>
          <p:nvGrpSpPr>
            <p:cNvPr id="10369" name="Grouped field tree"/>
            <p:cNvGrpSpPr/>
            <p:nvPr/>
          </p:nvGrpSpPr>
          <p:grpSpPr>
            <a:xfrm>
              <a:off x="7383867" y="5703515"/>
              <a:ext cx="43364" cy="91403"/>
              <a:chOff x="7383867" y="5703515"/>
              <a:chExt cx="43364" cy="91403"/>
            </a:xfrm>
          </p:grpSpPr>
          <p:sp>
            <p:nvSpPr>
              <p:cNvPr id="10370" name="Panel"/>
              <p:cNvSpPr/>
              <p:nvPr/>
            </p:nvSpPr>
            <p:spPr>
              <a:xfrm>
                <a:off x="7401658" y="5729630"/>
                <a:ext cx="6115" cy="65288"/>
              </a:xfrm>
              <a:prstGeom prst="rect">
                <a:avLst/>
              </a:prstGeom>
              <a:solidFill>
                <a:srgbClr val="90784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71" name="Ellipse"/>
              <p:cNvSpPr/>
              <p:nvPr/>
            </p:nvSpPr>
            <p:spPr>
              <a:xfrm>
                <a:off x="7383867" y="5725899"/>
                <a:ext cx="29465" cy="41038"/>
              </a:xfrm>
              <a:prstGeom prst="ellipse">
                <a:avLst/>
              </a:prstGeom>
              <a:solidFill>
                <a:srgbClr val="5E99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72" name="Ellipse"/>
              <p:cNvSpPr/>
              <p:nvPr/>
            </p:nvSpPr>
            <p:spPr>
              <a:xfrm>
                <a:off x="7399434" y="5731495"/>
                <a:ext cx="27241" cy="39172"/>
              </a:xfrm>
              <a:prstGeom prst="ellipse">
                <a:avLst/>
              </a:prstGeom>
              <a:solidFill>
                <a:srgbClr val="3F7F5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73" name="Ellipse"/>
              <p:cNvSpPr/>
              <p:nvPr/>
            </p:nvSpPr>
            <p:spPr>
              <a:xfrm>
                <a:off x="7388315" y="5703515"/>
                <a:ext cx="32245" cy="50365"/>
              </a:xfrm>
              <a:prstGeom prst="ellipse">
                <a:avLst/>
              </a:prstGeom>
              <a:solidFill>
                <a:srgbClr val="6BA1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74" name="Ellipse"/>
              <p:cNvSpPr/>
              <p:nvPr/>
            </p:nvSpPr>
            <p:spPr>
              <a:xfrm>
                <a:off x="7396098" y="5720303"/>
                <a:ext cx="31133" cy="46634"/>
              </a:xfrm>
              <a:prstGeom prst="ellipse">
                <a:avLst/>
              </a:prstGeom>
              <a:solidFill>
                <a:srgbClr val="4E8B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cxnSp>
          <p:nvCxnSpPr>
            <p:cNvPr id="10375" name="Editable connector"/>
            <p:cNvCxnSpPr/>
            <p:nvPr/>
          </p:nvCxnSpPr>
          <p:spPr>
            <a:xfrm>
              <a:off x="7113117" y="5850879"/>
              <a:ext cx="0" cy="31090"/>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376" name="Editable polygon"/>
            <p:cNvSpPr/>
            <p:nvPr/>
          </p:nvSpPr>
          <p:spPr>
            <a:xfrm>
              <a:off x="7101998" y="5856475"/>
              <a:ext cx="11119" cy="9948"/>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77" name="Editable polygon"/>
            <p:cNvSpPr/>
            <p:nvPr/>
          </p:nvSpPr>
          <p:spPr>
            <a:xfrm>
              <a:off x="7113117" y="5860828"/>
              <a:ext cx="9729" cy="11503"/>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78" name="Editable connector"/>
            <p:cNvCxnSpPr/>
            <p:nvPr/>
          </p:nvCxnSpPr>
          <p:spPr>
            <a:xfrm>
              <a:off x="7137440" y="5867979"/>
              <a:ext cx="0" cy="31089"/>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379" name="Editable polygon"/>
            <p:cNvSpPr/>
            <p:nvPr/>
          </p:nvSpPr>
          <p:spPr>
            <a:xfrm>
              <a:off x="7126321" y="5873575"/>
              <a:ext cx="11119" cy="9948"/>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80" name="Editable polygon"/>
            <p:cNvSpPr/>
            <p:nvPr/>
          </p:nvSpPr>
          <p:spPr>
            <a:xfrm>
              <a:off x="7137440" y="5877927"/>
              <a:ext cx="9729" cy="11503"/>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81" name="Editable connector"/>
            <p:cNvCxnSpPr/>
            <p:nvPr/>
          </p:nvCxnSpPr>
          <p:spPr>
            <a:xfrm>
              <a:off x="7161763" y="5850879"/>
              <a:ext cx="0" cy="31090"/>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382" name="Editable polygon"/>
            <p:cNvSpPr/>
            <p:nvPr/>
          </p:nvSpPr>
          <p:spPr>
            <a:xfrm>
              <a:off x="7150644" y="5856475"/>
              <a:ext cx="11119" cy="9948"/>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83" name="Editable polygon"/>
            <p:cNvSpPr/>
            <p:nvPr/>
          </p:nvSpPr>
          <p:spPr>
            <a:xfrm>
              <a:off x="7161763" y="5860828"/>
              <a:ext cx="9729" cy="11503"/>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384" name="Editable connector"/>
            <p:cNvCxnSpPr/>
            <p:nvPr/>
          </p:nvCxnSpPr>
          <p:spPr>
            <a:xfrm>
              <a:off x="7186086" y="5867979"/>
              <a:ext cx="0" cy="31089"/>
            </a:xfrm>
            <a:prstGeom prst="line">
              <a:avLst/>
            </a:prstGeom>
            <a:ln w="7620" cap="rnd">
              <a:solidFill>
                <a:srgbClr val="547A40"/>
              </a:solidFill>
            </a:ln>
          </p:spPr>
          <p:style>
            <a:lnRef idx="2">
              <a:schemeClr val="accent1"/>
            </a:lnRef>
            <a:fillRef idx="0">
              <a:schemeClr val="accent1"/>
            </a:fillRef>
            <a:effectRef idx="0">
              <a:schemeClr val="accent1"/>
            </a:effectRef>
            <a:fontRef idx="minor">
              <a:schemeClr val="tx1"/>
            </a:fontRef>
          </p:style>
        </p:cxnSp>
        <p:sp>
          <p:nvSpPr>
            <p:cNvPr id="10385" name="Editable polygon"/>
            <p:cNvSpPr/>
            <p:nvPr/>
          </p:nvSpPr>
          <p:spPr>
            <a:xfrm>
              <a:off x="7174967" y="5873575"/>
              <a:ext cx="11119" cy="9948"/>
            </a:xfrm>
            <a:custGeom>
              <a:avLst/>
              <a:gdLst/>
              <a:ahLst/>
              <a:cxnLst/>
              <a:rect l="0" t="0" r="r" b="b"/>
              <a:pathLst>
                <a:path w="1000" h="1000" stroke="0">
                  <a:moveTo>
                    <a:pt x="1000" y="1000"/>
                  </a:moveTo>
                  <a:lnTo>
                    <a:pt x="0" y="0"/>
                  </a:lnTo>
                  <a:lnTo>
                    <a:pt x="1000" y="344"/>
                  </a:lnTo>
                  <a:close/>
                </a:path>
              </a:pathLst>
            </a:custGeom>
            <a:solidFill>
              <a:srgbClr val="547A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86" name="Editable polygon"/>
            <p:cNvSpPr/>
            <p:nvPr/>
          </p:nvSpPr>
          <p:spPr>
            <a:xfrm>
              <a:off x="7186086" y="5877927"/>
              <a:ext cx="9729" cy="11503"/>
            </a:xfrm>
            <a:custGeom>
              <a:avLst/>
              <a:gdLst/>
              <a:ahLst/>
              <a:cxnLst/>
              <a:rect l="0" t="0" r="r" b="b"/>
              <a:pathLst>
                <a:path w="1000" h="1000" stroke="0">
                  <a:moveTo>
                    <a:pt x="0" y="1000"/>
                  </a:moveTo>
                  <a:lnTo>
                    <a:pt x="1000" y="0"/>
                  </a:lnTo>
                  <a:lnTo>
                    <a:pt x="0" y="351"/>
                  </a:lnTo>
                  <a:close/>
                </a:path>
              </a:pathLst>
            </a:custGeom>
            <a:solidFill>
              <a:srgbClr val="7598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387" name="Ingredient 3 text"/>
          <p:cNvSpPr txBox="1"/>
          <p:nvPr/>
        </p:nvSpPr>
        <p:spPr>
          <a:xfrm>
            <a:off x="1124712" y="10991088"/>
            <a:ext cx="331012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Context and practice norms</a:t>
            </a:r>
          </a:p>
        </p:txBody>
      </p:sp>
      <p:sp>
        <p:nvSpPr>
          <p:cNvPr id="10388" name="Ingredient 4"/>
          <p:cNvSpPr/>
          <p:nvPr/>
        </p:nvSpPr>
        <p:spPr>
          <a:xfrm>
            <a:off x="393192" y="11466576"/>
            <a:ext cx="4178808" cy="493776"/>
          </a:xfrm>
          <a:prstGeom prst="roundRect">
            <a:avLst>
              <a:gd name="adj" fmla="val 5000"/>
            </a:avLst>
          </a:prstGeom>
          <a:solidFill>
            <a:srgbClr val="FFFFFF"/>
          </a:solidFill>
          <a:ln w="8255">
            <a:solidFill>
              <a:srgbClr val="A9CBDD"/>
            </a:solidFill>
          </a:ln>
        </p:spPr>
        <p:txBody>
          <a:bodyPr/>
          <a:lstStyle/>
          <a:p>
            <a:endParaRPr lang="en-US"/>
          </a:p>
        </p:txBody>
      </p:sp>
      <p:grpSp>
        <p:nvGrpSpPr>
          <p:cNvPr id="10389" name="Task in prompt"/>
          <p:cNvGrpSpPr/>
          <p:nvPr/>
        </p:nvGrpSpPr>
        <p:grpSpPr>
          <a:xfrm>
            <a:off x="512064" y="11530584"/>
            <a:ext cx="283169" cy="365760"/>
            <a:chOff x="7150608" y="6108192"/>
            <a:chExt cx="219456" cy="283464"/>
          </a:xfrm>
        </p:grpSpPr>
        <p:sp>
          <p:nvSpPr>
            <p:cNvPr id="10390" name="Document sheet"/>
            <p:cNvSpPr/>
            <p:nvPr/>
          </p:nvSpPr>
          <p:spPr>
            <a:xfrm>
              <a:off x="7150608" y="6108192"/>
              <a:ext cx="219456" cy="283464"/>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391" name="Folded corner"/>
            <p:cNvSpPr/>
            <p:nvPr/>
          </p:nvSpPr>
          <p:spPr>
            <a:xfrm>
              <a:off x="7305324" y="6108192"/>
              <a:ext cx="64739" cy="70866"/>
            </a:xfrm>
            <a:custGeom>
              <a:avLst/>
              <a:gdLst/>
              <a:ahLst/>
              <a:cxnLst/>
              <a:rect l="0" t="0" r="r" b="b"/>
              <a:pathLst>
                <a:path w="1000" h="1000" fill="none">
                  <a:moveTo>
                    <a:pt x="0" y="0"/>
                  </a:moveTo>
                  <a:lnTo>
                    <a:pt x="0" y="1000"/>
                  </a:lnTo>
                  <a:lnTo>
                    <a:pt x="1000" y="1000"/>
                  </a:lnTo>
                </a:path>
              </a:pathLst>
            </a:custGeom>
            <a:noFill/>
            <a:ln w="1270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nvGrpSpPr>
            <p:cNvPr id="10392" name="Checklist mark"/>
            <p:cNvGrpSpPr/>
            <p:nvPr/>
          </p:nvGrpSpPr>
          <p:grpSpPr>
            <a:xfrm>
              <a:off x="7181331" y="6203152"/>
              <a:ext cx="39502" cy="31181"/>
              <a:chOff x="7181331" y="6203152"/>
              <a:chExt cx="39502" cy="31181"/>
            </a:xfrm>
          </p:grpSpPr>
          <p:cxnSp>
            <p:nvCxnSpPr>
              <p:cNvPr id="10393" name="Checklist mark / segment 1"/>
              <p:cNvCxnSpPr/>
              <p:nvPr/>
            </p:nvCxnSpPr>
            <p:spPr>
              <a:xfrm>
                <a:off x="7181331" y="6215908"/>
                <a:ext cx="15362" cy="18425"/>
              </a:xfrm>
              <a:prstGeom prst="line">
                <a:avLst/>
              </a:prstGeom>
              <a:ln w="1270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394" name="Checklist mark / segment 2"/>
              <p:cNvCxnSpPr/>
              <p:nvPr/>
            </p:nvCxnSpPr>
            <p:spPr>
              <a:xfrm flipV="1">
                <a:off x="7196693" y="6203152"/>
                <a:ext cx="24140" cy="31181"/>
              </a:xfrm>
              <a:prstGeom prst="line">
                <a:avLst/>
              </a:prstGeom>
              <a:ln w="12700" cap="rnd">
                <a:solidFill>
                  <a:srgbClr val="123755"/>
                </a:solidFill>
              </a:ln>
            </p:spPr>
            <p:style>
              <a:lnRef idx="2">
                <a:schemeClr val="accent1"/>
              </a:lnRef>
              <a:fillRef idx="0">
                <a:schemeClr val="accent1"/>
              </a:fillRef>
              <a:effectRef idx="0">
                <a:schemeClr val="accent1"/>
              </a:effectRef>
              <a:fontRef idx="minor">
                <a:schemeClr val="tx1"/>
              </a:fontRef>
            </p:style>
          </p:cxnSp>
        </p:grpSp>
        <p:cxnSp>
          <p:nvCxnSpPr>
            <p:cNvPr id="10395" name="Editable connector"/>
            <p:cNvCxnSpPr/>
            <p:nvPr/>
          </p:nvCxnSpPr>
          <p:spPr>
            <a:xfrm>
              <a:off x="7249363" y="6215908"/>
              <a:ext cx="79004" cy="0"/>
            </a:xfrm>
            <a:prstGeom prst="line">
              <a:avLst/>
            </a:prstGeom>
            <a:ln w="10795" cap="rnd">
              <a:solidFill>
                <a:srgbClr val="123755"/>
              </a:solidFill>
            </a:ln>
          </p:spPr>
          <p:style>
            <a:lnRef idx="2">
              <a:schemeClr val="accent1"/>
            </a:lnRef>
            <a:fillRef idx="0">
              <a:schemeClr val="accent1"/>
            </a:fillRef>
            <a:effectRef idx="0">
              <a:schemeClr val="accent1"/>
            </a:effectRef>
            <a:fontRef idx="minor">
              <a:schemeClr val="tx1"/>
            </a:fontRef>
          </p:style>
        </p:cxnSp>
        <p:grpSp>
          <p:nvGrpSpPr>
            <p:cNvPr id="10396" name="Checklist mark"/>
            <p:cNvGrpSpPr/>
            <p:nvPr/>
          </p:nvGrpSpPr>
          <p:grpSpPr>
            <a:xfrm>
              <a:off x="7181331" y="6254175"/>
              <a:ext cx="39502" cy="31182"/>
              <a:chOff x="7181331" y="6254175"/>
              <a:chExt cx="39502" cy="31182"/>
            </a:xfrm>
          </p:grpSpPr>
          <p:cxnSp>
            <p:nvCxnSpPr>
              <p:cNvPr id="10397" name="Checklist mark / segment 1"/>
              <p:cNvCxnSpPr/>
              <p:nvPr/>
            </p:nvCxnSpPr>
            <p:spPr>
              <a:xfrm>
                <a:off x="7181331" y="6266931"/>
                <a:ext cx="15362" cy="18426"/>
              </a:xfrm>
              <a:prstGeom prst="line">
                <a:avLst/>
              </a:prstGeom>
              <a:ln w="1270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398" name="Checklist mark / segment 2"/>
              <p:cNvCxnSpPr/>
              <p:nvPr/>
            </p:nvCxnSpPr>
            <p:spPr>
              <a:xfrm flipV="1">
                <a:off x="7196693" y="6254175"/>
                <a:ext cx="24140" cy="31182"/>
              </a:xfrm>
              <a:prstGeom prst="line">
                <a:avLst/>
              </a:prstGeom>
              <a:ln w="12700" cap="rnd">
                <a:solidFill>
                  <a:srgbClr val="123755"/>
                </a:solidFill>
              </a:ln>
            </p:spPr>
            <p:style>
              <a:lnRef idx="2">
                <a:schemeClr val="accent1"/>
              </a:lnRef>
              <a:fillRef idx="0">
                <a:schemeClr val="accent1"/>
              </a:fillRef>
              <a:effectRef idx="0">
                <a:schemeClr val="accent1"/>
              </a:effectRef>
              <a:fontRef idx="minor">
                <a:schemeClr val="tx1"/>
              </a:fontRef>
            </p:style>
          </p:cxnSp>
        </p:grpSp>
        <p:cxnSp>
          <p:nvCxnSpPr>
            <p:cNvPr id="10399" name="Editable connector"/>
            <p:cNvCxnSpPr/>
            <p:nvPr/>
          </p:nvCxnSpPr>
          <p:spPr>
            <a:xfrm>
              <a:off x="7249363" y="6266931"/>
              <a:ext cx="79004" cy="0"/>
            </a:xfrm>
            <a:prstGeom prst="line">
              <a:avLst/>
            </a:prstGeom>
            <a:ln w="10795" cap="rnd">
              <a:solidFill>
                <a:srgbClr val="123755"/>
              </a:solidFill>
            </a:ln>
          </p:spPr>
          <p:style>
            <a:lnRef idx="2">
              <a:schemeClr val="accent1"/>
            </a:lnRef>
            <a:fillRef idx="0">
              <a:schemeClr val="accent1"/>
            </a:fillRef>
            <a:effectRef idx="0">
              <a:schemeClr val="accent1"/>
            </a:effectRef>
            <a:fontRef idx="minor">
              <a:schemeClr val="tx1"/>
            </a:fontRef>
          </p:style>
        </p:cxnSp>
        <p:grpSp>
          <p:nvGrpSpPr>
            <p:cNvPr id="10400" name="Checklist mark"/>
            <p:cNvGrpSpPr/>
            <p:nvPr/>
          </p:nvGrpSpPr>
          <p:grpSpPr>
            <a:xfrm>
              <a:off x="7181331" y="6305199"/>
              <a:ext cx="39502" cy="31181"/>
              <a:chOff x="7181331" y="6305199"/>
              <a:chExt cx="39502" cy="31181"/>
            </a:xfrm>
          </p:grpSpPr>
          <p:cxnSp>
            <p:nvCxnSpPr>
              <p:cNvPr id="10401" name="Checklist mark / segment 1"/>
              <p:cNvCxnSpPr/>
              <p:nvPr/>
            </p:nvCxnSpPr>
            <p:spPr>
              <a:xfrm>
                <a:off x="7181331" y="6317955"/>
                <a:ext cx="15362" cy="18425"/>
              </a:xfrm>
              <a:prstGeom prst="line">
                <a:avLst/>
              </a:prstGeom>
              <a:ln w="1270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02" name="Checklist mark / segment 2"/>
              <p:cNvCxnSpPr/>
              <p:nvPr/>
            </p:nvCxnSpPr>
            <p:spPr>
              <a:xfrm flipV="1">
                <a:off x="7196693" y="6305199"/>
                <a:ext cx="24140" cy="31181"/>
              </a:xfrm>
              <a:prstGeom prst="line">
                <a:avLst/>
              </a:prstGeom>
              <a:ln w="12700" cap="rnd">
                <a:solidFill>
                  <a:srgbClr val="123755"/>
                </a:solidFill>
              </a:ln>
            </p:spPr>
            <p:style>
              <a:lnRef idx="2">
                <a:schemeClr val="accent1"/>
              </a:lnRef>
              <a:fillRef idx="0">
                <a:schemeClr val="accent1"/>
              </a:fillRef>
              <a:effectRef idx="0">
                <a:schemeClr val="accent1"/>
              </a:effectRef>
              <a:fontRef idx="minor">
                <a:schemeClr val="tx1"/>
              </a:fontRef>
            </p:style>
          </p:cxnSp>
        </p:grpSp>
        <p:cxnSp>
          <p:nvCxnSpPr>
            <p:cNvPr id="10403" name="Editable connector"/>
            <p:cNvCxnSpPr/>
            <p:nvPr/>
          </p:nvCxnSpPr>
          <p:spPr>
            <a:xfrm>
              <a:off x="7249363" y="6317955"/>
              <a:ext cx="79004" cy="0"/>
            </a:xfrm>
            <a:prstGeom prst="line">
              <a:avLst/>
            </a:prstGeom>
            <a:ln w="10795" cap="rnd">
              <a:solidFill>
                <a:srgbClr val="123755"/>
              </a:solidFill>
            </a:ln>
          </p:spPr>
          <p:style>
            <a:lnRef idx="2">
              <a:schemeClr val="accent1"/>
            </a:lnRef>
            <a:fillRef idx="0">
              <a:schemeClr val="accent1"/>
            </a:fillRef>
            <a:effectRef idx="0">
              <a:schemeClr val="accent1"/>
            </a:effectRef>
            <a:fontRef idx="minor">
              <a:schemeClr val="tx1"/>
            </a:fontRef>
          </p:style>
        </p:cxnSp>
      </p:grpSp>
      <p:sp>
        <p:nvSpPr>
          <p:cNvPr id="10404" name="Ingredient 4 text"/>
          <p:cNvSpPr txBox="1"/>
          <p:nvPr/>
        </p:nvSpPr>
        <p:spPr>
          <a:xfrm>
            <a:off x="1124712" y="11558016"/>
            <a:ext cx="331012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Decision task</a:t>
            </a:r>
          </a:p>
        </p:txBody>
      </p:sp>
      <p:sp>
        <p:nvSpPr>
          <p:cNvPr id="10405" name="Ingredient 5"/>
          <p:cNvSpPr/>
          <p:nvPr/>
        </p:nvSpPr>
        <p:spPr>
          <a:xfrm>
            <a:off x="393192" y="12033504"/>
            <a:ext cx="4178808" cy="493776"/>
          </a:xfrm>
          <a:prstGeom prst="roundRect">
            <a:avLst>
              <a:gd name="adj" fmla="val 5000"/>
            </a:avLst>
          </a:prstGeom>
          <a:solidFill>
            <a:srgbClr val="FFFFFF"/>
          </a:solidFill>
          <a:ln w="8255">
            <a:solidFill>
              <a:srgbClr val="A9CBDD"/>
            </a:solidFill>
          </a:ln>
        </p:spPr>
        <p:txBody>
          <a:bodyPr/>
          <a:lstStyle/>
          <a:p>
            <a:endParaRPr lang="en-US"/>
          </a:p>
        </p:txBody>
      </p:sp>
      <p:grpSp>
        <p:nvGrpSpPr>
          <p:cNvPr id="10406" name="Requested structure in prompt"/>
          <p:cNvGrpSpPr/>
          <p:nvPr/>
        </p:nvGrpSpPr>
        <p:grpSpPr>
          <a:xfrm>
            <a:off x="512064" y="12097512"/>
            <a:ext cx="283169" cy="365760"/>
            <a:chOff x="7150608" y="6601968"/>
            <a:chExt cx="219456" cy="283464"/>
          </a:xfrm>
        </p:grpSpPr>
        <p:sp>
          <p:nvSpPr>
            <p:cNvPr id="10407" name="Document sheet"/>
            <p:cNvSpPr/>
            <p:nvPr/>
          </p:nvSpPr>
          <p:spPr>
            <a:xfrm>
              <a:off x="7150608" y="6601968"/>
              <a:ext cx="219456" cy="283464"/>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08" name="Folded corner"/>
            <p:cNvSpPr/>
            <p:nvPr/>
          </p:nvSpPr>
          <p:spPr>
            <a:xfrm>
              <a:off x="7305324" y="6601968"/>
              <a:ext cx="64739" cy="70866"/>
            </a:xfrm>
            <a:custGeom>
              <a:avLst/>
              <a:gdLst/>
              <a:ahLst/>
              <a:cxnLst/>
              <a:rect l="0" t="0" r="r" b="b"/>
              <a:pathLst>
                <a:path w="1000" h="1000" fill="none">
                  <a:moveTo>
                    <a:pt x="0" y="0"/>
                  </a:moveTo>
                  <a:lnTo>
                    <a:pt x="0" y="1000"/>
                  </a:lnTo>
                  <a:lnTo>
                    <a:pt x="1000" y="1000"/>
                  </a:lnTo>
                </a:path>
              </a:pathLst>
            </a:custGeom>
            <a:noFill/>
            <a:ln w="1270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09" name="Text / {}"/>
            <p:cNvSpPr txBox="1"/>
            <p:nvPr/>
          </p:nvSpPr>
          <p:spPr>
            <a:xfrm>
              <a:off x="7176942" y="6678503"/>
              <a:ext cx="166786" cy="121889"/>
            </a:xfrm>
            <a:prstGeom prst="rect">
              <a:avLst/>
            </a:prstGeom>
            <a:noFill/>
          </p:spPr>
          <p:txBody>
            <a:bodyPr wrap="none" lIns="0" tIns="0" rIns="0" bIns="0" anchor="t">
              <a:noAutofit/>
            </a:bodyPr>
            <a:lstStyle/>
            <a:p>
              <a:pPr algn="ctr">
                <a:lnSpc>
                  <a:spcPts val="1128"/>
                </a:lnSpc>
                <a:spcBef>
                  <a:spcPts val="0"/>
                </a:spcBef>
                <a:spcAft>
                  <a:spcPts val="0"/>
                </a:spcAft>
              </a:pPr>
              <a:r>
                <a:rPr sz="1100" b="1" i="0">
                  <a:solidFill>
                    <a:srgbClr val="123755"/>
                  </a:solidFill>
                  <a:latin typeface="Arial" panose="020B0604020202020204" pitchFamily="34" charset="0"/>
                  <a:ea typeface="Arial"/>
                  <a:cs typeface="Arial" panose="020B0604020202020204" pitchFamily="34" charset="0"/>
                </a:rPr>
                <a:t>{}</a:t>
              </a:r>
            </a:p>
          </p:txBody>
        </p:sp>
      </p:grpSp>
      <p:sp>
        <p:nvSpPr>
          <p:cNvPr id="10410" name="Ingredient 5 text"/>
          <p:cNvSpPr txBox="1"/>
          <p:nvPr/>
        </p:nvSpPr>
        <p:spPr>
          <a:xfrm>
            <a:off x="1124712" y="12124944"/>
            <a:ext cx="331012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Reasoning + JSON response</a:t>
            </a:r>
          </a:p>
        </p:txBody>
      </p:sp>
      <p:sp>
        <p:nvSpPr>
          <p:cNvPr id="10411" name="Panel 4 background"/>
          <p:cNvSpPr/>
          <p:nvPr/>
        </p:nvSpPr>
        <p:spPr>
          <a:xfrm>
            <a:off x="4997196" y="8851392"/>
            <a:ext cx="4636008" cy="3931920"/>
          </a:xfrm>
          <a:prstGeom prst="roundRect">
            <a:avLst>
              <a:gd name="adj" fmla="val 2600"/>
            </a:avLst>
          </a:prstGeom>
          <a:solidFill>
            <a:srgbClr val="F8FBFD"/>
          </a:solidFill>
          <a:ln w="9525">
            <a:solidFill>
              <a:srgbClr val="A9CBDD"/>
            </a:solidFill>
          </a:ln>
        </p:spPr>
        <p:txBody>
          <a:bodyPr/>
          <a:lstStyle/>
          <a:p>
            <a:endParaRPr lang="en-US"/>
          </a:p>
        </p:txBody>
      </p:sp>
      <p:sp>
        <p:nvSpPr>
          <p:cNvPr id="10412" name="Panel 4 title"/>
          <p:cNvSpPr txBox="1"/>
          <p:nvPr/>
        </p:nvSpPr>
        <p:spPr>
          <a:xfrm>
            <a:off x="5152644" y="8961120"/>
            <a:ext cx="4361688" cy="365760"/>
          </a:xfrm>
          <a:prstGeom prst="rect">
            <a:avLst/>
          </a:prstGeom>
          <a:noFill/>
        </p:spPr>
        <p:txBody>
          <a:bodyPr wrap="square" lIns="0" tIns="0" rIns="0" bIns="0" anchor="t">
            <a:noAutofit/>
          </a:bodyPr>
          <a:lstStyle/>
          <a:p>
            <a:pPr algn="l">
              <a:lnSpc>
                <a:spcPct val="95000"/>
              </a:lnSpc>
            </a:pPr>
            <a:r>
              <a:rPr lang="en-US" sz="2000" b="1" i="0" dirty="0">
                <a:solidFill>
                  <a:srgbClr val="123755"/>
                </a:solidFill>
                <a:latin typeface="Arial"/>
                <a:cs typeface="Arial"/>
              </a:rPr>
              <a:t xml:space="preserve">4  CALLS &amp; RESPONSES</a:t>
            </a:r>
          </a:p>
        </p:txBody>
      </p:sp>
      <p:sp>
        <p:nvSpPr>
          <p:cNvPr id="10413" name="Panel 4 subtitle"/>
          <p:cNvSpPr txBox="1"/>
          <p:nvPr/>
        </p:nvSpPr>
        <p:spPr>
          <a:xfrm>
            <a:off x="5152644" y="9354312"/>
            <a:ext cx="4361688" cy="329184"/>
          </a:xfrm>
          <a:prstGeom prst="rect">
            <a:avLst/>
          </a:prstGeom>
          <a:noFill/>
        </p:spPr>
        <p:txBody>
          <a:bodyPr wrap="square" lIns="0" tIns="0" rIns="0" bIns="0" anchor="t">
            <a:noAutofit/>
          </a:bodyPr>
          <a:lstStyle/>
          <a:p>
            <a:pPr algn="l">
              <a:lnSpc>
                <a:spcPct val="95000"/>
              </a:lnSpc>
            </a:pPr>
            <a:r>
              <a:rPr lang="en-US" sz="1650" b="0" i="0" dirty="0">
                <a:solidFill>
                  <a:srgbClr val="506B81"/>
                </a:solidFill>
                <a:latin typeface="Arial"/>
                <a:cs typeface="Arial"/>
              </a:rPr>
              <a:t xml:space="preserve">One stateless call per prompt and model</a:t>
            </a:r>
          </a:p>
        </p:txBody>
      </p:sp>
      <p:sp>
        <p:nvSpPr>
          <p:cNvPr id="10414" name="Provider 1"/>
          <p:cNvSpPr/>
          <p:nvPr/>
        </p:nvSpPr>
        <p:spPr>
          <a:xfrm>
            <a:off x="5317236" y="9765792"/>
            <a:ext cx="3995928" cy="438912"/>
          </a:xfrm>
          <a:prstGeom prst="roundRect">
            <a:avLst>
              <a:gd name="adj" fmla="val 5000"/>
            </a:avLst>
          </a:prstGeom>
          <a:solidFill>
            <a:srgbClr val="FFFFFF"/>
          </a:solidFill>
          <a:ln w="8255">
            <a:solidFill>
              <a:srgbClr val="54A3D3"/>
            </a:solidFill>
          </a:ln>
        </p:spPr>
        <p:txBody>
          <a:bodyPr/>
          <a:lstStyle/>
          <a:p>
            <a:endParaRPr lang="en-US"/>
          </a:p>
        </p:txBody>
      </p:sp>
      <p:sp>
        <p:nvSpPr>
          <p:cNvPr id="10415" name="Provider 1 text"/>
          <p:cNvSpPr txBox="1"/>
          <p:nvPr/>
        </p:nvSpPr>
        <p:spPr>
          <a:xfrm>
            <a:off x="5317236" y="9838944"/>
            <a:ext cx="3995928" cy="310896"/>
          </a:xfrm>
          <a:prstGeom prst="rect">
            <a:avLst/>
          </a:prstGeom>
          <a:noFill/>
        </p:spPr>
        <p:txBody>
          <a:bodyPr wrap="square" lIns="0" tIns="0" rIns="0" bIns="0" anchor="t">
            <a:noAutofit/>
          </a:bodyPr>
          <a:lstStyle/>
          <a:p>
            <a:pPr algn="ctr">
              <a:lnSpc>
                <a:spcPct val="95000"/>
              </a:lnSpc>
            </a:pPr>
            <a:r>
              <a:rPr lang="en-US" sz="1700" b="1" i="0" dirty="0">
                <a:solidFill>
                  <a:srgbClr val="123755"/>
                </a:solidFill>
                <a:latin typeface="Arial"/>
                <a:cs typeface="Arial"/>
              </a:rPr>
              <a:t xml:space="preserve">Claude (Opus 4.6)</a:t>
            </a:r>
          </a:p>
        </p:txBody>
      </p:sp>
      <p:sp>
        <p:nvSpPr>
          <p:cNvPr id="10416" name="Provider 2"/>
          <p:cNvSpPr/>
          <p:nvPr/>
        </p:nvSpPr>
        <p:spPr>
          <a:xfrm>
            <a:off x="5317236" y="10296144"/>
            <a:ext cx="3995928" cy="438912"/>
          </a:xfrm>
          <a:prstGeom prst="roundRect">
            <a:avLst>
              <a:gd name="adj" fmla="val 5000"/>
            </a:avLst>
          </a:prstGeom>
          <a:solidFill>
            <a:srgbClr val="FFFFFF"/>
          </a:solidFill>
          <a:ln w="8255">
            <a:solidFill>
              <a:srgbClr val="54A3D3"/>
            </a:solidFill>
          </a:ln>
        </p:spPr>
        <p:txBody>
          <a:bodyPr/>
          <a:lstStyle/>
          <a:p>
            <a:endParaRPr lang="en-US"/>
          </a:p>
        </p:txBody>
      </p:sp>
      <p:sp>
        <p:nvSpPr>
          <p:cNvPr id="10417" name="Provider 2 text"/>
          <p:cNvSpPr txBox="1"/>
          <p:nvPr/>
        </p:nvSpPr>
        <p:spPr>
          <a:xfrm>
            <a:off x="5317236" y="10369296"/>
            <a:ext cx="3995928" cy="310896"/>
          </a:xfrm>
          <a:prstGeom prst="rect">
            <a:avLst/>
          </a:prstGeom>
          <a:noFill/>
        </p:spPr>
        <p:txBody>
          <a:bodyPr wrap="square" lIns="0" tIns="0" rIns="0" bIns="0" anchor="t">
            <a:noAutofit/>
          </a:bodyPr>
          <a:lstStyle/>
          <a:p>
            <a:pPr algn="ctr">
              <a:lnSpc>
                <a:spcPct val="95000"/>
              </a:lnSpc>
            </a:pPr>
            <a:r>
              <a:rPr lang="en-US" sz="1700" b="1" i="0" dirty="0">
                <a:solidFill>
                  <a:srgbClr val="123755"/>
                </a:solidFill>
                <a:latin typeface="Arial"/>
                <a:cs typeface="Arial"/>
              </a:rPr>
              <a:t xml:space="preserve">Codex (GPT-5.4)</a:t>
            </a:r>
          </a:p>
        </p:txBody>
      </p:sp>
      <p:sp>
        <p:nvSpPr>
          <p:cNvPr id="10418" name="Provider 3"/>
          <p:cNvSpPr/>
          <p:nvPr/>
        </p:nvSpPr>
        <p:spPr>
          <a:xfrm>
            <a:off x="5317236" y="10826496"/>
            <a:ext cx="3995928" cy="438912"/>
          </a:xfrm>
          <a:prstGeom prst="roundRect">
            <a:avLst>
              <a:gd name="adj" fmla="val 5000"/>
            </a:avLst>
          </a:prstGeom>
          <a:solidFill>
            <a:srgbClr val="FFFFFF"/>
          </a:solidFill>
          <a:ln w="8255">
            <a:solidFill>
              <a:srgbClr val="54A3D3"/>
            </a:solidFill>
          </a:ln>
        </p:spPr>
        <p:txBody>
          <a:bodyPr/>
          <a:lstStyle/>
          <a:p>
            <a:endParaRPr lang="en-US"/>
          </a:p>
        </p:txBody>
      </p:sp>
      <p:sp>
        <p:nvSpPr>
          <p:cNvPr id="10419" name="Provider 3 text"/>
          <p:cNvSpPr txBox="1"/>
          <p:nvPr/>
        </p:nvSpPr>
        <p:spPr>
          <a:xfrm>
            <a:off x="5317236" y="10899648"/>
            <a:ext cx="3995928" cy="310896"/>
          </a:xfrm>
          <a:prstGeom prst="rect">
            <a:avLst/>
          </a:prstGeom>
          <a:noFill/>
        </p:spPr>
        <p:txBody>
          <a:bodyPr wrap="square" lIns="0" tIns="0" rIns="0" bIns="0" anchor="t">
            <a:noAutofit/>
          </a:bodyPr>
          <a:lstStyle/>
          <a:p>
            <a:pPr algn="ctr">
              <a:lnSpc>
                <a:spcPct val="95000"/>
              </a:lnSpc>
            </a:pPr>
            <a:r>
              <a:rPr lang="en-US" sz="1700" b="1" i="0" dirty="0">
                <a:solidFill>
                  <a:srgbClr val="123755"/>
                </a:solidFill>
                <a:latin typeface="Arial"/>
                <a:cs typeface="Arial"/>
              </a:rPr>
              <a:t xml:space="preserve">Kimi (kimi-for-coding)</a:t>
            </a:r>
          </a:p>
        </p:txBody>
      </p:sp>
      <p:cxnSp>
        <p:nvCxnSpPr>
          <p:cNvPr id="10420" name="Calls to raw responses"/>
          <p:cNvCxnSpPr/>
          <p:nvPr/>
        </p:nvCxnSpPr>
        <p:spPr>
          <a:xfrm>
            <a:off x="7315200" y="11301984"/>
            <a:ext cx="0" cy="164592"/>
          </a:xfrm>
          <a:prstGeom prst="straightConnector1">
            <a:avLst/>
          </a:prstGeom>
          <a:ln w="19050">
            <a:solidFill>
              <a:srgbClr val="123755"/>
            </a:solidFill>
            <a:tailEnd type="triangle" w="med" len="med"/>
          </a:ln>
        </p:spPr>
      </p:cxnSp>
      <p:sp>
        <p:nvSpPr>
          <p:cNvPr id="10421" name="Responses 1"/>
          <p:cNvSpPr/>
          <p:nvPr/>
        </p:nvSpPr>
        <p:spPr>
          <a:xfrm>
            <a:off x="5317236" y="11484864"/>
            <a:ext cx="3995928" cy="512064"/>
          </a:xfrm>
          <a:prstGeom prst="roundRect">
            <a:avLst>
              <a:gd name="adj" fmla="val 5000"/>
            </a:avLst>
          </a:prstGeom>
          <a:solidFill>
            <a:srgbClr val="EDF7FD"/>
          </a:solidFill>
          <a:ln w="8255">
            <a:solidFill>
              <a:srgbClr val="54A3D3"/>
            </a:solidFill>
          </a:ln>
        </p:spPr>
        <p:txBody>
          <a:bodyPr/>
          <a:lstStyle/>
          <a:p>
            <a:endParaRPr lang="en-US"/>
          </a:p>
        </p:txBody>
      </p:sp>
      <p:grpSp>
        <p:nvGrpSpPr>
          <p:cNvPr id="10422" name="Saved raw response stack"/>
          <p:cNvGrpSpPr/>
          <p:nvPr/>
        </p:nvGrpSpPr>
        <p:grpSpPr>
          <a:xfrm>
            <a:off x="5454396" y="11558016"/>
            <a:ext cx="354168" cy="365760"/>
            <a:chOff x="9683496" y="5695980"/>
            <a:chExt cx="301752" cy="311628"/>
          </a:xfrm>
        </p:grpSpPr>
        <p:sp>
          <p:nvSpPr>
            <p:cNvPr id="10423" name="Back document"/>
            <p:cNvSpPr/>
            <p:nvPr/>
          </p:nvSpPr>
          <p:spPr>
            <a:xfrm>
              <a:off x="9683496" y="5695980"/>
              <a:ext cx="274320" cy="292608"/>
            </a:xfrm>
            <a:prstGeom prst="roundRect">
              <a:avLst>
                <a:gd name="adj" fmla="val 2000"/>
              </a:avLst>
            </a:prstGeom>
            <a:solidFill>
              <a:srgbClr val="EDF3F6"/>
            </a:solidFill>
            <a:ln w="889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24" name="Back document"/>
            <p:cNvSpPr/>
            <p:nvPr/>
          </p:nvSpPr>
          <p:spPr>
            <a:xfrm>
              <a:off x="9697211" y="5705636"/>
              <a:ext cx="274320" cy="292608"/>
            </a:xfrm>
            <a:prstGeom prst="roundRect">
              <a:avLst>
                <a:gd name="adj" fmla="val 2000"/>
              </a:avLst>
            </a:prstGeom>
            <a:solidFill>
              <a:srgbClr val="EDF3F6"/>
            </a:solidFill>
            <a:ln w="889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25" name="Document sheet"/>
            <p:cNvSpPr/>
            <p:nvPr/>
          </p:nvSpPr>
          <p:spPr>
            <a:xfrm>
              <a:off x="9710928" y="5715000"/>
              <a:ext cx="274320" cy="292608"/>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26" name="Folded corner"/>
            <p:cNvSpPr/>
            <p:nvPr/>
          </p:nvSpPr>
          <p:spPr>
            <a:xfrm>
              <a:off x="9904323" y="5715000"/>
              <a:ext cx="80924" cy="73152"/>
            </a:xfrm>
            <a:custGeom>
              <a:avLst/>
              <a:gdLst/>
              <a:ahLst/>
              <a:cxnLst/>
              <a:rect l="0" t="0" r="r" b="b"/>
              <a:pathLst>
                <a:path w="1000" h="1000" fill="none">
                  <a:moveTo>
                    <a:pt x="0" y="0"/>
                  </a:moveTo>
                  <a:lnTo>
                    <a:pt x="0" y="1000"/>
                  </a:lnTo>
                  <a:lnTo>
                    <a:pt x="1000" y="1000"/>
                  </a:lnTo>
                </a:path>
              </a:pathLst>
            </a:custGeom>
            <a:noFill/>
            <a:ln w="1270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427" name="Editable connector"/>
            <p:cNvCxnSpPr/>
            <p:nvPr/>
          </p:nvCxnSpPr>
          <p:spPr>
            <a:xfrm>
              <a:off x="9757562" y="5805708"/>
              <a:ext cx="120701"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28" name="Editable connector"/>
            <p:cNvCxnSpPr/>
            <p:nvPr/>
          </p:nvCxnSpPr>
          <p:spPr>
            <a:xfrm>
              <a:off x="9757562" y="5849599"/>
              <a:ext cx="175565"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29" name="Editable connector"/>
            <p:cNvCxnSpPr/>
            <p:nvPr/>
          </p:nvCxnSpPr>
          <p:spPr>
            <a:xfrm>
              <a:off x="9757562" y="5893490"/>
              <a:ext cx="175565"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30" name="Editable connector"/>
            <p:cNvCxnSpPr/>
            <p:nvPr/>
          </p:nvCxnSpPr>
          <p:spPr>
            <a:xfrm>
              <a:off x="9757562" y="5937382"/>
              <a:ext cx="123444"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grpSp>
      <p:sp>
        <p:nvSpPr>
          <p:cNvPr id="10431" name="Responses 1 text"/>
          <p:cNvSpPr txBox="1"/>
          <p:nvPr/>
        </p:nvSpPr>
        <p:spPr>
          <a:xfrm>
            <a:off x="6003036" y="11585448"/>
            <a:ext cx="326440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Raw responses: 9,420</a:t>
            </a:r>
          </a:p>
        </p:txBody>
      </p:sp>
      <p:sp>
        <p:nvSpPr>
          <p:cNvPr id="10432" name="Responses 2"/>
          <p:cNvSpPr/>
          <p:nvPr/>
        </p:nvSpPr>
        <p:spPr>
          <a:xfrm>
            <a:off x="5317236" y="12198096"/>
            <a:ext cx="3995928" cy="512064"/>
          </a:xfrm>
          <a:prstGeom prst="roundRect">
            <a:avLst>
              <a:gd name="adj" fmla="val 5000"/>
            </a:avLst>
          </a:prstGeom>
          <a:solidFill>
            <a:srgbClr val="EDF7FD"/>
          </a:solidFill>
          <a:ln w="8255">
            <a:solidFill>
              <a:srgbClr val="54A3D3"/>
            </a:solidFill>
          </a:ln>
        </p:spPr>
        <p:txBody>
          <a:bodyPr/>
          <a:lstStyle/>
          <a:p>
            <a:endParaRPr lang="en-US"/>
          </a:p>
        </p:txBody>
      </p:sp>
      <p:grpSp>
        <p:nvGrpSpPr>
          <p:cNvPr id="10433" name="Parsed decision JSON"/>
          <p:cNvGrpSpPr/>
          <p:nvPr/>
        </p:nvGrpSpPr>
        <p:grpSpPr>
          <a:xfrm>
            <a:off x="5454396" y="12271248"/>
            <a:ext cx="325120" cy="365760"/>
            <a:chOff x="9710928" y="6867144"/>
            <a:chExt cx="292608" cy="329184"/>
          </a:xfrm>
        </p:grpSpPr>
        <p:sp>
          <p:nvSpPr>
            <p:cNvPr id="10434" name="Document sheet"/>
            <p:cNvSpPr/>
            <p:nvPr/>
          </p:nvSpPr>
          <p:spPr>
            <a:xfrm>
              <a:off x="9710928" y="6867144"/>
              <a:ext cx="292608" cy="329184"/>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35" name="Folded corner"/>
            <p:cNvSpPr/>
            <p:nvPr/>
          </p:nvSpPr>
          <p:spPr>
            <a:xfrm>
              <a:off x="9917216" y="6867144"/>
              <a:ext cx="86319" cy="82296"/>
            </a:xfrm>
            <a:custGeom>
              <a:avLst/>
              <a:gdLst/>
              <a:ahLst/>
              <a:cxnLst/>
              <a:rect l="0" t="0" r="r" b="b"/>
              <a:pathLst>
                <a:path w="1000" h="1000" fill="none">
                  <a:moveTo>
                    <a:pt x="0" y="0"/>
                  </a:moveTo>
                  <a:lnTo>
                    <a:pt x="0" y="1000"/>
                  </a:lnTo>
                  <a:lnTo>
                    <a:pt x="1000" y="1000"/>
                  </a:lnTo>
                </a:path>
              </a:pathLst>
            </a:custGeom>
            <a:noFill/>
            <a:ln w="12700">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36" name="Text / {}"/>
            <p:cNvSpPr txBox="1"/>
            <p:nvPr/>
          </p:nvSpPr>
          <p:spPr>
            <a:xfrm>
              <a:off x="9746040" y="6956023"/>
              <a:ext cx="222382" cy="141549"/>
            </a:xfrm>
            <a:prstGeom prst="rect">
              <a:avLst/>
            </a:prstGeom>
            <a:noFill/>
          </p:spPr>
          <p:txBody>
            <a:bodyPr wrap="none" lIns="0" tIns="0" rIns="0" bIns="0" anchor="t">
              <a:noAutofit/>
            </a:bodyPr>
            <a:lstStyle/>
            <a:p>
              <a:pPr algn="ctr">
                <a:lnSpc>
                  <a:spcPts val="1310"/>
                </a:lnSpc>
                <a:spcBef>
                  <a:spcPts val="0"/>
                </a:spcBef>
                <a:spcAft>
                  <a:spcPts val="0"/>
                </a:spcAft>
              </a:pPr>
              <a:r>
                <a:rPr sz="1100" b="1" i="0">
                  <a:solidFill>
                    <a:srgbClr val="123755"/>
                  </a:solidFill>
                  <a:latin typeface="Arial" panose="020B0604020202020204" pitchFamily="34" charset="0"/>
                  <a:ea typeface="Arial"/>
                  <a:cs typeface="Arial" panose="020B0604020202020204" pitchFamily="34" charset="0"/>
                </a:rPr>
                <a:t>{}</a:t>
              </a:r>
            </a:p>
          </p:txBody>
        </p:sp>
      </p:grpSp>
      <p:sp>
        <p:nvSpPr>
          <p:cNvPr id="10437" name="Responses 2 text"/>
          <p:cNvSpPr txBox="1"/>
          <p:nvPr/>
        </p:nvSpPr>
        <p:spPr>
          <a:xfrm>
            <a:off x="6003036" y="12298680"/>
            <a:ext cx="3264408" cy="329184"/>
          </a:xfrm>
          <a:prstGeom prst="rect">
            <a:avLst/>
          </a:prstGeom>
          <a:noFill/>
        </p:spPr>
        <p:txBody>
          <a:bodyPr wrap="square" lIns="0" tIns="0" rIns="0" bIns="0" anchor="t">
            <a:noAutofit/>
          </a:bodyPr>
          <a:lstStyle/>
          <a:p>
            <a:pPr algn="l">
              <a:lnSpc>
                <a:spcPct val="95000"/>
              </a:lnSpc>
            </a:pPr>
            <a:r>
              <a:rPr lang="en-US" sz="1700" b="1" i="0" dirty="0">
                <a:solidFill>
                  <a:srgbClr val="123755"/>
                </a:solidFill>
                <a:latin typeface="Arial"/>
                <a:cs typeface="Arial"/>
              </a:rPr>
              <a:t xml:space="preserve">Parsed decisions: 9,301</a:t>
            </a:r>
          </a:p>
        </p:txBody>
      </p:sp>
      <p:cxnSp>
        <p:nvCxnSpPr>
          <p:cNvPr id="10438" name="Raw to parsed"/>
          <p:cNvCxnSpPr/>
          <p:nvPr/>
        </p:nvCxnSpPr>
        <p:spPr>
          <a:xfrm>
            <a:off x="7315200" y="12015216"/>
            <a:ext cx="0" cy="164592"/>
          </a:xfrm>
          <a:prstGeom prst="straightConnector1">
            <a:avLst/>
          </a:prstGeom>
          <a:ln w="19050">
            <a:solidFill>
              <a:srgbClr val="123755"/>
            </a:solidFill>
            <a:tailEnd type="triangle" w="med" len="med"/>
          </a:ln>
        </p:spPr>
      </p:cxnSp>
      <p:sp>
        <p:nvSpPr>
          <p:cNvPr id="10439" name="Panel 5 background"/>
          <p:cNvSpPr/>
          <p:nvPr/>
        </p:nvSpPr>
        <p:spPr>
          <a:xfrm>
            <a:off x="9829800" y="8851392"/>
            <a:ext cx="4636008" cy="3931920"/>
          </a:xfrm>
          <a:prstGeom prst="roundRect">
            <a:avLst>
              <a:gd name="adj" fmla="val 2600"/>
            </a:avLst>
          </a:prstGeom>
          <a:solidFill>
            <a:srgbClr val="F8FBFD"/>
          </a:solidFill>
          <a:ln w="9525">
            <a:solidFill>
              <a:srgbClr val="A9CBDD"/>
            </a:solidFill>
          </a:ln>
        </p:spPr>
        <p:txBody>
          <a:bodyPr/>
          <a:lstStyle/>
          <a:p>
            <a:endParaRPr lang="en-US"/>
          </a:p>
        </p:txBody>
      </p:sp>
      <p:sp>
        <p:nvSpPr>
          <p:cNvPr id="10440" name="Panel 5 title"/>
          <p:cNvSpPr txBox="1"/>
          <p:nvPr/>
        </p:nvSpPr>
        <p:spPr>
          <a:xfrm>
            <a:off x="9985248" y="8961120"/>
            <a:ext cx="4361688" cy="365760"/>
          </a:xfrm>
          <a:prstGeom prst="rect">
            <a:avLst/>
          </a:prstGeom>
          <a:noFill/>
        </p:spPr>
        <p:txBody>
          <a:bodyPr wrap="square" lIns="0" tIns="0" rIns="0" bIns="0" anchor="t">
            <a:noAutofit/>
          </a:bodyPr>
          <a:lstStyle/>
          <a:p>
            <a:pPr algn="l">
              <a:lnSpc>
                <a:spcPct val="95000"/>
              </a:lnSpc>
            </a:pPr>
            <a:r>
              <a:rPr lang="en-US" sz="2000" b="1" i="0" dirty="0">
                <a:solidFill>
                  <a:srgbClr val="123755"/>
                </a:solidFill>
                <a:latin typeface="Arial"/>
                <a:cs typeface="Arial"/>
              </a:rPr>
              <a:t xml:space="preserve">5  VALIDATION &amp; COMPARISON</a:t>
            </a:r>
          </a:p>
        </p:txBody>
      </p:sp>
      <p:sp>
        <p:nvSpPr>
          <p:cNvPr id="10441" name="Panel 5 subtitle"/>
          <p:cNvSpPr txBox="1"/>
          <p:nvPr/>
        </p:nvSpPr>
        <p:spPr>
          <a:xfrm>
            <a:off x="9985248" y="9354312"/>
            <a:ext cx="4361688" cy="329184"/>
          </a:xfrm>
          <a:prstGeom prst="rect">
            <a:avLst/>
          </a:prstGeom>
          <a:noFill/>
        </p:spPr>
        <p:txBody>
          <a:bodyPr wrap="square" lIns="0" tIns="0" rIns="0" bIns="0" anchor="t">
            <a:noAutofit/>
          </a:bodyPr>
          <a:lstStyle/>
          <a:p>
            <a:pPr algn="l">
              <a:lnSpc>
                <a:spcPct val="95000"/>
              </a:lnSpc>
            </a:pPr>
            <a:r>
              <a:rPr lang="en-US" sz="1650" b="0" i="0" dirty="0">
                <a:solidFill>
                  <a:srgbClr val="506B81"/>
                </a:solidFill>
                <a:latin typeface="Arial"/>
                <a:cs typeface="Arial"/>
              </a:rPr>
              <a:t xml:space="preserve">Observed decisions follow a separate path</a:t>
            </a:r>
          </a:p>
        </p:txBody>
      </p:sp>
      <p:sp>
        <p:nvSpPr>
          <p:cNvPr id="10442" name="Observed records"/>
          <p:cNvSpPr/>
          <p:nvPr/>
        </p:nvSpPr>
        <p:spPr>
          <a:xfrm>
            <a:off x="10149840" y="9765792"/>
            <a:ext cx="3995928" cy="566928"/>
          </a:xfrm>
          <a:prstGeom prst="roundRect">
            <a:avLst>
              <a:gd name="adj" fmla="val 5000"/>
            </a:avLst>
          </a:prstGeom>
          <a:solidFill>
            <a:srgbClr val="EFF8F0"/>
          </a:solidFill>
          <a:ln w="8255">
            <a:solidFill>
              <a:srgbClr val="7F9E53"/>
            </a:solidFill>
          </a:ln>
        </p:spPr>
        <p:txBody>
          <a:bodyPr/>
          <a:lstStyle/>
          <a:p>
            <a:endParaRPr lang="en-US"/>
          </a:p>
        </p:txBody>
      </p:sp>
      <p:grpSp>
        <p:nvGrpSpPr>
          <p:cNvPr id="10443" name="Observed survey outcomes document"/>
          <p:cNvGrpSpPr/>
          <p:nvPr/>
        </p:nvGrpSpPr>
        <p:grpSpPr>
          <a:xfrm>
            <a:off x="10287000" y="9838944"/>
            <a:ext cx="313231" cy="420624"/>
            <a:chOff x="12115800" y="3753612"/>
            <a:chExt cx="320040" cy="429768"/>
          </a:xfrm>
        </p:grpSpPr>
        <p:sp>
          <p:nvSpPr>
            <p:cNvPr id="10444" name="Document sheet"/>
            <p:cNvSpPr/>
            <p:nvPr/>
          </p:nvSpPr>
          <p:spPr>
            <a:xfrm>
              <a:off x="12115800" y="3753612"/>
              <a:ext cx="320040" cy="429768"/>
            </a:xfrm>
            <a:custGeom>
              <a:avLst/>
              <a:gdLst/>
              <a:ahLst/>
              <a:cxnLst/>
              <a:rect l="0" t="0" r="r" b="b"/>
              <a:pathLst>
                <a:path w="1000" h="1000">
                  <a:moveTo>
                    <a:pt x="0" y="0"/>
                  </a:moveTo>
                  <a:lnTo>
                    <a:pt x="705" y="0"/>
                  </a:lnTo>
                  <a:lnTo>
                    <a:pt x="1000" y="250"/>
                  </a:lnTo>
                  <a:lnTo>
                    <a:pt x="1000" y="1000"/>
                  </a:lnTo>
                  <a:lnTo>
                    <a:pt x="0" y="1000"/>
                  </a:lnTo>
                  <a:close/>
                </a:path>
              </a:pathLst>
            </a:custGeom>
            <a:solidFill>
              <a:srgbClr val="FFFFFF"/>
            </a:solidFill>
            <a:ln w="15240">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45" name="Folded corner"/>
            <p:cNvSpPr/>
            <p:nvPr/>
          </p:nvSpPr>
          <p:spPr>
            <a:xfrm>
              <a:off x="12341428" y="3753612"/>
              <a:ext cx="94411" cy="107442"/>
            </a:xfrm>
            <a:custGeom>
              <a:avLst/>
              <a:gdLst/>
              <a:ahLst/>
              <a:cxnLst/>
              <a:rect l="0" t="0" r="r" b="b"/>
              <a:pathLst>
                <a:path w="1000" h="1000" fill="none">
                  <a:moveTo>
                    <a:pt x="0" y="0"/>
                  </a:moveTo>
                  <a:lnTo>
                    <a:pt x="0" y="1000"/>
                  </a:lnTo>
                  <a:lnTo>
                    <a:pt x="1000" y="1000"/>
                  </a:lnTo>
                </a:path>
              </a:pathLst>
            </a:custGeom>
            <a:noFill/>
            <a:ln w="12700">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cxnSp>
          <p:nvCxnSpPr>
            <p:cNvPr id="10446" name="Editable connector"/>
            <p:cNvCxnSpPr/>
            <p:nvPr/>
          </p:nvCxnSpPr>
          <p:spPr>
            <a:xfrm>
              <a:off x="12170206" y="3886840"/>
              <a:ext cx="140818" cy="0"/>
            </a:xfrm>
            <a:prstGeom prst="line">
              <a:avLst/>
            </a:prstGeom>
            <a:ln w="10160" cap="rnd">
              <a:solidFill>
                <a:srgbClr val="247C52"/>
              </a:solidFill>
            </a:ln>
          </p:spPr>
          <p:style>
            <a:lnRef idx="2">
              <a:schemeClr val="accent1"/>
            </a:lnRef>
            <a:fillRef idx="0">
              <a:schemeClr val="accent1"/>
            </a:fillRef>
            <a:effectRef idx="0">
              <a:schemeClr val="accent1"/>
            </a:effectRef>
            <a:fontRef idx="minor">
              <a:schemeClr val="tx1"/>
            </a:fontRef>
          </p:style>
        </p:cxnSp>
        <p:cxnSp>
          <p:nvCxnSpPr>
            <p:cNvPr id="10447" name="Editable connector"/>
            <p:cNvCxnSpPr/>
            <p:nvPr/>
          </p:nvCxnSpPr>
          <p:spPr>
            <a:xfrm>
              <a:off x="12170206" y="3951305"/>
              <a:ext cx="204826" cy="0"/>
            </a:xfrm>
            <a:prstGeom prst="line">
              <a:avLst/>
            </a:prstGeom>
            <a:ln w="10160" cap="rnd">
              <a:solidFill>
                <a:srgbClr val="247C52"/>
              </a:solidFill>
            </a:ln>
          </p:spPr>
          <p:style>
            <a:lnRef idx="2">
              <a:schemeClr val="accent1"/>
            </a:lnRef>
            <a:fillRef idx="0">
              <a:schemeClr val="accent1"/>
            </a:fillRef>
            <a:effectRef idx="0">
              <a:schemeClr val="accent1"/>
            </a:effectRef>
            <a:fontRef idx="minor">
              <a:schemeClr val="tx1"/>
            </a:fontRef>
          </p:style>
        </p:cxnSp>
        <p:cxnSp>
          <p:nvCxnSpPr>
            <p:cNvPr id="10448" name="Editable connector"/>
            <p:cNvCxnSpPr/>
            <p:nvPr/>
          </p:nvCxnSpPr>
          <p:spPr>
            <a:xfrm>
              <a:off x="12170206" y="4015770"/>
              <a:ext cx="204826" cy="0"/>
            </a:xfrm>
            <a:prstGeom prst="line">
              <a:avLst/>
            </a:prstGeom>
            <a:ln w="10160" cap="rnd">
              <a:solidFill>
                <a:srgbClr val="247C52"/>
              </a:solidFill>
            </a:ln>
          </p:spPr>
          <p:style>
            <a:lnRef idx="2">
              <a:schemeClr val="accent1"/>
            </a:lnRef>
            <a:fillRef idx="0">
              <a:schemeClr val="accent1"/>
            </a:fillRef>
            <a:effectRef idx="0">
              <a:schemeClr val="accent1"/>
            </a:effectRef>
            <a:fontRef idx="minor">
              <a:schemeClr val="tx1"/>
            </a:fontRef>
          </p:style>
        </p:cxnSp>
        <p:cxnSp>
          <p:nvCxnSpPr>
            <p:cNvPr id="10449" name="Editable connector"/>
            <p:cNvCxnSpPr/>
            <p:nvPr/>
          </p:nvCxnSpPr>
          <p:spPr>
            <a:xfrm>
              <a:off x="12170206" y="4080235"/>
              <a:ext cx="144018" cy="0"/>
            </a:xfrm>
            <a:prstGeom prst="line">
              <a:avLst/>
            </a:prstGeom>
            <a:ln w="10160" cap="rnd">
              <a:solidFill>
                <a:srgbClr val="247C52"/>
              </a:solidFill>
            </a:ln>
          </p:spPr>
          <p:style>
            <a:lnRef idx="2">
              <a:schemeClr val="accent1"/>
            </a:lnRef>
            <a:fillRef idx="0">
              <a:schemeClr val="accent1"/>
            </a:fillRef>
            <a:effectRef idx="0">
              <a:schemeClr val="accent1"/>
            </a:effectRef>
            <a:fontRef idx="minor">
              <a:schemeClr val="tx1"/>
            </a:fontRef>
          </p:style>
        </p:cxnSp>
      </p:grpSp>
      <p:sp>
        <p:nvSpPr>
          <p:cNvPr id="10450" name="Observed records text"/>
          <p:cNvSpPr txBox="1"/>
          <p:nvPr/>
        </p:nvSpPr>
        <p:spPr>
          <a:xfrm>
            <a:off x="10835640" y="9893808"/>
            <a:ext cx="3264408" cy="329184"/>
          </a:xfrm>
          <a:prstGeom prst="rect">
            <a:avLst/>
          </a:prstGeom>
          <a:noFill/>
        </p:spPr>
        <p:txBody>
          <a:bodyPr wrap="square" lIns="0" tIns="0" rIns="0" bIns="0" anchor="t">
            <a:noAutofit/>
          </a:bodyPr>
          <a:lstStyle/>
          <a:p>
            <a:pPr algn="l">
              <a:lnSpc>
                <a:spcPct val="95000"/>
              </a:lnSpc>
            </a:pPr>
            <a:r>
              <a:rPr lang="en-US" sz="1700" b="1" i="0" dirty="0">
                <a:solidFill>
                  <a:srgbClr val="247C52"/>
                </a:solidFill>
                <a:latin typeface="Arial"/>
                <a:cs typeface="Arial"/>
              </a:rPr>
              <a:t xml:space="preserve">Recorded survey decisions</a:t>
            </a:r>
          </a:p>
        </p:txBody>
      </p:sp>
      <p:cxnSp>
        <p:nvCxnSpPr>
          <p:cNvPr id="10451" name="Observed to comparison"/>
          <p:cNvCxnSpPr/>
          <p:nvPr/>
        </p:nvCxnSpPr>
        <p:spPr>
          <a:xfrm>
            <a:off x="12147804" y="10351008"/>
            <a:ext cx="0" cy="201168"/>
          </a:xfrm>
          <a:prstGeom prst="straightConnector1">
            <a:avLst/>
          </a:prstGeom>
          <a:ln w="19050">
            <a:solidFill>
              <a:srgbClr val="247C52"/>
            </a:solidFill>
            <a:tailEnd type="triangle" w="med" len="med"/>
          </a:ln>
        </p:spPr>
      </p:cxnSp>
      <p:sp>
        <p:nvSpPr>
          <p:cNvPr id="10452" name="Comparison"/>
          <p:cNvSpPr/>
          <p:nvPr/>
        </p:nvSpPr>
        <p:spPr>
          <a:xfrm>
            <a:off x="10149840" y="10570464"/>
            <a:ext cx="3995928" cy="2103120"/>
          </a:xfrm>
          <a:prstGeom prst="roundRect">
            <a:avLst>
              <a:gd name="adj" fmla="val 5000"/>
            </a:avLst>
          </a:prstGeom>
          <a:solidFill>
            <a:srgbClr val="EFF8F0"/>
          </a:solidFill>
          <a:ln w="8255">
            <a:solidFill>
              <a:srgbClr val="7F9E53"/>
            </a:solidFill>
          </a:ln>
        </p:spPr>
        <p:txBody>
          <a:bodyPr/>
          <a:lstStyle/>
          <a:p>
            <a:endParaRPr lang="en-US"/>
          </a:p>
        </p:txBody>
      </p:sp>
      <p:sp>
        <p:nvSpPr>
          <p:cNvPr id="10453" name="Comparison title"/>
          <p:cNvSpPr txBox="1"/>
          <p:nvPr/>
        </p:nvSpPr>
        <p:spPr>
          <a:xfrm>
            <a:off x="10332720" y="10661904"/>
            <a:ext cx="3721608" cy="329184"/>
          </a:xfrm>
          <a:prstGeom prst="rect">
            <a:avLst/>
          </a:prstGeom>
          <a:noFill/>
        </p:spPr>
        <p:txBody>
          <a:bodyPr wrap="square" lIns="0" tIns="0" rIns="0" bIns="0" anchor="t">
            <a:noAutofit/>
          </a:bodyPr>
          <a:lstStyle/>
          <a:p>
            <a:pPr algn="l">
              <a:lnSpc>
                <a:spcPct val="95000"/>
              </a:lnSpc>
            </a:pPr>
            <a:r>
              <a:rPr lang="en-US" sz="1700" b="1" i="0" dirty="0">
                <a:solidFill>
                  <a:srgbClr val="247C52"/>
                </a:solidFill>
                <a:latin typeface="Arial"/>
                <a:cs typeface="Arial"/>
              </a:rPr>
              <a:t xml:space="preserve">Compare with model decisions</a:t>
            </a:r>
          </a:p>
        </p:txBody>
      </p:sp>
      <p:grpSp>
        <p:nvGrpSpPr>
          <p:cNvPr id="10454" name="Group summary comparison / schematic"/>
          <p:cNvGrpSpPr/>
          <p:nvPr/>
        </p:nvGrpSpPr>
        <p:grpSpPr>
          <a:xfrm>
            <a:off x="10332720" y="11155680"/>
            <a:ext cx="457200" cy="279909"/>
            <a:chOff x="12115800" y="5929426"/>
            <a:chExt cx="411480" cy="251918"/>
          </a:xfrm>
        </p:grpSpPr>
        <p:cxnSp>
          <p:nvCxnSpPr>
            <p:cNvPr id="10455" name="Editable connector"/>
            <p:cNvCxnSpPr/>
            <p:nvPr/>
          </p:nvCxnSpPr>
          <p:spPr>
            <a:xfrm>
              <a:off x="12115800" y="6181344"/>
              <a:ext cx="411480"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56" name="Editable connector"/>
            <p:cNvCxnSpPr/>
            <p:nvPr/>
          </p:nvCxnSpPr>
          <p:spPr>
            <a:xfrm flipV="1">
              <a:off x="12115800" y="5929426"/>
              <a:ext cx="0" cy="251918"/>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sp>
          <p:nvSpPr>
            <p:cNvPr id="10457" name="Panel"/>
            <p:cNvSpPr/>
            <p:nvPr/>
          </p:nvSpPr>
          <p:spPr>
            <a:xfrm>
              <a:off x="12165177" y="6075273"/>
              <a:ext cx="47320" cy="106070"/>
            </a:xfrm>
            <a:prstGeom prst="rect">
              <a:avLst/>
            </a:prstGeom>
            <a:solidFill>
              <a:srgbClr val="247C52"/>
            </a:solidFill>
            <a:ln w="571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58" name="Panel"/>
            <p:cNvSpPr/>
            <p:nvPr/>
          </p:nvSpPr>
          <p:spPr>
            <a:xfrm>
              <a:off x="12251588" y="6001024"/>
              <a:ext cx="47320" cy="180319"/>
            </a:xfrm>
            <a:prstGeom prst="rect">
              <a:avLst/>
            </a:prstGeom>
            <a:solidFill>
              <a:srgbClr val="123755"/>
            </a:solidFill>
            <a:ln w="5715">
              <a:solidFill>
                <a:srgbClr val="1237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59" name="Panel"/>
            <p:cNvSpPr/>
            <p:nvPr/>
          </p:nvSpPr>
          <p:spPr>
            <a:xfrm>
              <a:off x="12337999" y="6043452"/>
              <a:ext cx="47320" cy="137891"/>
            </a:xfrm>
            <a:prstGeom prst="rect">
              <a:avLst/>
            </a:prstGeom>
            <a:solidFill>
              <a:srgbClr val="247C52"/>
            </a:solidFill>
            <a:ln w="571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60" name="Panel"/>
            <p:cNvSpPr/>
            <p:nvPr/>
          </p:nvSpPr>
          <p:spPr>
            <a:xfrm>
              <a:off x="12424410" y="5942685"/>
              <a:ext cx="47320" cy="238658"/>
            </a:xfrm>
            <a:prstGeom prst="rect">
              <a:avLst/>
            </a:prstGeom>
            <a:solidFill>
              <a:srgbClr val="247C52"/>
            </a:solidFill>
            <a:ln w="571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461" name="Level 1"/>
          <p:cNvSpPr txBox="1"/>
          <p:nvPr/>
        </p:nvSpPr>
        <p:spPr>
          <a:xfrm>
            <a:off x="10927080" y="11119104"/>
            <a:ext cx="3127248" cy="457200"/>
          </a:xfrm>
          <a:prstGeom prst="rect">
            <a:avLst/>
          </a:prstGeom>
          <a:noFill/>
        </p:spPr>
        <p:txBody>
          <a:bodyPr wrap="square" lIns="0" tIns="0" rIns="0" bIns="0" anchor="t">
            <a:noAutofit/>
          </a:bodyPr>
          <a:lstStyle/>
          <a:p>
            <a:pPr algn="l">
              <a:lnSpc>
                <a:spcPct val="95000"/>
              </a:lnSpc>
            </a:pPr>
            <a:r>
              <a:rPr lang="en-US" sz="1650" b="0" i="0" dirty="0">
                <a:solidFill>
                  <a:srgbClr val="123755"/>
                </a:solidFill>
                <a:latin typeface="Arial"/>
                <a:cs typeface="Arial"/>
              </a:rPr>
              <a:t xml:space="preserve">Group means and zero shares</a:t>
            </a:r>
          </a:p>
        </p:txBody>
      </p:sp>
      <p:grpSp>
        <p:nvGrpSpPr>
          <p:cNvPr id="10462" name="Schematic distribution icon"/>
          <p:cNvGrpSpPr/>
          <p:nvPr/>
        </p:nvGrpSpPr>
        <p:grpSpPr>
          <a:xfrm>
            <a:off x="10332720" y="11667744"/>
            <a:ext cx="457200" cy="249632"/>
            <a:chOff x="12115800" y="6386443"/>
            <a:chExt cx="411480" cy="224669"/>
          </a:xfrm>
        </p:grpSpPr>
        <p:cxnSp>
          <p:nvCxnSpPr>
            <p:cNvPr id="10463" name="Editable connector"/>
            <p:cNvCxnSpPr/>
            <p:nvPr/>
          </p:nvCxnSpPr>
          <p:spPr>
            <a:xfrm>
              <a:off x="12115800" y="6611112"/>
              <a:ext cx="411480" cy="0"/>
            </a:xfrm>
            <a:prstGeom prst="line">
              <a:avLst/>
            </a:prstGeom>
            <a:ln w="10160" cap="rnd">
              <a:solidFill>
                <a:srgbClr val="123755"/>
              </a:solidFill>
            </a:ln>
          </p:spPr>
          <p:style>
            <a:lnRef idx="2">
              <a:schemeClr val="accent1"/>
            </a:lnRef>
            <a:fillRef idx="0">
              <a:schemeClr val="accent1"/>
            </a:fillRef>
            <a:effectRef idx="0">
              <a:schemeClr val="accent1"/>
            </a:effectRef>
            <a:fontRef idx="minor">
              <a:schemeClr val="tx1"/>
            </a:fontRef>
          </p:style>
        </p:cxnSp>
        <p:sp>
          <p:nvSpPr>
            <p:cNvPr id="10464" name="Panel"/>
            <p:cNvSpPr/>
            <p:nvPr/>
          </p:nvSpPr>
          <p:spPr>
            <a:xfrm>
              <a:off x="12144603" y="6541983"/>
              <a:ext cx="39090" cy="69128"/>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65" name="Panel"/>
            <p:cNvSpPr/>
            <p:nvPr/>
          </p:nvSpPr>
          <p:spPr>
            <a:xfrm>
              <a:off x="12197273" y="6458041"/>
              <a:ext cx="39090" cy="153070"/>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66" name="Panel"/>
            <p:cNvSpPr/>
            <p:nvPr/>
          </p:nvSpPr>
          <p:spPr>
            <a:xfrm>
              <a:off x="12249942" y="6386443"/>
              <a:ext cx="39090" cy="224668"/>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67" name="Panel"/>
            <p:cNvSpPr/>
            <p:nvPr/>
          </p:nvSpPr>
          <p:spPr>
            <a:xfrm>
              <a:off x="12302611" y="6453103"/>
              <a:ext cx="39090" cy="158008"/>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68" name="Panel"/>
            <p:cNvSpPr/>
            <p:nvPr/>
          </p:nvSpPr>
          <p:spPr>
            <a:xfrm>
              <a:off x="12355281" y="6517294"/>
              <a:ext cx="39090" cy="93817"/>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69" name="Panel"/>
            <p:cNvSpPr/>
            <p:nvPr/>
          </p:nvSpPr>
          <p:spPr>
            <a:xfrm>
              <a:off x="12407950" y="6564203"/>
              <a:ext cx="39090" cy="46908"/>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70" name="Panel"/>
            <p:cNvSpPr/>
            <p:nvPr/>
          </p:nvSpPr>
          <p:spPr>
            <a:xfrm>
              <a:off x="12460620" y="6592595"/>
              <a:ext cx="39090" cy="18516"/>
            </a:xfrm>
            <a:prstGeom prst="rect">
              <a:avLst/>
            </a:prstGeom>
            <a:solidFill>
              <a:srgbClr val="EFF8F0"/>
            </a:solidFill>
            <a:ln w="9525">
              <a:solidFill>
                <a:srgbClr val="247C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471" name="Level 2"/>
          <p:cNvSpPr txBox="1"/>
          <p:nvPr/>
        </p:nvSpPr>
        <p:spPr>
          <a:xfrm>
            <a:off x="10927080" y="11631168"/>
            <a:ext cx="3127248" cy="457200"/>
          </a:xfrm>
          <a:prstGeom prst="rect">
            <a:avLst/>
          </a:prstGeom>
          <a:noFill/>
        </p:spPr>
        <p:txBody>
          <a:bodyPr wrap="square" lIns="0" tIns="0" rIns="0" bIns="0" anchor="t">
            <a:noAutofit/>
          </a:bodyPr>
          <a:lstStyle/>
          <a:p>
            <a:pPr algn="l">
              <a:lnSpc>
                <a:spcPct val="95000"/>
              </a:lnSpc>
            </a:pPr>
            <a:r>
              <a:rPr lang="en-US" sz="1650" b="0" i="0" dirty="0">
                <a:solidFill>
                  <a:srgbClr val="123755"/>
                </a:solidFill>
                <a:latin typeface="Arial"/>
                <a:cs typeface="Arial"/>
              </a:rPr>
              <a:t xml:space="preserve">Distributions: spread and tails</a:t>
            </a:r>
          </a:p>
        </p:txBody>
      </p:sp>
      <p:grpSp>
        <p:nvGrpSpPr>
          <p:cNvPr id="10472" name="Schematic matched-decision plot"/>
          <p:cNvGrpSpPr/>
          <p:nvPr/>
        </p:nvGrpSpPr>
        <p:grpSpPr>
          <a:xfrm>
            <a:off x="10332720" y="12179808"/>
            <a:ext cx="457200" cy="304800"/>
            <a:chOff x="12115800" y="6812280"/>
            <a:chExt cx="411480" cy="274320"/>
          </a:xfrm>
        </p:grpSpPr>
        <p:cxnSp>
          <p:nvCxnSpPr>
            <p:cNvPr id="10473" name="Editable connector"/>
            <p:cNvCxnSpPr/>
            <p:nvPr/>
          </p:nvCxnSpPr>
          <p:spPr>
            <a:xfrm>
              <a:off x="12115800" y="7086600"/>
              <a:ext cx="411480" cy="0"/>
            </a:xfrm>
            <a:prstGeom prst="line">
              <a:avLst/>
            </a:prstGeom>
            <a:ln w="9525"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74" name="Editable connector"/>
            <p:cNvCxnSpPr/>
            <p:nvPr/>
          </p:nvCxnSpPr>
          <p:spPr>
            <a:xfrm flipV="1">
              <a:off x="12115800" y="6812280"/>
              <a:ext cx="0" cy="274320"/>
            </a:xfrm>
            <a:prstGeom prst="line">
              <a:avLst/>
            </a:prstGeom>
            <a:ln w="9525" cap="rnd">
              <a:solidFill>
                <a:srgbClr val="123755"/>
              </a:solidFill>
            </a:ln>
          </p:spPr>
          <p:style>
            <a:lnRef idx="2">
              <a:schemeClr val="accent1"/>
            </a:lnRef>
            <a:fillRef idx="0">
              <a:schemeClr val="accent1"/>
            </a:fillRef>
            <a:effectRef idx="0">
              <a:schemeClr val="accent1"/>
            </a:effectRef>
            <a:fontRef idx="minor">
              <a:schemeClr val="tx1"/>
            </a:fontRef>
          </p:style>
        </p:cxnSp>
        <p:cxnSp>
          <p:nvCxnSpPr>
            <p:cNvPr id="10475" name="Editable connector"/>
            <p:cNvCxnSpPr/>
            <p:nvPr/>
          </p:nvCxnSpPr>
          <p:spPr>
            <a:xfrm flipV="1">
              <a:off x="12144603" y="6828739"/>
              <a:ext cx="366217" cy="238658"/>
            </a:xfrm>
            <a:prstGeom prst="line">
              <a:avLst/>
            </a:prstGeom>
            <a:ln w="8890" cap="rnd">
              <a:solidFill>
                <a:srgbClr val="728999"/>
              </a:solidFill>
              <a:prstDash val="dash"/>
            </a:ln>
          </p:spPr>
          <p:style>
            <a:lnRef idx="2">
              <a:schemeClr val="accent1"/>
            </a:lnRef>
            <a:fillRef idx="0">
              <a:schemeClr val="accent1"/>
            </a:fillRef>
            <a:effectRef idx="0">
              <a:schemeClr val="accent1"/>
            </a:effectRef>
            <a:fontRef idx="minor">
              <a:schemeClr val="tx1"/>
            </a:fontRef>
          </p:style>
        </p:cxnSp>
        <p:sp>
          <p:nvSpPr>
            <p:cNvPr id="10476" name="Ellipse"/>
            <p:cNvSpPr/>
            <p:nvPr/>
          </p:nvSpPr>
          <p:spPr>
            <a:xfrm>
              <a:off x="12193981" y="7018020"/>
              <a:ext cx="28803" cy="24688"/>
            </a:xfrm>
            <a:prstGeom prst="ellipse">
              <a:avLst/>
            </a:prstGeom>
            <a:solidFill>
              <a:srgbClr val="247C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77" name="Ellipse"/>
            <p:cNvSpPr/>
            <p:nvPr/>
          </p:nvSpPr>
          <p:spPr>
            <a:xfrm>
              <a:off x="12247473" y="6949440"/>
              <a:ext cx="28803" cy="24688"/>
            </a:xfrm>
            <a:prstGeom prst="ellipse">
              <a:avLst/>
            </a:prstGeom>
            <a:solidFill>
              <a:srgbClr val="1237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78" name="Ellipse"/>
            <p:cNvSpPr/>
            <p:nvPr/>
          </p:nvSpPr>
          <p:spPr>
            <a:xfrm>
              <a:off x="12292736" y="6987844"/>
              <a:ext cx="28803" cy="24688"/>
            </a:xfrm>
            <a:prstGeom prst="ellipse">
              <a:avLst/>
            </a:prstGeom>
            <a:solidFill>
              <a:srgbClr val="247C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79" name="Ellipse"/>
            <p:cNvSpPr/>
            <p:nvPr/>
          </p:nvSpPr>
          <p:spPr>
            <a:xfrm>
              <a:off x="12350343" y="6902805"/>
              <a:ext cx="28803" cy="24688"/>
            </a:xfrm>
            <a:prstGeom prst="ellipse">
              <a:avLst/>
            </a:prstGeom>
            <a:solidFill>
              <a:srgbClr val="1237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80" name="Ellipse"/>
            <p:cNvSpPr/>
            <p:nvPr/>
          </p:nvSpPr>
          <p:spPr>
            <a:xfrm>
              <a:off x="12428524" y="6922008"/>
              <a:ext cx="28803" cy="24688"/>
            </a:xfrm>
            <a:prstGeom prst="ellipse">
              <a:avLst/>
            </a:prstGeom>
            <a:solidFill>
              <a:srgbClr val="247C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sp>
          <p:nvSpPr>
            <p:cNvPr id="10481" name="Ellipse"/>
            <p:cNvSpPr/>
            <p:nvPr/>
          </p:nvSpPr>
          <p:spPr>
            <a:xfrm>
              <a:off x="12477902" y="6858914"/>
              <a:ext cx="28803" cy="24688"/>
            </a:xfrm>
            <a:prstGeom prst="ellipse">
              <a:avLst/>
            </a:prstGeom>
            <a:solidFill>
              <a:srgbClr val="1237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sz="1100">
                <a:latin typeface="Arial" panose="020B0604020202020204" pitchFamily="34" charset="0"/>
                <a:cs typeface="Arial" panose="020B0604020202020204" pitchFamily="34" charset="0"/>
              </a:endParaRPr>
            </a:p>
          </p:txBody>
        </p:sp>
      </p:grpSp>
      <p:sp>
        <p:nvSpPr>
          <p:cNvPr id="10482" name="Level 3"/>
          <p:cNvSpPr txBox="1"/>
          <p:nvPr/>
        </p:nvSpPr>
        <p:spPr>
          <a:xfrm>
            <a:off x="10927080" y="12143232"/>
            <a:ext cx="3127248" cy="457200"/>
          </a:xfrm>
          <a:prstGeom prst="rect">
            <a:avLst/>
          </a:prstGeom>
          <a:noFill/>
        </p:spPr>
        <p:txBody>
          <a:bodyPr wrap="square" lIns="0" tIns="0" rIns="0" bIns="0" anchor="t">
            <a:noAutofit/>
          </a:bodyPr>
          <a:lstStyle/>
          <a:p>
            <a:pPr algn="l">
              <a:lnSpc>
                <a:spcPct val="95000"/>
              </a:lnSpc>
            </a:pPr>
            <a:r>
              <a:rPr lang="en-US" sz="1650" b="0" i="0" dirty="0">
                <a:solidFill>
                  <a:srgbClr val="123755"/>
                </a:solidFill>
                <a:latin typeface="Arial"/>
                <a:cs typeface="Arial"/>
              </a:rPr>
              <a:t xml:space="preserve">Matched farmer or plot decisions</a:t>
            </a:r>
          </a:p>
        </p:txBody>
      </p:sp>
      <p:cxnSp>
        <p:nvCxnSpPr>
          <p:cNvPr id="10483" name="Designs to composer"/>
          <p:cNvCxnSpPr/>
          <p:nvPr/>
        </p:nvCxnSpPr>
        <p:spPr>
          <a:xfrm>
            <a:off x="2468880" y="8714232"/>
            <a:ext cx="0" cy="137160"/>
          </a:xfrm>
          <a:prstGeom prst="straightConnector1">
            <a:avLst/>
          </a:prstGeom>
          <a:ln w="19050">
            <a:solidFill>
              <a:srgbClr val="123755"/>
            </a:solidFill>
            <a:tailEnd type="triangle" w="med" len="med"/>
          </a:ln>
        </p:spPr>
      </p:cxnSp>
      <p:cxnSp>
        <p:nvCxnSpPr>
          <p:cNvPr id="10484" name="Composer to calls"/>
          <p:cNvCxnSpPr/>
          <p:nvPr/>
        </p:nvCxnSpPr>
        <p:spPr>
          <a:xfrm>
            <a:off x="4809744" y="10908792"/>
            <a:ext cx="178308" cy="0"/>
          </a:xfrm>
          <a:prstGeom prst="straightConnector1">
            <a:avLst/>
          </a:prstGeom>
          <a:ln w="19050">
            <a:solidFill>
              <a:srgbClr val="123755"/>
            </a:solidFill>
            <a:tailEnd type="triangle" w="med" len="med"/>
          </a:ln>
        </p:spPr>
      </p:cxnSp>
      <p:cxnSp>
        <p:nvCxnSpPr>
          <p:cNvPr id="10485" name="Parsed to comparison"/>
          <p:cNvCxnSpPr/>
          <p:nvPr/>
        </p:nvCxnSpPr>
        <p:spPr>
          <a:xfrm>
            <a:off x="9642348" y="12454128"/>
            <a:ext cx="178308" cy="0"/>
          </a:xfrm>
          <a:prstGeom prst="straightConnector1">
            <a:avLst/>
          </a:prstGeom>
          <a:ln w="19050">
            <a:solidFill>
              <a:srgbClr val="123755"/>
            </a:solidFill>
            <a:tailEnd type="triangle" w="med" len="med"/>
          </a:ln>
        </p:spPr>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953</TotalTime>
  <Words>1443</Words>
  <Application>Microsoft Macintosh PowerPoint</Application>
  <PresentationFormat>自定义</PresentationFormat>
  <Paragraphs>134</Paragraphs>
  <Slides>1</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Arial</vt:lpstr>
      <vt:lpstr>Calibri</vt:lpstr>
      <vt:lpstr>Office Theme</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architecture and archived code path</dc:title>
  <dc:subject>Editable Methods figure: survey-linked farm decisions</dc:subject>
  <dc:creator>Scientific figure reconstruction</dc:creator>
  <cp:keywords>editable, methods, Quzhou, Africa, prompts, survey validation</cp:keywords>
  <dc:description>generated using python-pptx</dc:description>
  <cp:lastModifiedBy>leo li</cp:lastModifiedBy>
  <cp:revision>5</cp:revision>
  <dcterms:created xsi:type="dcterms:W3CDTF">2013-01-27T09:14:16Z</dcterms:created>
  <dcterms:modified xsi:type="dcterms:W3CDTF">2026-10-07T01:35:35Z</dcterms:modified>
  <cp:category/>
</cp:coreProperties>
</file>